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86" r:id="rId11"/>
    <p:sldId id="277" r:id="rId12"/>
    <p:sldId id="278" r:id="rId13"/>
    <p:sldId id="279" r:id="rId14"/>
    <p:sldId id="280" r:id="rId15"/>
    <p:sldId id="281" r:id="rId16"/>
    <p:sldId id="284" r:id="rId17"/>
    <p:sldId id="282" r:id="rId18"/>
    <p:sldId id="283" r:id="rId19"/>
    <p:sldId id="28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1D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B2F9C2-16B3-9919-3001-5BC656D8928F}" v="7" dt="2026-02-07T08:57:54.699"/>
    <p1510:client id="{3F7C3A50-7AC9-4334-86DF-A2612A9F935F}" v="2143" dt="2026-02-07T09:37:56.660"/>
    <p1510:client id="{FE2D4BC9-DC81-45A7-B037-ACBEA906D30A}" v="515" dt="2026-02-06T23:03:17.5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2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FD5940-D59F-41D1-B5DF-D22EB93E4636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E516D2-1CDE-4264-BB4F-45BFEA344030}">
      <dgm:prSet/>
      <dgm:spPr/>
      <dgm:t>
        <a:bodyPr/>
        <a:lstStyle/>
        <a:p>
          <a:r>
            <a:rPr lang="en-US">
              <a:latin typeface="Georgia Pro" panose="02040502050405020303" pitchFamily="18" charset="0"/>
            </a:rPr>
            <a:t>Research Question – </a:t>
          </a:r>
          <a:r>
            <a:rPr lang="en-US" i="1">
              <a:solidFill>
                <a:srgbClr val="FF0000"/>
              </a:solidFill>
              <a:latin typeface="Georgia Pro" panose="02040502050405020303" pitchFamily="18" charset="0"/>
            </a:rPr>
            <a:t>Why are we doing this?</a:t>
          </a:r>
          <a:endParaRPr lang="en-US">
            <a:solidFill>
              <a:srgbClr val="FF0000"/>
            </a:solidFill>
            <a:latin typeface="Georgia Pro" panose="02040502050405020303" pitchFamily="18" charset="0"/>
          </a:endParaRPr>
        </a:p>
      </dgm:t>
    </dgm:pt>
    <dgm:pt modelId="{D9A02595-E69F-450C-B363-6ADDBD52BBCF}" type="parTrans" cxnId="{A16DD9A7-DC56-4B20-9CA8-DC57143887AE}">
      <dgm:prSet/>
      <dgm:spPr/>
      <dgm:t>
        <a:bodyPr/>
        <a:lstStyle/>
        <a:p>
          <a:endParaRPr lang="en-US"/>
        </a:p>
      </dgm:t>
    </dgm:pt>
    <dgm:pt modelId="{99CC984E-3652-4688-B0B0-90EF8982B55D}" type="sibTrans" cxnId="{A16DD9A7-DC56-4B20-9CA8-DC57143887AE}">
      <dgm:prSet/>
      <dgm:spPr/>
      <dgm:t>
        <a:bodyPr/>
        <a:lstStyle/>
        <a:p>
          <a:endParaRPr lang="en-US"/>
        </a:p>
      </dgm:t>
    </dgm:pt>
    <dgm:pt modelId="{1607B518-28B6-4428-BC66-73401DC4A44C}">
      <dgm:prSet/>
      <dgm:spPr/>
      <dgm:t>
        <a:bodyPr/>
        <a:lstStyle/>
        <a:p>
          <a:r>
            <a:rPr lang="en-US">
              <a:latin typeface="Georgia Pro" panose="02040502050405020303" pitchFamily="18" charset="0"/>
            </a:rPr>
            <a:t>Causal Models - </a:t>
          </a:r>
          <a:r>
            <a:rPr lang="en-US" i="1">
              <a:solidFill>
                <a:srgbClr val="FF0000"/>
              </a:solidFill>
              <a:latin typeface="Georgia Pro" panose="02040502050405020303" pitchFamily="18" charset="0"/>
            </a:rPr>
            <a:t>How We Compare Models</a:t>
          </a:r>
        </a:p>
      </dgm:t>
    </dgm:pt>
    <dgm:pt modelId="{0A5258C4-6919-47CD-B567-40249613F33A}" type="parTrans" cxnId="{4BED93CC-73F1-4A24-BB1F-BF89AFC162AB}">
      <dgm:prSet/>
      <dgm:spPr/>
      <dgm:t>
        <a:bodyPr/>
        <a:lstStyle/>
        <a:p>
          <a:endParaRPr lang="en-US"/>
        </a:p>
      </dgm:t>
    </dgm:pt>
    <dgm:pt modelId="{CCCAC5E2-92F0-4A9E-8DB7-97C6D2300FCE}" type="sibTrans" cxnId="{4BED93CC-73F1-4A24-BB1F-BF89AFC162AB}">
      <dgm:prSet/>
      <dgm:spPr/>
      <dgm:t>
        <a:bodyPr/>
        <a:lstStyle/>
        <a:p>
          <a:endParaRPr lang="en-US"/>
        </a:p>
      </dgm:t>
    </dgm:pt>
    <dgm:pt modelId="{47B43FB5-AB1B-4690-8F79-708AA4C06001}">
      <dgm:prSet/>
      <dgm:spPr/>
      <dgm:t>
        <a:bodyPr/>
        <a:lstStyle/>
        <a:p>
          <a:r>
            <a:rPr lang="en-US">
              <a:latin typeface="Georgia Pro" panose="02040502050405020303" pitchFamily="18" charset="0"/>
            </a:rPr>
            <a:t>Clinical Heterogeneity – </a:t>
          </a:r>
          <a:r>
            <a:rPr lang="en-US" i="1">
              <a:solidFill>
                <a:srgbClr val="FF0000"/>
              </a:solidFill>
              <a:latin typeface="Georgia Pro" panose="02040502050405020303" pitchFamily="18" charset="0"/>
            </a:rPr>
            <a:t>One treatment does NOT fit all patients?</a:t>
          </a:r>
        </a:p>
      </dgm:t>
    </dgm:pt>
    <dgm:pt modelId="{390B6000-E059-4A20-B046-E7531DED2368}" type="parTrans" cxnId="{C4CDF65A-FE95-4A6F-A73B-465D9B907CD9}">
      <dgm:prSet/>
      <dgm:spPr/>
      <dgm:t>
        <a:bodyPr/>
        <a:lstStyle/>
        <a:p>
          <a:endParaRPr lang="en-US"/>
        </a:p>
      </dgm:t>
    </dgm:pt>
    <dgm:pt modelId="{05D4C083-81BD-4A2E-BB76-64EF30A63DA6}" type="sibTrans" cxnId="{C4CDF65A-FE95-4A6F-A73B-465D9B907CD9}">
      <dgm:prSet/>
      <dgm:spPr/>
      <dgm:t>
        <a:bodyPr/>
        <a:lstStyle/>
        <a:p>
          <a:endParaRPr lang="en-US"/>
        </a:p>
      </dgm:t>
    </dgm:pt>
    <dgm:pt modelId="{0F061F79-FEDA-4B8D-A161-A7E88C4FDABD}">
      <dgm:prSet/>
      <dgm:spPr/>
      <dgm:t>
        <a:bodyPr/>
        <a:lstStyle/>
        <a:p>
          <a:r>
            <a:rPr lang="en-US">
              <a:latin typeface="Georgia Pro" panose="02040502050405020303" pitchFamily="18" charset="0"/>
            </a:rPr>
            <a:t>Conclusions</a:t>
          </a:r>
        </a:p>
      </dgm:t>
    </dgm:pt>
    <dgm:pt modelId="{6864C31E-4934-4192-81C5-774CE829115F}" type="parTrans" cxnId="{1B914B88-AEAA-46A8-8A3E-4E5007C5AF24}">
      <dgm:prSet/>
      <dgm:spPr/>
      <dgm:t>
        <a:bodyPr/>
        <a:lstStyle/>
        <a:p>
          <a:endParaRPr lang="en-US"/>
        </a:p>
      </dgm:t>
    </dgm:pt>
    <dgm:pt modelId="{C4CC3CD5-5898-416C-8330-AF64629A8F80}" type="sibTrans" cxnId="{1B914B88-AEAA-46A8-8A3E-4E5007C5AF24}">
      <dgm:prSet/>
      <dgm:spPr/>
      <dgm:t>
        <a:bodyPr/>
        <a:lstStyle/>
        <a:p>
          <a:endParaRPr lang="en-US"/>
        </a:p>
      </dgm:t>
    </dgm:pt>
    <dgm:pt modelId="{7645DCE2-FAAB-432E-B89E-96CF76B982B8}">
      <dgm:prSet/>
      <dgm:spPr/>
      <dgm:t>
        <a:bodyPr/>
        <a:lstStyle/>
        <a:p>
          <a:r>
            <a:rPr lang="en-US">
              <a:latin typeface="Georgia Pro" panose="02040502050405020303" pitchFamily="18" charset="0"/>
            </a:rPr>
            <a:t>Model Pipeline - </a:t>
          </a:r>
          <a:r>
            <a:rPr lang="en-US" i="1">
              <a:solidFill>
                <a:srgbClr val="FF0000"/>
              </a:solidFill>
              <a:latin typeface="Georgia Pro" panose="02040502050405020303" pitchFamily="18" charset="0"/>
            </a:rPr>
            <a:t>How We Find Answers?</a:t>
          </a:r>
        </a:p>
      </dgm:t>
    </dgm:pt>
    <dgm:pt modelId="{9A4CF4BC-6EDB-45E6-A372-8512AAC068D7}" type="parTrans" cxnId="{8DED43CB-6AE1-49BF-B766-07C0D4667073}">
      <dgm:prSet/>
      <dgm:spPr/>
      <dgm:t>
        <a:bodyPr/>
        <a:lstStyle/>
        <a:p>
          <a:endParaRPr lang="en-US"/>
        </a:p>
      </dgm:t>
    </dgm:pt>
    <dgm:pt modelId="{9A0C6673-1994-48B4-9DBC-69CC1599EA94}" type="sibTrans" cxnId="{8DED43CB-6AE1-49BF-B766-07C0D4667073}">
      <dgm:prSet/>
      <dgm:spPr/>
      <dgm:t>
        <a:bodyPr/>
        <a:lstStyle/>
        <a:p>
          <a:endParaRPr lang="en-US"/>
        </a:p>
      </dgm:t>
    </dgm:pt>
    <dgm:pt modelId="{671C08F2-0012-4A8E-94C3-ADF85FC4805C}">
      <dgm:prSet/>
      <dgm:spPr/>
      <dgm:t>
        <a:bodyPr/>
        <a:lstStyle/>
        <a:p>
          <a:r>
            <a:rPr lang="en-US">
              <a:latin typeface="Georgia Pro" panose="02040502050405020303" pitchFamily="18" charset="0"/>
            </a:rPr>
            <a:t>Key method – </a:t>
          </a:r>
          <a:r>
            <a:rPr lang="en-US" i="1">
              <a:solidFill>
                <a:srgbClr val="FF0000"/>
              </a:solidFill>
              <a:latin typeface="Georgia Pro" panose="02040502050405020303" pitchFamily="18" charset="0"/>
            </a:rPr>
            <a:t>Why we can trust the pipeline</a:t>
          </a:r>
          <a:endParaRPr lang="en-US">
            <a:solidFill>
              <a:srgbClr val="FF0000"/>
            </a:solidFill>
            <a:latin typeface="Georgia Pro" panose="02040502050405020303" pitchFamily="18" charset="0"/>
          </a:endParaRPr>
        </a:p>
      </dgm:t>
    </dgm:pt>
    <dgm:pt modelId="{E0D8D252-A99A-4C51-A2E4-F75949B96B14}" type="parTrans" cxnId="{B41A108D-EBB1-4BA4-9904-550AFE7E4D3B}">
      <dgm:prSet/>
      <dgm:spPr/>
      <dgm:t>
        <a:bodyPr/>
        <a:lstStyle/>
        <a:p>
          <a:endParaRPr lang="en-US"/>
        </a:p>
      </dgm:t>
    </dgm:pt>
    <dgm:pt modelId="{7EE22272-1EA9-43DD-AEE8-E305C651CB88}" type="sibTrans" cxnId="{B41A108D-EBB1-4BA4-9904-550AFE7E4D3B}">
      <dgm:prSet/>
      <dgm:spPr/>
      <dgm:t>
        <a:bodyPr/>
        <a:lstStyle/>
        <a:p>
          <a:endParaRPr lang="en-US"/>
        </a:p>
      </dgm:t>
    </dgm:pt>
    <dgm:pt modelId="{A64BEB40-6716-43B8-B0B8-3C404450197E}">
      <dgm:prSet/>
      <dgm:spPr/>
      <dgm:t>
        <a:bodyPr/>
        <a:lstStyle/>
        <a:p>
          <a:r>
            <a:rPr lang="en-US">
              <a:latin typeface="Georgia Pro" panose="02040502050405020303" pitchFamily="18" charset="0"/>
            </a:rPr>
            <a:t>Data exploratory and Preprocessing- </a:t>
          </a:r>
          <a:r>
            <a:rPr lang="en-US" i="1">
              <a:solidFill>
                <a:srgbClr val="FF0000"/>
              </a:solidFill>
              <a:latin typeface="Georgia Pro" panose="02040502050405020303" pitchFamily="18" charset="0"/>
            </a:rPr>
            <a:t>EDA drives design</a:t>
          </a:r>
          <a:endParaRPr lang="en-US">
            <a:solidFill>
              <a:srgbClr val="FF0000"/>
            </a:solidFill>
            <a:latin typeface="Georgia Pro" panose="02040502050405020303" pitchFamily="18" charset="0"/>
          </a:endParaRPr>
        </a:p>
      </dgm:t>
    </dgm:pt>
    <dgm:pt modelId="{C42C0F4D-B8DA-4636-9B25-B41687095D21}" type="parTrans" cxnId="{07564A7B-CA8F-4270-94D9-C79B77F3A582}">
      <dgm:prSet/>
      <dgm:spPr/>
      <dgm:t>
        <a:bodyPr/>
        <a:lstStyle/>
        <a:p>
          <a:endParaRPr lang="en-US"/>
        </a:p>
      </dgm:t>
    </dgm:pt>
    <dgm:pt modelId="{905ED354-11AF-406A-B913-D625CAD939F5}" type="sibTrans" cxnId="{07564A7B-CA8F-4270-94D9-C79B77F3A582}">
      <dgm:prSet/>
      <dgm:spPr/>
      <dgm:t>
        <a:bodyPr/>
        <a:lstStyle/>
        <a:p>
          <a:endParaRPr lang="en-US"/>
        </a:p>
      </dgm:t>
    </dgm:pt>
    <dgm:pt modelId="{C7168E07-3EEF-49C0-B916-DB1DC26497A8}" type="pres">
      <dgm:prSet presAssocID="{19FD5940-D59F-41D1-B5DF-D22EB93E4636}" presName="Name0" presStyleCnt="0">
        <dgm:presLayoutVars>
          <dgm:dir/>
          <dgm:animLvl val="lvl"/>
          <dgm:resizeHandles val="exact"/>
        </dgm:presLayoutVars>
      </dgm:prSet>
      <dgm:spPr/>
    </dgm:pt>
    <dgm:pt modelId="{F76ADB89-6C6F-4A92-BBB6-1E1261001768}" type="pres">
      <dgm:prSet presAssocID="{0F061F79-FEDA-4B8D-A161-A7E88C4FDABD}" presName="boxAndChildren" presStyleCnt="0"/>
      <dgm:spPr/>
    </dgm:pt>
    <dgm:pt modelId="{4FF1ADBC-0A07-4BD8-BF57-270189EC2A76}" type="pres">
      <dgm:prSet presAssocID="{0F061F79-FEDA-4B8D-A161-A7E88C4FDABD}" presName="parentTextBox" presStyleLbl="node1" presStyleIdx="0" presStyleCnt="7"/>
      <dgm:spPr/>
    </dgm:pt>
    <dgm:pt modelId="{9B722880-05B0-42D7-85F3-8D9DE681FAC1}" type="pres">
      <dgm:prSet presAssocID="{05D4C083-81BD-4A2E-BB76-64EF30A63DA6}" presName="sp" presStyleCnt="0"/>
      <dgm:spPr/>
    </dgm:pt>
    <dgm:pt modelId="{F798C43C-3A0F-4846-8FAF-F12E9F1DCC04}" type="pres">
      <dgm:prSet presAssocID="{47B43FB5-AB1B-4690-8F79-708AA4C06001}" presName="arrowAndChildren" presStyleCnt="0"/>
      <dgm:spPr/>
    </dgm:pt>
    <dgm:pt modelId="{784C84E0-7F7A-4355-B3D7-E7D917D7179D}" type="pres">
      <dgm:prSet presAssocID="{47B43FB5-AB1B-4690-8F79-708AA4C06001}" presName="parentTextArrow" presStyleLbl="node1" presStyleIdx="1" presStyleCnt="7"/>
      <dgm:spPr/>
    </dgm:pt>
    <dgm:pt modelId="{49054092-8C7E-42CD-983D-04BCA27FC512}" type="pres">
      <dgm:prSet presAssocID="{CCCAC5E2-92F0-4A9E-8DB7-97C6D2300FCE}" presName="sp" presStyleCnt="0"/>
      <dgm:spPr/>
    </dgm:pt>
    <dgm:pt modelId="{52F9EA2C-7630-4F83-BF60-C7BCD51F0102}" type="pres">
      <dgm:prSet presAssocID="{1607B518-28B6-4428-BC66-73401DC4A44C}" presName="arrowAndChildren" presStyleCnt="0"/>
      <dgm:spPr/>
    </dgm:pt>
    <dgm:pt modelId="{73EC4FB5-1980-40F4-9554-00D6555CB546}" type="pres">
      <dgm:prSet presAssocID="{1607B518-28B6-4428-BC66-73401DC4A44C}" presName="parentTextArrow" presStyleLbl="node1" presStyleIdx="2" presStyleCnt="7"/>
      <dgm:spPr/>
    </dgm:pt>
    <dgm:pt modelId="{8F8B6976-0194-4668-A6FC-982B41A61CD5}" type="pres">
      <dgm:prSet presAssocID="{7EE22272-1EA9-43DD-AEE8-E305C651CB88}" presName="sp" presStyleCnt="0"/>
      <dgm:spPr/>
    </dgm:pt>
    <dgm:pt modelId="{01FF54FA-83CF-407E-BD60-8782D3456D46}" type="pres">
      <dgm:prSet presAssocID="{671C08F2-0012-4A8E-94C3-ADF85FC4805C}" presName="arrowAndChildren" presStyleCnt="0"/>
      <dgm:spPr/>
    </dgm:pt>
    <dgm:pt modelId="{CF4F9B24-D0E1-4CE3-ADDB-B78BF92D4302}" type="pres">
      <dgm:prSet presAssocID="{671C08F2-0012-4A8E-94C3-ADF85FC4805C}" presName="parentTextArrow" presStyleLbl="node1" presStyleIdx="3" presStyleCnt="7"/>
      <dgm:spPr/>
    </dgm:pt>
    <dgm:pt modelId="{F21373D4-95DB-4990-A50F-FA1EEA8258D6}" type="pres">
      <dgm:prSet presAssocID="{905ED354-11AF-406A-B913-D625CAD939F5}" presName="sp" presStyleCnt="0"/>
      <dgm:spPr/>
    </dgm:pt>
    <dgm:pt modelId="{24E117CC-EBD0-462D-B663-11A2EE161364}" type="pres">
      <dgm:prSet presAssocID="{A64BEB40-6716-43B8-B0B8-3C404450197E}" presName="arrowAndChildren" presStyleCnt="0"/>
      <dgm:spPr/>
    </dgm:pt>
    <dgm:pt modelId="{14B6AE94-02C2-4407-AFBC-BE475E8AD2D3}" type="pres">
      <dgm:prSet presAssocID="{A64BEB40-6716-43B8-B0B8-3C404450197E}" presName="parentTextArrow" presStyleLbl="node1" presStyleIdx="4" presStyleCnt="7"/>
      <dgm:spPr/>
    </dgm:pt>
    <dgm:pt modelId="{C1B41FDE-DCFF-424F-8AAD-025265AC0F25}" type="pres">
      <dgm:prSet presAssocID="{9A0C6673-1994-48B4-9DBC-69CC1599EA94}" presName="sp" presStyleCnt="0"/>
      <dgm:spPr/>
    </dgm:pt>
    <dgm:pt modelId="{06AE7651-F2D9-4586-AB07-B41B8BC15218}" type="pres">
      <dgm:prSet presAssocID="{7645DCE2-FAAB-432E-B89E-96CF76B982B8}" presName="arrowAndChildren" presStyleCnt="0"/>
      <dgm:spPr/>
    </dgm:pt>
    <dgm:pt modelId="{3B68B958-D8FA-4A90-9490-F14950707B4E}" type="pres">
      <dgm:prSet presAssocID="{7645DCE2-FAAB-432E-B89E-96CF76B982B8}" presName="parentTextArrow" presStyleLbl="node1" presStyleIdx="5" presStyleCnt="7"/>
      <dgm:spPr/>
    </dgm:pt>
    <dgm:pt modelId="{5555D8F8-CEA3-41D4-AC21-E2A9D2B1603F}" type="pres">
      <dgm:prSet presAssocID="{99CC984E-3652-4688-B0B0-90EF8982B55D}" presName="sp" presStyleCnt="0"/>
      <dgm:spPr/>
    </dgm:pt>
    <dgm:pt modelId="{CA719FF2-E191-48CD-A416-C36EF92DD3AA}" type="pres">
      <dgm:prSet presAssocID="{AFE516D2-1CDE-4264-BB4F-45BFEA344030}" presName="arrowAndChildren" presStyleCnt="0"/>
      <dgm:spPr/>
    </dgm:pt>
    <dgm:pt modelId="{CCB1CE9C-8863-4DEC-810E-241FD3920CAA}" type="pres">
      <dgm:prSet presAssocID="{AFE516D2-1CDE-4264-BB4F-45BFEA344030}" presName="parentTextArrow" presStyleLbl="node1" presStyleIdx="6" presStyleCnt="7"/>
      <dgm:spPr/>
    </dgm:pt>
  </dgm:ptLst>
  <dgm:cxnLst>
    <dgm:cxn modelId="{B53D680D-9C1D-4131-8BD9-603A902A46D4}" type="presOf" srcId="{1607B518-28B6-4428-BC66-73401DC4A44C}" destId="{73EC4FB5-1980-40F4-9554-00D6555CB546}" srcOrd="0" destOrd="0" presId="urn:microsoft.com/office/officeart/2005/8/layout/process4"/>
    <dgm:cxn modelId="{4D58241F-47FF-4D7D-9DE1-DE3613195AEB}" type="presOf" srcId="{671C08F2-0012-4A8E-94C3-ADF85FC4805C}" destId="{CF4F9B24-D0E1-4CE3-ADDB-B78BF92D4302}" srcOrd="0" destOrd="0" presId="urn:microsoft.com/office/officeart/2005/8/layout/process4"/>
    <dgm:cxn modelId="{1E89C035-92E7-4D3F-A0E5-DFB7CC98703E}" type="presOf" srcId="{A64BEB40-6716-43B8-B0B8-3C404450197E}" destId="{14B6AE94-02C2-4407-AFBC-BE475E8AD2D3}" srcOrd="0" destOrd="0" presId="urn:microsoft.com/office/officeart/2005/8/layout/process4"/>
    <dgm:cxn modelId="{7FC33C76-64D3-49EC-B707-582B51469641}" type="presOf" srcId="{AFE516D2-1CDE-4264-BB4F-45BFEA344030}" destId="{CCB1CE9C-8863-4DEC-810E-241FD3920CAA}" srcOrd="0" destOrd="0" presId="urn:microsoft.com/office/officeart/2005/8/layout/process4"/>
    <dgm:cxn modelId="{C4CDF65A-FE95-4A6F-A73B-465D9B907CD9}" srcId="{19FD5940-D59F-41D1-B5DF-D22EB93E4636}" destId="{47B43FB5-AB1B-4690-8F79-708AA4C06001}" srcOrd="5" destOrd="0" parTransId="{390B6000-E059-4A20-B046-E7531DED2368}" sibTransId="{05D4C083-81BD-4A2E-BB76-64EF30A63DA6}"/>
    <dgm:cxn modelId="{07564A7B-CA8F-4270-94D9-C79B77F3A582}" srcId="{19FD5940-D59F-41D1-B5DF-D22EB93E4636}" destId="{A64BEB40-6716-43B8-B0B8-3C404450197E}" srcOrd="2" destOrd="0" parTransId="{C42C0F4D-B8DA-4636-9B25-B41687095D21}" sibTransId="{905ED354-11AF-406A-B913-D625CAD939F5}"/>
    <dgm:cxn modelId="{1B914B88-AEAA-46A8-8A3E-4E5007C5AF24}" srcId="{19FD5940-D59F-41D1-B5DF-D22EB93E4636}" destId="{0F061F79-FEDA-4B8D-A161-A7E88C4FDABD}" srcOrd="6" destOrd="0" parTransId="{6864C31E-4934-4192-81C5-774CE829115F}" sibTransId="{C4CC3CD5-5898-416C-8330-AF64629A8F80}"/>
    <dgm:cxn modelId="{B41A108D-EBB1-4BA4-9904-550AFE7E4D3B}" srcId="{19FD5940-D59F-41D1-B5DF-D22EB93E4636}" destId="{671C08F2-0012-4A8E-94C3-ADF85FC4805C}" srcOrd="3" destOrd="0" parTransId="{E0D8D252-A99A-4C51-A2E4-F75949B96B14}" sibTransId="{7EE22272-1EA9-43DD-AEE8-E305C651CB88}"/>
    <dgm:cxn modelId="{ADADBAA6-9F39-4778-A1E7-62C32A8050B5}" type="presOf" srcId="{0F061F79-FEDA-4B8D-A161-A7E88C4FDABD}" destId="{4FF1ADBC-0A07-4BD8-BF57-270189EC2A76}" srcOrd="0" destOrd="0" presId="urn:microsoft.com/office/officeart/2005/8/layout/process4"/>
    <dgm:cxn modelId="{A16DD9A7-DC56-4B20-9CA8-DC57143887AE}" srcId="{19FD5940-D59F-41D1-B5DF-D22EB93E4636}" destId="{AFE516D2-1CDE-4264-BB4F-45BFEA344030}" srcOrd="0" destOrd="0" parTransId="{D9A02595-E69F-450C-B363-6ADDBD52BBCF}" sibTransId="{99CC984E-3652-4688-B0B0-90EF8982B55D}"/>
    <dgm:cxn modelId="{D8C33ABD-9932-465E-BB0A-1998115B1047}" type="presOf" srcId="{19FD5940-D59F-41D1-B5DF-D22EB93E4636}" destId="{C7168E07-3EEF-49C0-B916-DB1DC26497A8}" srcOrd="0" destOrd="0" presId="urn:microsoft.com/office/officeart/2005/8/layout/process4"/>
    <dgm:cxn modelId="{2B3348BF-5F8B-47B2-9AB0-A45F2CEEB161}" type="presOf" srcId="{47B43FB5-AB1B-4690-8F79-708AA4C06001}" destId="{784C84E0-7F7A-4355-B3D7-E7D917D7179D}" srcOrd="0" destOrd="0" presId="urn:microsoft.com/office/officeart/2005/8/layout/process4"/>
    <dgm:cxn modelId="{8DED43CB-6AE1-49BF-B766-07C0D4667073}" srcId="{19FD5940-D59F-41D1-B5DF-D22EB93E4636}" destId="{7645DCE2-FAAB-432E-B89E-96CF76B982B8}" srcOrd="1" destOrd="0" parTransId="{9A4CF4BC-6EDB-45E6-A372-8512AAC068D7}" sibTransId="{9A0C6673-1994-48B4-9DBC-69CC1599EA94}"/>
    <dgm:cxn modelId="{4BED93CC-73F1-4A24-BB1F-BF89AFC162AB}" srcId="{19FD5940-D59F-41D1-B5DF-D22EB93E4636}" destId="{1607B518-28B6-4428-BC66-73401DC4A44C}" srcOrd="4" destOrd="0" parTransId="{0A5258C4-6919-47CD-B567-40249613F33A}" sibTransId="{CCCAC5E2-92F0-4A9E-8DB7-97C6D2300FCE}"/>
    <dgm:cxn modelId="{040B41D3-A344-4848-B4C5-F1B8F9CF3E38}" type="presOf" srcId="{7645DCE2-FAAB-432E-B89E-96CF76B982B8}" destId="{3B68B958-D8FA-4A90-9490-F14950707B4E}" srcOrd="0" destOrd="0" presId="urn:microsoft.com/office/officeart/2005/8/layout/process4"/>
    <dgm:cxn modelId="{20ADFF22-76E6-4CEE-9F62-EB19EE432DA2}" type="presParOf" srcId="{C7168E07-3EEF-49C0-B916-DB1DC26497A8}" destId="{F76ADB89-6C6F-4A92-BBB6-1E1261001768}" srcOrd="0" destOrd="0" presId="urn:microsoft.com/office/officeart/2005/8/layout/process4"/>
    <dgm:cxn modelId="{F849A0E8-A8C7-4708-9E52-686F1BF7BAF9}" type="presParOf" srcId="{F76ADB89-6C6F-4A92-BBB6-1E1261001768}" destId="{4FF1ADBC-0A07-4BD8-BF57-270189EC2A76}" srcOrd="0" destOrd="0" presId="urn:microsoft.com/office/officeart/2005/8/layout/process4"/>
    <dgm:cxn modelId="{6CCB74E0-26F5-4277-A76F-E3295B50E907}" type="presParOf" srcId="{C7168E07-3EEF-49C0-B916-DB1DC26497A8}" destId="{9B722880-05B0-42D7-85F3-8D9DE681FAC1}" srcOrd="1" destOrd="0" presId="urn:microsoft.com/office/officeart/2005/8/layout/process4"/>
    <dgm:cxn modelId="{E4181B81-A0BD-4306-86E5-9D3518201982}" type="presParOf" srcId="{C7168E07-3EEF-49C0-B916-DB1DC26497A8}" destId="{F798C43C-3A0F-4846-8FAF-F12E9F1DCC04}" srcOrd="2" destOrd="0" presId="urn:microsoft.com/office/officeart/2005/8/layout/process4"/>
    <dgm:cxn modelId="{2C134A38-20DA-4708-B68E-0CE4BE29DF77}" type="presParOf" srcId="{F798C43C-3A0F-4846-8FAF-F12E9F1DCC04}" destId="{784C84E0-7F7A-4355-B3D7-E7D917D7179D}" srcOrd="0" destOrd="0" presId="urn:microsoft.com/office/officeart/2005/8/layout/process4"/>
    <dgm:cxn modelId="{AC96742C-7386-433E-AE47-2E4FB53DF68C}" type="presParOf" srcId="{C7168E07-3EEF-49C0-B916-DB1DC26497A8}" destId="{49054092-8C7E-42CD-983D-04BCA27FC512}" srcOrd="3" destOrd="0" presId="urn:microsoft.com/office/officeart/2005/8/layout/process4"/>
    <dgm:cxn modelId="{FC3A6B41-2F43-4AEB-BD7F-02583CA01F1A}" type="presParOf" srcId="{C7168E07-3EEF-49C0-B916-DB1DC26497A8}" destId="{52F9EA2C-7630-4F83-BF60-C7BCD51F0102}" srcOrd="4" destOrd="0" presId="urn:microsoft.com/office/officeart/2005/8/layout/process4"/>
    <dgm:cxn modelId="{E93AC2C1-FFD0-49B2-9D24-509B1C62F9F1}" type="presParOf" srcId="{52F9EA2C-7630-4F83-BF60-C7BCD51F0102}" destId="{73EC4FB5-1980-40F4-9554-00D6555CB546}" srcOrd="0" destOrd="0" presId="urn:microsoft.com/office/officeart/2005/8/layout/process4"/>
    <dgm:cxn modelId="{646C0F63-8017-46F9-A9A3-57F42DE332A7}" type="presParOf" srcId="{C7168E07-3EEF-49C0-B916-DB1DC26497A8}" destId="{8F8B6976-0194-4668-A6FC-982B41A61CD5}" srcOrd="5" destOrd="0" presId="urn:microsoft.com/office/officeart/2005/8/layout/process4"/>
    <dgm:cxn modelId="{A7ABA902-8CFE-4099-ABFD-E3161EB85BDC}" type="presParOf" srcId="{C7168E07-3EEF-49C0-B916-DB1DC26497A8}" destId="{01FF54FA-83CF-407E-BD60-8782D3456D46}" srcOrd="6" destOrd="0" presId="urn:microsoft.com/office/officeart/2005/8/layout/process4"/>
    <dgm:cxn modelId="{1A9A3561-C048-47CD-A4EA-0E2F3CEBFACB}" type="presParOf" srcId="{01FF54FA-83CF-407E-BD60-8782D3456D46}" destId="{CF4F9B24-D0E1-4CE3-ADDB-B78BF92D4302}" srcOrd="0" destOrd="0" presId="urn:microsoft.com/office/officeart/2005/8/layout/process4"/>
    <dgm:cxn modelId="{C7469DE4-2D86-4B77-BFBF-1A40042AB991}" type="presParOf" srcId="{C7168E07-3EEF-49C0-B916-DB1DC26497A8}" destId="{F21373D4-95DB-4990-A50F-FA1EEA8258D6}" srcOrd="7" destOrd="0" presId="urn:microsoft.com/office/officeart/2005/8/layout/process4"/>
    <dgm:cxn modelId="{A2B99B28-DCC3-4F7A-BC86-5C69C8AC6E17}" type="presParOf" srcId="{C7168E07-3EEF-49C0-B916-DB1DC26497A8}" destId="{24E117CC-EBD0-462D-B663-11A2EE161364}" srcOrd="8" destOrd="0" presId="urn:microsoft.com/office/officeart/2005/8/layout/process4"/>
    <dgm:cxn modelId="{CEAB78A3-E6A2-412F-9FEB-7AF3F8EF9CF5}" type="presParOf" srcId="{24E117CC-EBD0-462D-B663-11A2EE161364}" destId="{14B6AE94-02C2-4407-AFBC-BE475E8AD2D3}" srcOrd="0" destOrd="0" presId="urn:microsoft.com/office/officeart/2005/8/layout/process4"/>
    <dgm:cxn modelId="{ABEAAAD5-166C-4DE2-B33E-690C00D2D930}" type="presParOf" srcId="{C7168E07-3EEF-49C0-B916-DB1DC26497A8}" destId="{C1B41FDE-DCFF-424F-8AAD-025265AC0F25}" srcOrd="9" destOrd="0" presId="urn:microsoft.com/office/officeart/2005/8/layout/process4"/>
    <dgm:cxn modelId="{3FDC2E08-D3C5-4B37-BE68-DA5B9935744A}" type="presParOf" srcId="{C7168E07-3EEF-49C0-B916-DB1DC26497A8}" destId="{06AE7651-F2D9-4586-AB07-B41B8BC15218}" srcOrd="10" destOrd="0" presId="urn:microsoft.com/office/officeart/2005/8/layout/process4"/>
    <dgm:cxn modelId="{8585804B-3B18-4FAB-BDF7-4DF16B5F925C}" type="presParOf" srcId="{06AE7651-F2D9-4586-AB07-B41B8BC15218}" destId="{3B68B958-D8FA-4A90-9490-F14950707B4E}" srcOrd="0" destOrd="0" presId="urn:microsoft.com/office/officeart/2005/8/layout/process4"/>
    <dgm:cxn modelId="{2755BEC6-0797-49C7-8B70-502D79B29225}" type="presParOf" srcId="{C7168E07-3EEF-49C0-B916-DB1DC26497A8}" destId="{5555D8F8-CEA3-41D4-AC21-E2A9D2B1603F}" srcOrd="11" destOrd="0" presId="urn:microsoft.com/office/officeart/2005/8/layout/process4"/>
    <dgm:cxn modelId="{5BD089D3-9F58-4A44-9193-A4602C56F71E}" type="presParOf" srcId="{C7168E07-3EEF-49C0-B916-DB1DC26497A8}" destId="{CA719FF2-E191-48CD-A416-C36EF92DD3AA}" srcOrd="12" destOrd="0" presId="urn:microsoft.com/office/officeart/2005/8/layout/process4"/>
    <dgm:cxn modelId="{F785BC67-DEE9-4BF4-9B39-004CFD926BDE}" type="presParOf" srcId="{CA719FF2-E191-48CD-A416-C36EF92DD3AA}" destId="{CCB1CE9C-8863-4DEC-810E-241FD3920CA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184BCE8-3B9B-4B47-A56D-A279110976E5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711215-C751-463E-96DA-4F4B8308EEA2}">
      <dgm:prSet phldrT="[Text]" phldr="0"/>
      <dgm:spPr/>
      <dgm:t>
        <a:bodyPr/>
        <a:lstStyle/>
        <a:p>
          <a:r>
            <a:rPr lang="en-US" b="1">
              <a:latin typeface="Georgia Pro" panose="02040502050405020303" pitchFamily="18" charset="0"/>
            </a:rPr>
            <a:t>Data Preparation and Feature Engineering</a:t>
          </a:r>
        </a:p>
      </dgm:t>
    </dgm:pt>
    <dgm:pt modelId="{D79B8B80-5BAC-41C7-958E-325265B6C14D}" type="parTrans" cxnId="{0CBA844B-FC6C-4FAC-B824-CD4F3B537879}">
      <dgm:prSet/>
      <dgm:spPr/>
      <dgm:t>
        <a:bodyPr/>
        <a:lstStyle/>
        <a:p>
          <a:endParaRPr lang="en-US"/>
        </a:p>
      </dgm:t>
    </dgm:pt>
    <dgm:pt modelId="{D9B917A4-5986-4B69-8954-0A44D7D0D767}" type="sibTrans" cxnId="{0CBA844B-FC6C-4FAC-B824-CD4F3B537879}">
      <dgm:prSet/>
      <dgm:spPr/>
      <dgm:t>
        <a:bodyPr/>
        <a:lstStyle/>
        <a:p>
          <a:endParaRPr lang="en-US"/>
        </a:p>
      </dgm:t>
    </dgm:pt>
    <dgm:pt modelId="{40DDB775-A298-46AE-9670-5F8375A556A1}">
      <dgm:prSet phldrT="[Tex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>
              <a:latin typeface="Georgia Pro" panose="02040502050405020303" pitchFamily="18" charset="0"/>
            </a:rPr>
            <a:t>Explore Data</a:t>
          </a:r>
        </a:p>
      </dgm:t>
    </dgm:pt>
    <dgm:pt modelId="{214CD01D-065F-4FA4-BEBB-31F3EB5C7408}" type="parTrans" cxnId="{1362E8FD-C918-48B9-AA6D-34CFC7C01131}">
      <dgm:prSet/>
      <dgm:spPr/>
      <dgm:t>
        <a:bodyPr/>
        <a:lstStyle/>
        <a:p>
          <a:endParaRPr lang="en-US"/>
        </a:p>
      </dgm:t>
    </dgm:pt>
    <dgm:pt modelId="{7D5AA9A3-A8E3-4F69-9285-8A116B4E97E7}" type="sibTrans" cxnId="{1362E8FD-C918-48B9-AA6D-34CFC7C01131}">
      <dgm:prSet/>
      <dgm:spPr/>
      <dgm:t>
        <a:bodyPr/>
        <a:lstStyle/>
        <a:p>
          <a:endParaRPr lang="en-US"/>
        </a:p>
      </dgm:t>
    </dgm:pt>
    <dgm:pt modelId="{E255032B-83D5-4225-8E9F-706AA4A14D57}">
      <dgm:prSet phldrT="[Text]"/>
      <dgm:spPr/>
      <dgm:t>
        <a:bodyPr/>
        <a:lstStyle/>
        <a:p>
          <a:pPr>
            <a:buNone/>
          </a:pPr>
          <a:r>
            <a:rPr lang="en-US" b="1">
              <a:latin typeface="Georgia Pro" panose="02040502050405020303" pitchFamily="18" charset="0"/>
            </a:rPr>
            <a:t>Propensity Score and Covariate Balance</a:t>
          </a:r>
        </a:p>
      </dgm:t>
    </dgm:pt>
    <dgm:pt modelId="{26F14C1C-1A45-47E5-BE5C-DC1B5C2BC889}" type="parTrans" cxnId="{92ED584E-20A1-430B-A0F6-BFB838E4A5F0}">
      <dgm:prSet/>
      <dgm:spPr/>
      <dgm:t>
        <a:bodyPr/>
        <a:lstStyle/>
        <a:p>
          <a:endParaRPr lang="en-US"/>
        </a:p>
      </dgm:t>
    </dgm:pt>
    <dgm:pt modelId="{D36D92E1-CD7C-4A87-BD57-8E0718D86B39}" type="sibTrans" cxnId="{92ED584E-20A1-430B-A0F6-BFB838E4A5F0}">
      <dgm:prSet/>
      <dgm:spPr/>
      <dgm:t>
        <a:bodyPr/>
        <a:lstStyle/>
        <a:p>
          <a:endParaRPr lang="en-US"/>
        </a:p>
      </dgm:t>
    </dgm:pt>
    <dgm:pt modelId="{50DEABA1-FE47-4709-BDB4-1EA03B173922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>
              <a:latin typeface="Georgia Pro" panose="02040502050405020303" pitchFamily="18" charset="0"/>
            </a:rPr>
            <a:t>Propensity Estimation</a:t>
          </a:r>
        </a:p>
      </dgm:t>
    </dgm:pt>
    <dgm:pt modelId="{1177A92E-8124-4F2F-9F0D-3E9FF6531724}" type="parTrans" cxnId="{DB5D984B-A0A6-4A0C-A8E2-739DB790B2B3}">
      <dgm:prSet/>
      <dgm:spPr/>
      <dgm:t>
        <a:bodyPr/>
        <a:lstStyle/>
        <a:p>
          <a:endParaRPr lang="en-US"/>
        </a:p>
      </dgm:t>
    </dgm:pt>
    <dgm:pt modelId="{D6B571E1-D403-44DB-9B7F-B7F9F144445F}" type="sibTrans" cxnId="{DB5D984B-A0A6-4A0C-A8E2-739DB790B2B3}">
      <dgm:prSet/>
      <dgm:spPr/>
      <dgm:t>
        <a:bodyPr/>
        <a:lstStyle/>
        <a:p>
          <a:endParaRPr lang="en-US"/>
        </a:p>
      </dgm:t>
    </dgm:pt>
    <dgm:pt modelId="{C5B70CF2-2104-47A4-A789-8C7068B7C41E}">
      <dgm:prSet phldrT="[Text]"/>
      <dgm:spPr/>
      <dgm:t>
        <a:bodyPr/>
        <a:lstStyle/>
        <a:p>
          <a:pPr>
            <a:buNone/>
          </a:pPr>
          <a:r>
            <a:rPr lang="en-US" b="1">
              <a:latin typeface="Georgia Pro" panose="02040502050405020303" pitchFamily="18" charset="0"/>
            </a:rPr>
            <a:t>Causal Meta-Learner Implementations</a:t>
          </a:r>
        </a:p>
      </dgm:t>
    </dgm:pt>
    <dgm:pt modelId="{9252CDEF-7DF6-476A-8DFC-B034E92D502E}" type="parTrans" cxnId="{0858D0A9-FE29-41FA-B7F4-52A8AAD277CE}">
      <dgm:prSet/>
      <dgm:spPr/>
      <dgm:t>
        <a:bodyPr/>
        <a:lstStyle/>
        <a:p>
          <a:endParaRPr lang="en-US"/>
        </a:p>
      </dgm:t>
    </dgm:pt>
    <dgm:pt modelId="{A453766E-9A37-4ECC-897D-4B257893E2D3}" type="sibTrans" cxnId="{0858D0A9-FE29-41FA-B7F4-52A8AAD277CE}">
      <dgm:prSet/>
      <dgm:spPr/>
      <dgm:t>
        <a:bodyPr/>
        <a:lstStyle/>
        <a:p>
          <a:endParaRPr lang="en-US"/>
        </a:p>
      </dgm:t>
    </dgm:pt>
    <dgm:pt modelId="{00C264DA-4157-4C86-BCD5-A24B1041BF22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>
              <a:latin typeface="Georgia Pro" panose="02040502050405020303" pitchFamily="18" charset="0"/>
            </a:rPr>
            <a:t>S-Learner</a:t>
          </a:r>
        </a:p>
      </dgm:t>
    </dgm:pt>
    <dgm:pt modelId="{441FE455-AD2F-4E3D-832F-E9441521E33D}" type="parTrans" cxnId="{F3FF5D9E-81B5-4378-99AC-C82DA554D45B}">
      <dgm:prSet/>
      <dgm:spPr/>
      <dgm:t>
        <a:bodyPr/>
        <a:lstStyle/>
        <a:p>
          <a:endParaRPr lang="en-US"/>
        </a:p>
      </dgm:t>
    </dgm:pt>
    <dgm:pt modelId="{D9DAB6F5-3813-4748-8519-29BA2777639E}" type="sibTrans" cxnId="{F3FF5D9E-81B5-4378-99AC-C82DA554D45B}">
      <dgm:prSet/>
      <dgm:spPr/>
      <dgm:t>
        <a:bodyPr/>
        <a:lstStyle/>
        <a:p>
          <a:endParaRPr lang="en-US"/>
        </a:p>
      </dgm:t>
    </dgm:pt>
    <dgm:pt modelId="{489DA2A5-C228-471C-B707-B03BB8928F18}">
      <dgm:prSet phldrT="[Tex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>
              <a:latin typeface="Georgia Pro" panose="02040502050405020303" pitchFamily="18" charset="0"/>
            </a:rPr>
            <a:t>Feature Selection </a:t>
          </a:r>
        </a:p>
      </dgm:t>
    </dgm:pt>
    <dgm:pt modelId="{7804677B-9020-46F8-AA67-721CC7A85E86}" type="parTrans" cxnId="{D6DF501D-2B7A-4A35-A4D5-AD097980DCFC}">
      <dgm:prSet/>
      <dgm:spPr/>
      <dgm:t>
        <a:bodyPr/>
        <a:lstStyle/>
        <a:p>
          <a:endParaRPr lang="en-US"/>
        </a:p>
      </dgm:t>
    </dgm:pt>
    <dgm:pt modelId="{A1416707-4156-409A-97AF-31808928F829}" type="sibTrans" cxnId="{D6DF501D-2B7A-4A35-A4D5-AD097980DCFC}">
      <dgm:prSet/>
      <dgm:spPr/>
      <dgm:t>
        <a:bodyPr/>
        <a:lstStyle/>
        <a:p>
          <a:endParaRPr lang="en-US"/>
        </a:p>
      </dgm:t>
    </dgm:pt>
    <dgm:pt modelId="{838E2B3F-45D5-4E61-A3A7-CF3EA1376DDB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>
              <a:latin typeface="Georgia Pro" panose="02040502050405020303" pitchFamily="18" charset="0"/>
            </a:rPr>
            <a:t>Covariate Balance Diagnostics</a:t>
          </a:r>
        </a:p>
      </dgm:t>
    </dgm:pt>
    <dgm:pt modelId="{5655DDEE-55A7-409A-96C5-536EA27B6A51}" type="parTrans" cxnId="{65DA4559-FDF6-401A-A2C4-F0408605E2AB}">
      <dgm:prSet/>
      <dgm:spPr/>
      <dgm:t>
        <a:bodyPr/>
        <a:lstStyle/>
        <a:p>
          <a:endParaRPr lang="en-US"/>
        </a:p>
      </dgm:t>
    </dgm:pt>
    <dgm:pt modelId="{E3EE0AE3-3998-4467-8331-7AF09EA0D337}" type="sibTrans" cxnId="{65DA4559-FDF6-401A-A2C4-F0408605E2AB}">
      <dgm:prSet/>
      <dgm:spPr/>
      <dgm:t>
        <a:bodyPr/>
        <a:lstStyle/>
        <a:p>
          <a:endParaRPr lang="en-US"/>
        </a:p>
      </dgm:t>
    </dgm:pt>
    <dgm:pt modelId="{F0C2E810-3C7F-45F2-8014-403F4C8A50C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>
              <a:latin typeface="Georgia Pro" panose="02040502050405020303" pitchFamily="18" charset="0"/>
            </a:rPr>
            <a:t>T-Learner</a:t>
          </a:r>
        </a:p>
      </dgm:t>
    </dgm:pt>
    <dgm:pt modelId="{826BBF87-89A7-4CF9-AA0D-4BD6173F85DF}" type="parTrans" cxnId="{0E19A5B6-3669-46FD-AB54-1EC123A62DB4}">
      <dgm:prSet/>
      <dgm:spPr/>
      <dgm:t>
        <a:bodyPr/>
        <a:lstStyle/>
        <a:p>
          <a:endParaRPr lang="en-US"/>
        </a:p>
      </dgm:t>
    </dgm:pt>
    <dgm:pt modelId="{2CA667EE-30E0-43F2-8A1C-25C9B9621AA4}" type="sibTrans" cxnId="{0E19A5B6-3669-46FD-AB54-1EC123A62DB4}">
      <dgm:prSet/>
      <dgm:spPr/>
      <dgm:t>
        <a:bodyPr/>
        <a:lstStyle/>
        <a:p>
          <a:endParaRPr lang="en-US"/>
        </a:p>
      </dgm:t>
    </dgm:pt>
    <dgm:pt modelId="{B57E3D68-3957-42D2-A6EE-B6839E970F6D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>
              <a:latin typeface="Georgia Pro" panose="02040502050405020303" pitchFamily="18" charset="0"/>
            </a:rPr>
            <a:t>X-Learner</a:t>
          </a:r>
        </a:p>
      </dgm:t>
    </dgm:pt>
    <dgm:pt modelId="{D7EA54A4-1480-4AC9-B520-0177BBEB8C96}" type="parTrans" cxnId="{8BABCB8C-1BDE-472B-A2AA-33A794AEE3EB}">
      <dgm:prSet/>
      <dgm:spPr/>
      <dgm:t>
        <a:bodyPr/>
        <a:lstStyle/>
        <a:p>
          <a:endParaRPr lang="en-US"/>
        </a:p>
      </dgm:t>
    </dgm:pt>
    <dgm:pt modelId="{7533FCAF-66DE-47A4-90B6-644EFDE63E20}" type="sibTrans" cxnId="{8BABCB8C-1BDE-472B-A2AA-33A794AEE3EB}">
      <dgm:prSet/>
      <dgm:spPr/>
      <dgm:t>
        <a:bodyPr/>
        <a:lstStyle/>
        <a:p>
          <a:endParaRPr lang="en-US"/>
        </a:p>
      </dgm:t>
    </dgm:pt>
    <dgm:pt modelId="{8EC33037-6BFE-4A66-8E1C-28EEA6765B3B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>
              <a:latin typeface="Georgia Pro" panose="02040502050405020303" pitchFamily="18" charset="0"/>
            </a:rPr>
            <a:t>R-Learner</a:t>
          </a:r>
        </a:p>
      </dgm:t>
    </dgm:pt>
    <dgm:pt modelId="{B363AFDC-CF20-4379-85DB-3815EC186C92}" type="parTrans" cxnId="{1147689A-9539-43C6-A87B-331BE924A78D}">
      <dgm:prSet/>
      <dgm:spPr/>
      <dgm:t>
        <a:bodyPr/>
        <a:lstStyle/>
        <a:p>
          <a:endParaRPr lang="en-US"/>
        </a:p>
      </dgm:t>
    </dgm:pt>
    <dgm:pt modelId="{F79A8372-1703-4687-9BF0-A8CAA8F79369}" type="sibTrans" cxnId="{1147689A-9539-43C6-A87B-331BE924A78D}">
      <dgm:prSet/>
      <dgm:spPr/>
      <dgm:t>
        <a:bodyPr/>
        <a:lstStyle/>
        <a:p>
          <a:endParaRPr lang="en-US"/>
        </a:p>
      </dgm:t>
    </dgm:pt>
    <dgm:pt modelId="{4B6C1972-40C8-4E82-8B01-E35AB6505F48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>
              <a:latin typeface="Georgia Pro" panose="02040502050405020303" pitchFamily="18" charset="0"/>
            </a:rPr>
            <a:t>MLP within a T-learner framework.</a:t>
          </a:r>
        </a:p>
      </dgm:t>
    </dgm:pt>
    <dgm:pt modelId="{CE1BB986-CB0C-4F4C-BDF1-F297389AB838}" type="parTrans" cxnId="{94B9A070-2D4A-4CB3-BA90-1AE3F4A7F065}">
      <dgm:prSet/>
      <dgm:spPr/>
      <dgm:t>
        <a:bodyPr/>
        <a:lstStyle/>
        <a:p>
          <a:endParaRPr lang="en-US"/>
        </a:p>
      </dgm:t>
    </dgm:pt>
    <dgm:pt modelId="{A1CFACC4-4B75-467E-B785-972EFF26D332}" type="sibTrans" cxnId="{94B9A070-2D4A-4CB3-BA90-1AE3F4A7F065}">
      <dgm:prSet/>
      <dgm:spPr/>
      <dgm:t>
        <a:bodyPr/>
        <a:lstStyle/>
        <a:p>
          <a:endParaRPr lang="en-US"/>
        </a:p>
      </dgm:t>
    </dgm:pt>
    <dgm:pt modelId="{CA398540-6D92-43A9-ACDD-78B5819FE49D}">
      <dgm:prSet phldrT="[Text]"/>
      <dgm:spPr/>
      <dgm:t>
        <a:bodyPr/>
        <a:lstStyle/>
        <a:p>
          <a:pPr>
            <a:buNone/>
          </a:pPr>
          <a:r>
            <a:rPr lang="en-US" b="1">
              <a:latin typeface="Georgia Pro" panose="02040502050405020303" pitchFamily="18" charset="0"/>
            </a:rPr>
            <a:t>Model Selection and Evaluation</a:t>
          </a:r>
        </a:p>
      </dgm:t>
    </dgm:pt>
    <dgm:pt modelId="{1DAB3539-FB25-4614-8687-4C50A7024153}" type="parTrans" cxnId="{DEE578FA-0E14-4B25-B1DA-99D338FBF805}">
      <dgm:prSet/>
      <dgm:spPr/>
      <dgm:t>
        <a:bodyPr/>
        <a:lstStyle/>
        <a:p>
          <a:endParaRPr lang="en-US"/>
        </a:p>
      </dgm:t>
    </dgm:pt>
    <dgm:pt modelId="{841A6D05-46BD-477C-8A65-694A65F9B9F5}" type="sibTrans" cxnId="{DEE578FA-0E14-4B25-B1DA-99D338FBF805}">
      <dgm:prSet/>
      <dgm:spPr/>
      <dgm:t>
        <a:bodyPr/>
        <a:lstStyle/>
        <a:p>
          <a:endParaRPr lang="en-US"/>
        </a:p>
      </dgm:t>
    </dgm:pt>
    <dgm:pt modelId="{319D16B8-3CA0-4820-A0D4-531FC689301B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>
              <a:latin typeface="Georgia Pro" panose="02040502050405020303" pitchFamily="18" charset="0"/>
            </a:rPr>
            <a:t>5-fold cross-validation</a:t>
          </a:r>
        </a:p>
      </dgm:t>
    </dgm:pt>
    <dgm:pt modelId="{E3C24B2E-DBCE-42C4-9D19-395055FD8072}" type="parTrans" cxnId="{4F42F3E1-1275-4ECB-BC92-253D287255B3}">
      <dgm:prSet/>
      <dgm:spPr/>
      <dgm:t>
        <a:bodyPr/>
        <a:lstStyle/>
        <a:p>
          <a:endParaRPr lang="en-US"/>
        </a:p>
      </dgm:t>
    </dgm:pt>
    <dgm:pt modelId="{6ABE751A-2A41-43D5-B4C4-BDBCB4F09621}" type="sibTrans" cxnId="{4F42F3E1-1275-4ECB-BC92-253D287255B3}">
      <dgm:prSet/>
      <dgm:spPr/>
      <dgm:t>
        <a:bodyPr/>
        <a:lstStyle/>
        <a:p>
          <a:endParaRPr lang="en-US"/>
        </a:p>
      </dgm:t>
    </dgm:pt>
    <dgm:pt modelId="{76BC0F33-8E66-4064-B7C4-AA49F50ABE4B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>
              <a:latin typeface="Georgia Pro" panose="02040502050405020303" pitchFamily="18" charset="0"/>
            </a:rPr>
            <a:t>Inverse Transformation TE5</a:t>
          </a:r>
        </a:p>
      </dgm:t>
    </dgm:pt>
    <dgm:pt modelId="{144A1743-A7E5-499C-8177-A81B9B77B043}" type="parTrans" cxnId="{83AD8301-E5CA-4315-8189-B2A17A6E94FA}">
      <dgm:prSet/>
      <dgm:spPr/>
      <dgm:t>
        <a:bodyPr/>
        <a:lstStyle/>
        <a:p>
          <a:endParaRPr lang="en-US"/>
        </a:p>
      </dgm:t>
    </dgm:pt>
    <dgm:pt modelId="{F2E516DE-3DEC-40FA-8EB7-96038F36FE0D}" type="sibTrans" cxnId="{83AD8301-E5CA-4315-8189-B2A17A6E94FA}">
      <dgm:prSet/>
      <dgm:spPr/>
      <dgm:t>
        <a:bodyPr/>
        <a:lstStyle/>
        <a:p>
          <a:endParaRPr lang="en-US"/>
        </a:p>
      </dgm:t>
    </dgm:pt>
    <dgm:pt modelId="{11AADDD7-5028-4DC9-8C95-EBC3DA83A2BD}">
      <dgm:prSet phldrT="[Text]"/>
      <dgm:spPr/>
      <dgm:t>
        <a:bodyPr/>
        <a:lstStyle/>
        <a:p>
          <a:pPr>
            <a:buNone/>
          </a:pPr>
          <a:r>
            <a:rPr lang="en-US" b="1">
              <a:latin typeface="Georgia Pro" panose="02040502050405020303" pitchFamily="18" charset="0"/>
            </a:rPr>
            <a:t>Clinical Heterogeneity and Final Outputs</a:t>
          </a:r>
        </a:p>
      </dgm:t>
    </dgm:pt>
    <dgm:pt modelId="{F0A9D7BD-4B22-490F-B511-8D9B7D522B1F}" type="parTrans" cxnId="{5E4FD4D7-55AC-4F17-AF7E-2DA2719353E6}">
      <dgm:prSet/>
      <dgm:spPr/>
      <dgm:t>
        <a:bodyPr/>
        <a:lstStyle/>
        <a:p>
          <a:endParaRPr lang="en-US"/>
        </a:p>
      </dgm:t>
    </dgm:pt>
    <dgm:pt modelId="{26D0E24B-55FB-4AB4-B90D-538FE81C52B5}" type="sibTrans" cxnId="{5E4FD4D7-55AC-4F17-AF7E-2DA2719353E6}">
      <dgm:prSet/>
      <dgm:spPr/>
      <dgm:t>
        <a:bodyPr/>
        <a:lstStyle/>
        <a:p>
          <a:endParaRPr lang="en-US"/>
        </a:p>
      </dgm:t>
    </dgm:pt>
    <dgm:pt modelId="{CD2BFBFA-1518-4C83-B14F-86E472D7E77D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>
              <a:latin typeface="Georgia Pro" panose="02040502050405020303" pitchFamily="18" charset="0"/>
            </a:rPr>
            <a:t>Driver Analysis</a:t>
          </a:r>
        </a:p>
      </dgm:t>
    </dgm:pt>
    <dgm:pt modelId="{6449C12B-C3BF-4DFC-BCDA-06CB85026210}" type="parTrans" cxnId="{48E7BA64-E284-4DCC-A381-C03272588023}">
      <dgm:prSet/>
      <dgm:spPr/>
      <dgm:t>
        <a:bodyPr/>
        <a:lstStyle/>
        <a:p>
          <a:endParaRPr lang="en-US"/>
        </a:p>
      </dgm:t>
    </dgm:pt>
    <dgm:pt modelId="{50118D7F-1CA9-4320-AB8F-A226323BB8AF}" type="sibTrans" cxnId="{48E7BA64-E284-4DCC-A381-C03272588023}">
      <dgm:prSet/>
      <dgm:spPr/>
      <dgm:t>
        <a:bodyPr/>
        <a:lstStyle/>
        <a:p>
          <a:endParaRPr lang="en-US"/>
        </a:p>
      </dgm:t>
    </dgm:pt>
    <dgm:pt modelId="{A5B6855D-2C9A-4480-B150-3B74622246B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>
              <a:latin typeface="Georgia Pro" panose="02040502050405020303" pitchFamily="18" charset="0"/>
            </a:rPr>
            <a:t>CDS-Ready Table</a:t>
          </a:r>
        </a:p>
      </dgm:t>
    </dgm:pt>
    <dgm:pt modelId="{73DE99E8-B95B-4DB3-A819-B6D7F68087E5}" type="parTrans" cxnId="{5292F6A4-BBC9-4470-82B0-AFFD3F73FE89}">
      <dgm:prSet/>
      <dgm:spPr/>
      <dgm:t>
        <a:bodyPr/>
        <a:lstStyle/>
        <a:p>
          <a:endParaRPr lang="en-US"/>
        </a:p>
      </dgm:t>
    </dgm:pt>
    <dgm:pt modelId="{477EA18B-9EB4-4D6C-A732-4148979579BC}" type="sibTrans" cxnId="{5292F6A4-BBC9-4470-82B0-AFFD3F73FE89}">
      <dgm:prSet/>
      <dgm:spPr/>
      <dgm:t>
        <a:bodyPr/>
        <a:lstStyle/>
        <a:p>
          <a:endParaRPr lang="en-US"/>
        </a:p>
      </dgm:t>
    </dgm:pt>
    <dgm:pt modelId="{75AC2610-352F-48B1-85F4-F9B0684B602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>
              <a:latin typeface="Georgia Pro" panose="02040502050405020303" pitchFamily="18" charset="0"/>
            </a:rPr>
            <a:t>R-loss, MAE, RMSE</a:t>
          </a:r>
        </a:p>
      </dgm:t>
    </dgm:pt>
    <dgm:pt modelId="{37C56CD0-5E20-438B-A1B0-972E0B0E0595}" type="parTrans" cxnId="{F25C84A6-43B3-4F3D-943E-E5D48729EA3D}">
      <dgm:prSet/>
      <dgm:spPr/>
      <dgm:t>
        <a:bodyPr/>
        <a:lstStyle/>
        <a:p>
          <a:endParaRPr lang="en-US"/>
        </a:p>
      </dgm:t>
    </dgm:pt>
    <dgm:pt modelId="{E24126F4-CE66-4D15-9B8E-8AC16DE7894B}" type="sibTrans" cxnId="{F25C84A6-43B3-4F3D-943E-E5D48729EA3D}">
      <dgm:prSet/>
      <dgm:spPr/>
      <dgm:t>
        <a:bodyPr/>
        <a:lstStyle/>
        <a:p>
          <a:endParaRPr lang="en-US"/>
        </a:p>
      </dgm:t>
    </dgm:pt>
    <dgm:pt modelId="{D4B83A17-718B-4D6C-A3E3-2C7961F07431}">
      <dgm:prSet phldrT="[Tex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>
              <a:latin typeface="Georgia Pro" panose="02040502050405020303" pitchFamily="18" charset="0"/>
            </a:rPr>
            <a:t>BMI Computation</a:t>
          </a:r>
        </a:p>
      </dgm:t>
    </dgm:pt>
    <dgm:pt modelId="{A17A62E5-DCE1-4366-B24D-0873D7D61430}" type="parTrans" cxnId="{A55AD871-2D6B-4570-B7AC-7E36C673E061}">
      <dgm:prSet/>
      <dgm:spPr/>
      <dgm:t>
        <a:bodyPr/>
        <a:lstStyle/>
        <a:p>
          <a:endParaRPr lang="en-US"/>
        </a:p>
      </dgm:t>
    </dgm:pt>
    <dgm:pt modelId="{C0B1E56B-56B1-4E10-B493-491942B899FC}" type="sibTrans" cxnId="{A55AD871-2D6B-4570-B7AC-7E36C673E061}">
      <dgm:prSet/>
      <dgm:spPr/>
      <dgm:t>
        <a:bodyPr/>
        <a:lstStyle/>
        <a:p>
          <a:endParaRPr lang="en-US"/>
        </a:p>
      </dgm:t>
    </dgm:pt>
    <dgm:pt modelId="{BE1D8A51-FA3F-4085-8AF1-DF21B51788A7}">
      <dgm:prSet phldrT="[Tex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>
              <a:latin typeface="Georgia Pro" panose="02040502050405020303" pitchFamily="18" charset="0"/>
            </a:rPr>
            <a:t>Missing handling</a:t>
          </a:r>
        </a:p>
      </dgm:t>
    </dgm:pt>
    <dgm:pt modelId="{668AC330-A567-41DA-8590-7611EEE43E93}" type="parTrans" cxnId="{C32AEA74-3597-4094-BF5F-BCD203EC355B}">
      <dgm:prSet/>
      <dgm:spPr/>
      <dgm:t>
        <a:bodyPr/>
        <a:lstStyle/>
        <a:p>
          <a:endParaRPr lang="en-US"/>
        </a:p>
      </dgm:t>
    </dgm:pt>
    <dgm:pt modelId="{DC977B0E-AA5B-423C-9FF6-8AFD1860A693}" type="sibTrans" cxnId="{C32AEA74-3597-4094-BF5F-BCD203EC355B}">
      <dgm:prSet/>
      <dgm:spPr/>
      <dgm:t>
        <a:bodyPr/>
        <a:lstStyle/>
        <a:p>
          <a:endParaRPr lang="en-US"/>
        </a:p>
      </dgm:t>
    </dgm:pt>
    <dgm:pt modelId="{4584E216-B1AE-4E6E-9FF4-C5EA9C12B27A}">
      <dgm:prSet phldrT="[Tex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>
              <a:latin typeface="Georgia Pro" panose="02040502050405020303" pitchFamily="18" charset="0"/>
            </a:rPr>
            <a:t>Data Pre-processing</a:t>
          </a:r>
        </a:p>
      </dgm:t>
    </dgm:pt>
    <dgm:pt modelId="{38D99717-B60B-4D6D-BEDD-EAA8A69644D2}" type="parTrans" cxnId="{D9D6E29C-CD1D-4532-924A-307D2DD73A71}">
      <dgm:prSet/>
      <dgm:spPr/>
      <dgm:t>
        <a:bodyPr/>
        <a:lstStyle/>
        <a:p>
          <a:endParaRPr lang="en-US"/>
        </a:p>
      </dgm:t>
    </dgm:pt>
    <dgm:pt modelId="{F7AFC7B4-4372-443E-94A7-D10002697364}" type="sibTrans" cxnId="{D9D6E29C-CD1D-4532-924A-307D2DD73A71}">
      <dgm:prSet/>
      <dgm:spPr/>
      <dgm:t>
        <a:bodyPr/>
        <a:lstStyle/>
        <a:p>
          <a:endParaRPr lang="en-US"/>
        </a:p>
      </dgm:t>
    </dgm:pt>
    <dgm:pt modelId="{E177934B-9ECA-42D7-9431-71B92806242D}" type="pres">
      <dgm:prSet presAssocID="{4184BCE8-3B9B-4B47-A56D-A279110976E5}" presName="Name0" presStyleCnt="0">
        <dgm:presLayoutVars>
          <dgm:dir/>
          <dgm:animOne val="branch"/>
          <dgm:animLvl val="lvl"/>
        </dgm:presLayoutVars>
      </dgm:prSet>
      <dgm:spPr/>
    </dgm:pt>
    <dgm:pt modelId="{3601A1FC-3D06-43BC-9E91-5FD1446FEAA6}" type="pres">
      <dgm:prSet presAssocID="{C9711215-C751-463E-96DA-4F4B8308EEA2}" presName="chaos" presStyleCnt="0"/>
      <dgm:spPr/>
    </dgm:pt>
    <dgm:pt modelId="{6A450E45-3018-40C2-95CE-2193AD4976E7}" type="pres">
      <dgm:prSet presAssocID="{C9711215-C751-463E-96DA-4F4B8308EEA2}" presName="parTx1" presStyleLbl="revTx" presStyleIdx="0" presStyleCnt="9"/>
      <dgm:spPr/>
    </dgm:pt>
    <dgm:pt modelId="{B77FC623-4D36-4994-BD5D-B03AEDF7FB8C}" type="pres">
      <dgm:prSet presAssocID="{C9711215-C751-463E-96DA-4F4B8308EEA2}" presName="desTx1" presStyleLbl="revTx" presStyleIdx="1" presStyleCnt="9">
        <dgm:presLayoutVars>
          <dgm:bulletEnabled val="1"/>
        </dgm:presLayoutVars>
      </dgm:prSet>
      <dgm:spPr/>
    </dgm:pt>
    <dgm:pt modelId="{7AE10DE3-BDE4-4DB5-9DDD-EF23D00A40DD}" type="pres">
      <dgm:prSet presAssocID="{C9711215-C751-463E-96DA-4F4B8308EEA2}" presName="c1" presStyleLbl="node1" presStyleIdx="0" presStyleCnt="19"/>
      <dgm:spPr/>
    </dgm:pt>
    <dgm:pt modelId="{B1B6E220-BCA0-45C0-9B35-2908A1E24B07}" type="pres">
      <dgm:prSet presAssocID="{C9711215-C751-463E-96DA-4F4B8308EEA2}" presName="c2" presStyleLbl="node1" presStyleIdx="1" presStyleCnt="19"/>
      <dgm:spPr/>
    </dgm:pt>
    <dgm:pt modelId="{981B1407-623E-47EE-83F8-09284FA809C9}" type="pres">
      <dgm:prSet presAssocID="{C9711215-C751-463E-96DA-4F4B8308EEA2}" presName="c3" presStyleLbl="node1" presStyleIdx="2" presStyleCnt="19"/>
      <dgm:spPr/>
    </dgm:pt>
    <dgm:pt modelId="{113E6439-2C07-45E0-B18E-FC992A56706F}" type="pres">
      <dgm:prSet presAssocID="{C9711215-C751-463E-96DA-4F4B8308EEA2}" presName="c4" presStyleLbl="node1" presStyleIdx="3" presStyleCnt="19"/>
      <dgm:spPr/>
    </dgm:pt>
    <dgm:pt modelId="{EAB10D87-9DB7-4338-8A99-AD6B708BA716}" type="pres">
      <dgm:prSet presAssocID="{C9711215-C751-463E-96DA-4F4B8308EEA2}" presName="c5" presStyleLbl="node1" presStyleIdx="4" presStyleCnt="19"/>
      <dgm:spPr/>
    </dgm:pt>
    <dgm:pt modelId="{C7F293E7-91FA-4F8C-9271-04BCA609FCC6}" type="pres">
      <dgm:prSet presAssocID="{C9711215-C751-463E-96DA-4F4B8308EEA2}" presName="c6" presStyleLbl="node1" presStyleIdx="5" presStyleCnt="19"/>
      <dgm:spPr/>
    </dgm:pt>
    <dgm:pt modelId="{7F3B8F69-3453-4381-B8D5-6B3C44C02030}" type="pres">
      <dgm:prSet presAssocID="{C9711215-C751-463E-96DA-4F4B8308EEA2}" presName="c7" presStyleLbl="node1" presStyleIdx="6" presStyleCnt="19"/>
      <dgm:spPr/>
    </dgm:pt>
    <dgm:pt modelId="{61EB27AD-3CF0-4CB0-99BB-CCEE9B9FEA40}" type="pres">
      <dgm:prSet presAssocID="{C9711215-C751-463E-96DA-4F4B8308EEA2}" presName="c8" presStyleLbl="node1" presStyleIdx="7" presStyleCnt="19"/>
      <dgm:spPr/>
    </dgm:pt>
    <dgm:pt modelId="{C943BF27-BC49-4BB4-8F26-B583051A4B99}" type="pres">
      <dgm:prSet presAssocID="{C9711215-C751-463E-96DA-4F4B8308EEA2}" presName="c9" presStyleLbl="node1" presStyleIdx="8" presStyleCnt="19"/>
      <dgm:spPr/>
    </dgm:pt>
    <dgm:pt modelId="{1AEE6E87-0682-43C6-B3D8-ECA1DF35144B}" type="pres">
      <dgm:prSet presAssocID="{C9711215-C751-463E-96DA-4F4B8308EEA2}" presName="c10" presStyleLbl="node1" presStyleIdx="9" presStyleCnt="19"/>
      <dgm:spPr/>
    </dgm:pt>
    <dgm:pt modelId="{8A476134-872B-4081-ACBA-4064839B3FFE}" type="pres">
      <dgm:prSet presAssocID="{C9711215-C751-463E-96DA-4F4B8308EEA2}" presName="c11" presStyleLbl="node1" presStyleIdx="10" presStyleCnt="19"/>
      <dgm:spPr/>
    </dgm:pt>
    <dgm:pt modelId="{6B259710-11A3-4A2B-9088-92993A86A013}" type="pres">
      <dgm:prSet presAssocID="{C9711215-C751-463E-96DA-4F4B8308EEA2}" presName="c12" presStyleLbl="node1" presStyleIdx="11" presStyleCnt="19"/>
      <dgm:spPr/>
    </dgm:pt>
    <dgm:pt modelId="{8CF1F021-D229-47D9-A284-4D2EEC659940}" type="pres">
      <dgm:prSet presAssocID="{C9711215-C751-463E-96DA-4F4B8308EEA2}" presName="c13" presStyleLbl="node1" presStyleIdx="12" presStyleCnt="19"/>
      <dgm:spPr/>
    </dgm:pt>
    <dgm:pt modelId="{2BFE6901-0257-4D06-AAC0-1DD5990FAFFB}" type="pres">
      <dgm:prSet presAssocID="{C9711215-C751-463E-96DA-4F4B8308EEA2}" presName="c14" presStyleLbl="node1" presStyleIdx="13" presStyleCnt="19"/>
      <dgm:spPr/>
    </dgm:pt>
    <dgm:pt modelId="{336D01FA-4DDE-4ADD-A758-7F1F53EC430C}" type="pres">
      <dgm:prSet presAssocID="{C9711215-C751-463E-96DA-4F4B8308EEA2}" presName="c15" presStyleLbl="node1" presStyleIdx="14" presStyleCnt="19"/>
      <dgm:spPr/>
    </dgm:pt>
    <dgm:pt modelId="{EF3742DF-7B9E-4EAD-8856-50AE86400EA5}" type="pres">
      <dgm:prSet presAssocID="{C9711215-C751-463E-96DA-4F4B8308EEA2}" presName="c16" presStyleLbl="node1" presStyleIdx="15" presStyleCnt="19"/>
      <dgm:spPr/>
    </dgm:pt>
    <dgm:pt modelId="{99E86164-F504-4C44-B569-EFBD123E88D1}" type="pres">
      <dgm:prSet presAssocID="{C9711215-C751-463E-96DA-4F4B8308EEA2}" presName="c17" presStyleLbl="node1" presStyleIdx="16" presStyleCnt="19"/>
      <dgm:spPr/>
    </dgm:pt>
    <dgm:pt modelId="{E1F3E72D-B006-42CE-8698-5C82A0FDCCF0}" type="pres">
      <dgm:prSet presAssocID="{C9711215-C751-463E-96DA-4F4B8308EEA2}" presName="c18" presStyleLbl="node1" presStyleIdx="17" presStyleCnt="19"/>
      <dgm:spPr/>
    </dgm:pt>
    <dgm:pt modelId="{601B062C-8260-4B36-B47F-781F520F396F}" type="pres">
      <dgm:prSet presAssocID="{D9B917A4-5986-4B69-8954-0A44D7D0D767}" presName="chevronComposite1" presStyleCnt="0"/>
      <dgm:spPr/>
    </dgm:pt>
    <dgm:pt modelId="{A3A6CC50-0B7C-4086-B538-D316D612EBDA}" type="pres">
      <dgm:prSet presAssocID="{D9B917A4-5986-4B69-8954-0A44D7D0D767}" presName="chevron1" presStyleLbl="sibTrans2D1" presStyleIdx="0" presStyleCnt="4"/>
      <dgm:spPr/>
    </dgm:pt>
    <dgm:pt modelId="{AE5B6314-BCB9-4567-B4E7-87671E414B48}" type="pres">
      <dgm:prSet presAssocID="{D9B917A4-5986-4B69-8954-0A44D7D0D767}" presName="spChevron1" presStyleCnt="0"/>
      <dgm:spPr/>
    </dgm:pt>
    <dgm:pt modelId="{EA862AAD-786A-4AEE-AFA9-3DCF98A50D73}" type="pres">
      <dgm:prSet presAssocID="{E255032B-83D5-4225-8E9F-706AA4A14D57}" presName="middle" presStyleCnt="0"/>
      <dgm:spPr/>
    </dgm:pt>
    <dgm:pt modelId="{E4F74285-1742-4886-9C3E-3996FDB31026}" type="pres">
      <dgm:prSet presAssocID="{E255032B-83D5-4225-8E9F-706AA4A14D57}" presName="parTxMid" presStyleLbl="revTx" presStyleIdx="2" presStyleCnt="9"/>
      <dgm:spPr/>
    </dgm:pt>
    <dgm:pt modelId="{27E5A888-4058-4B96-9B26-85D576E6E500}" type="pres">
      <dgm:prSet presAssocID="{E255032B-83D5-4225-8E9F-706AA4A14D57}" presName="desTxMid" presStyleLbl="revTx" presStyleIdx="3" presStyleCnt="9">
        <dgm:presLayoutVars>
          <dgm:bulletEnabled val="1"/>
        </dgm:presLayoutVars>
      </dgm:prSet>
      <dgm:spPr/>
    </dgm:pt>
    <dgm:pt modelId="{94EE1CBA-2C31-42DD-AD7C-F9034078E5F2}" type="pres">
      <dgm:prSet presAssocID="{E255032B-83D5-4225-8E9F-706AA4A14D57}" presName="spMid" presStyleCnt="0"/>
      <dgm:spPr/>
    </dgm:pt>
    <dgm:pt modelId="{C749C209-159A-4090-84DF-C5B8B9E060F6}" type="pres">
      <dgm:prSet presAssocID="{D36D92E1-CD7C-4A87-BD57-8E0718D86B39}" presName="chevronComposite1" presStyleCnt="0"/>
      <dgm:spPr/>
    </dgm:pt>
    <dgm:pt modelId="{B753B288-3C4E-479E-9230-152AC22EC3AC}" type="pres">
      <dgm:prSet presAssocID="{D36D92E1-CD7C-4A87-BD57-8E0718D86B39}" presName="chevron1" presStyleLbl="sibTrans2D1" presStyleIdx="1" presStyleCnt="4"/>
      <dgm:spPr/>
    </dgm:pt>
    <dgm:pt modelId="{D1D36B9A-242F-49CB-A4B2-0CD665F938F8}" type="pres">
      <dgm:prSet presAssocID="{D36D92E1-CD7C-4A87-BD57-8E0718D86B39}" presName="spChevron1" presStyleCnt="0"/>
      <dgm:spPr/>
    </dgm:pt>
    <dgm:pt modelId="{6326FBC1-BA12-4092-A6E8-8867A03F6716}" type="pres">
      <dgm:prSet presAssocID="{C5B70CF2-2104-47A4-A789-8C7068B7C41E}" presName="middle" presStyleCnt="0"/>
      <dgm:spPr/>
    </dgm:pt>
    <dgm:pt modelId="{E85D7C98-B0F8-4A48-A00F-0E644F47305D}" type="pres">
      <dgm:prSet presAssocID="{C5B70CF2-2104-47A4-A789-8C7068B7C41E}" presName="parTxMid" presStyleLbl="revTx" presStyleIdx="4" presStyleCnt="9"/>
      <dgm:spPr/>
    </dgm:pt>
    <dgm:pt modelId="{AF26AD25-DA61-4306-B2BB-12AA5A69A206}" type="pres">
      <dgm:prSet presAssocID="{C5B70CF2-2104-47A4-A789-8C7068B7C41E}" presName="desTxMid" presStyleLbl="revTx" presStyleIdx="5" presStyleCnt="9">
        <dgm:presLayoutVars>
          <dgm:bulletEnabled val="1"/>
        </dgm:presLayoutVars>
      </dgm:prSet>
      <dgm:spPr/>
    </dgm:pt>
    <dgm:pt modelId="{BE4DFCD3-AEC4-4A0E-A43E-C40ED0C70307}" type="pres">
      <dgm:prSet presAssocID="{C5B70CF2-2104-47A4-A789-8C7068B7C41E}" presName="spMid" presStyleCnt="0"/>
      <dgm:spPr/>
    </dgm:pt>
    <dgm:pt modelId="{DDEDE9A3-B213-4BAC-B2C4-9C915336FCD9}" type="pres">
      <dgm:prSet presAssocID="{A453766E-9A37-4ECC-897D-4B257893E2D3}" presName="chevronComposite1" presStyleCnt="0"/>
      <dgm:spPr/>
    </dgm:pt>
    <dgm:pt modelId="{8840253F-294A-49F5-844F-6E3124439431}" type="pres">
      <dgm:prSet presAssocID="{A453766E-9A37-4ECC-897D-4B257893E2D3}" presName="chevron1" presStyleLbl="sibTrans2D1" presStyleIdx="2" presStyleCnt="4"/>
      <dgm:spPr/>
    </dgm:pt>
    <dgm:pt modelId="{D9971F20-206A-454F-BE8F-EC0D72CCDF21}" type="pres">
      <dgm:prSet presAssocID="{A453766E-9A37-4ECC-897D-4B257893E2D3}" presName="spChevron1" presStyleCnt="0"/>
      <dgm:spPr/>
    </dgm:pt>
    <dgm:pt modelId="{F967E039-9D74-4625-AC90-8FF36ABB9465}" type="pres">
      <dgm:prSet presAssocID="{CA398540-6D92-43A9-ACDD-78B5819FE49D}" presName="middle" presStyleCnt="0"/>
      <dgm:spPr/>
    </dgm:pt>
    <dgm:pt modelId="{3ECD4F32-D675-405A-9620-D08A91DF4131}" type="pres">
      <dgm:prSet presAssocID="{CA398540-6D92-43A9-ACDD-78B5819FE49D}" presName="parTxMid" presStyleLbl="revTx" presStyleIdx="6" presStyleCnt="9"/>
      <dgm:spPr/>
    </dgm:pt>
    <dgm:pt modelId="{C29AC2D9-746F-4F8F-8CED-144B778D7FEB}" type="pres">
      <dgm:prSet presAssocID="{CA398540-6D92-43A9-ACDD-78B5819FE49D}" presName="desTxMid" presStyleLbl="revTx" presStyleIdx="7" presStyleCnt="9">
        <dgm:presLayoutVars>
          <dgm:bulletEnabled val="1"/>
        </dgm:presLayoutVars>
      </dgm:prSet>
      <dgm:spPr/>
    </dgm:pt>
    <dgm:pt modelId="{167986FB-53E0-4252-8E0B-A9788CD9E104}" type="pres">
      <dgm:prSet presAssocID="{CA398540-6D92-43A9-ACDD-78B5819FE49D}" presName="spMid" presStyleCnt="0"/>
      <dgm:spPr/>
    </dgm:pt>
    <dgm:pt modelId="{F5491C56-0F79-4753-83A4-F7BA089A5DCD}" type="pres">
      <dgm:prSet presAssocID="{841A6D05-46BD-477C-8A65-694A65F9B9F5}" presName="chevronComposite1" presStyleCnt="0"/>
      <dgm:spPr/>
    </dgm:pt>
    <dgm:pt modelId="{0927ACE1-19A4-42E4-B98A-23373ECC3850}" type="pres">
      <dgm:prSet presAssocID="{841A6D05-46BD-477C-8A65-694A65F9B9F5}" presName="chevron1" presStyleLbl="sibTrans2D1" presStyleIdx="3" presStyleCnt="4"/>
      <dgm:spPr/>
    </dgm:pt>
    <dgm:pt modelId="{65ABB30E-C87F-4DEE-A54A-D4325C7719B5}" type="pres">
      <dgm:prSet presAssocID="{841A6D05-46BD-477C-8A65-694A65F9B9F5}" presName="spChevron1" presStyleCnt="0"/>
      <dgm:spPr/>
    </dgm:pt>
    <dgm:pt modelId="{8884D169-D9C1-4DA7-8E98-EADA8D0A8B7A}" type="pres">
      <dgm:prSet presAssocID="{11AADDD7-5028-4DC9-8C95-EBC3DA83A2BD}" presName="last" presStyleCnt="0"/>
      <dgm:spPr/>
    </dgm:pt>
    <dgm:pt modelId="{7ACBDD4C-DF30-45E2-AB0F-A2BAAA9D3A18}" type="pres">
      <dgm:prSet presAssocID="{11AADDD7-5028-4DC9-8C95-EBC3DA83A2BD}" presName="circleTx" presStyleLbl="node1" presStyleIdx="18" presStyleCnt="19"/>
      <dgm:spPr/>
    </dgm:pt>
    <dgm:pt modelId="{CAB326DA-4C4E-4B61-A0FD-309B53AF48A1}" type="pres">
      <dgm:prSet presAssocID="{11AADDD7-5028-4DC9-8C95-EBC3DA83A2BD}" presName="desTxN" presStyleLbl="revTx" presStyleIdx="8" presStyleCnt="9">
        <dgm:presLayoutVars>
          <dgm:bulletEnabled val="1"/>
        </dgm:presLayoutVars>
      </dgm:prSet>
      <dgm:spPr/>
    </dgm:pt>
    <dgm:pt modelId="{44F75DDA-4B09-43FE-941F-E58545F17A32}" type="pres">
      <dgm:prSet presAssocID="{11AADDD7-5028-4DC9-8C95-EBC3DA83A2BD}" presName="spN" presStyleCnt="0"/>
      <dgm:spPr/>
    </dgm:pt>
  </dgm:ptLst>
  <dgm:cxnLst>
    <dgm:cxn modelId="{83AD8301-E5CA-4315-8189-B2A17A6E94FA}" srcId="{CA398540-6D92-43A9-ACDD-78B5819FE49D}" destId="{76BC0F33-8E66-4064-B7C4-AA49F50ABE4B}" srcOrd="1" destOrd="0" parTransId="{144A1743-A7E5-499C-8177-A81B9B77B043}" sibTransId="{F2E516DE-3DEC-40FA-8EB7-96038F36FE0D}"/>
    <dgm:cxn modelId="{033B770D-A801-400C-9861-EA1756156A88}" type="presOf" srcId="{50DEABA1-FE47-4709-BDB4-1EA03B173922}" destId="{27E5A888-4058-4B96-9B26-85D576E6E500}" srcOrd="0" destOrd="0" presId="urn:microsoft.com/office/officeart/2009/3/layout/RandomtoResultProcess"/>
    <dgm:cxn modelId="{99A86F14-C00E-4D5C-8ED5-FC582F29C035}" type="presOf" srcId="{40DDB775-A298-46AE-9670-5F8375A556A1}" destId="{B77FC623-4D36-4994-BD5D-B03AEDF7FB8C}" srcOrd="0" destOrd="0" presId="urn:microsoft.com/office/officeart/2009/3/layout/RandomtoResultProcess"/>
    <dgm:cxn modelId="{D6DF501D-2B7A-4A35-A4D5-AD097980DCFC}" srcId="{C9711215-C751-463E-96DA-4F4B8308EEA2}" destId="{489DA2A5-C228-471C-B707-B03BB8928F18}" srcOrd="3" destOrd="0" parTransId="{7804677B-9020-46F8-AA67-721CC7A85E86}" sibTransId="{A1416707-4156-409A-97AF-31808928F829}"/>
    <dgm:cxn modelId="{239FCB25-3FC8-4FA9-BC45-ED672C261B4C}" type="presOf" srcId="{76BC0F33-8E66-4064-B7C4-AA49F50ABE4B}" destId="{C29AC2D9-746F-4F8F-8CED-144B778D7FEB}" srcOrd="0" destOrd="1" presId="urn:microsoft.com/office/officeart/2009/3/layout/RandomtoResultProcess"/>
    <dgm:cxn modelId="{CD70A829-2257-4E13-A5BA-BFA10F18F90B}" type="presOf" srcId="{CD2BFBFA-1518-4C83-B14F-86E472D7E77D}" destId="{CAB326DA-4C4E-4B61-A0FD-309B53AF48A1}" srcOrd="0" destOrd="0" presId="urn:microsoft.com/office/officeart/2009/3/layout/RandomtoResultProcess"/>
    <dgm:cxn modelId="{81CC0731-00B5-4EFF-909F-489A0E9AC95F}" type="presOf" srcId="{C9711215-C751-463E-96DA-4F4B8308EEA2}" destId="{6A450E45-3018-40C2-95CE-2193AD4976E7}" srcOrd="0" destOrd="0" presId="urn:microsoft.com/office/officeart/2009/3/layout/RandomtoResultProcess"/>
    <dgm:cxn modelId="{8CFE8C39-2FBC-43A9-AA05-9E1723F6773B}" type="presOf" srcId="{4584E216-B1AE-4E6E-9FF4-C5EA9C12B27A}" destId="{B77FC623-4D36-4994-BD5D-B03AEDF7FB8C}" srcOrd="0" destOrd="4" presId="urn:microsoft.com/office/officeart/2009/3/layout/RandomtoResultProcess"/>
    <dgm:cxn modelId="{3B998C63-F9D7-4779-BACA-6B6025D69529}" type="presOf" srcId="{D4B83A17-718B-4D6C-A3E3-2C7961F07431}" destId="{B77FC623-4D36-4994-BD5D-B03AEDF7FB8C}" srcOrd="0" destOrd="2" presId="urn:microsoft.com/office/officeart/2009/3/layout/RandomtoResultProcess"/>
    <dgm:cxn modelId="{48E7BA64-E284-4DCC-A381-C03272588023}" srcId="{11AADDD7-5028-4DC9-8C95-EBC3DA83A2BD}" destId="{CD2BFBFA-1518-4C83-B14F-86E472D7E77D}" srcOrd="0" destOrd="0" parTransId="{6449C12B-C3BF-4DFC-BCDA-06CB85026210}" sibTransId="{50118D7F-1CA9-4320-AB8F-A226323BB8AF}"/>
    <dgm:cxn modelId="{0CBA844B-FC6C-4FAC-B824-CD4F3B537879}" srcId="{4184BCE8-3B9B-4B47-A56D-A279110976E5}" destId="{C9711215-C751-463E-96DA-4F4B8308EEA2}" srcOrd="0" destOrd="0" parTransId="{D79B8B80-5BAC-41C7-958E-325265B6C14D}" sibTransId="{D9B917A4-5986-4B69-8954-0A44D7D0D767}"/>
    <dgm:cxn modelId="{DB5D984B-A0A6-4A0C-A8E2-739DB790B2B3}" srcId="{E255032B-83D5-4225-8E9F-706AA4A14D57}" destId="{50DEABA1-FE47-4709-BDB4-1EA03B173922}" srcOrd="0" destOrd="0" parTransId="{1177A92E-8124-4F2F-9F0D-3E9FF6531724}" sibTransId="{D6B571E1-D403-44DB-9B7F-B7F9F144445F}"/>
    <dgm:cxn modelId="{1203546C-54B0-4CD9-9E94-310C2554AF9A}" type="presOf" srcId="{4B6C1972-40C8-4E82-8B01-E35AB6505F48}" destId="{AF26AD25-DA61-4306-B2BB-12AA5A69A206}" srcOrd="0" destOrd="4" presId="urn:microsoft.com/office/officeart/2009/3/layout/RandomtoResultProcess"/>
    <dgm:cxn modelId="{92ED584E-20A1-430B-A0F6-BFB838E4A5F0}" srcId="{4184BCE8-3B9B-4B47-A56D-A279110976E5}" destId="{E255032B-83D5-4225-8E9F-706AA4A14D57}" srcOrd="1" destOrd="0" parTransId="{26F14C1C-1A45-47E5-BE5C-DC1B5C2BC889}" sibTransId="{D36D92E1-CD7C-4A87-BD57-8E0718D86B39}"/>
    <dgm:cxn modelId="{94B9A070-2D4A-4CB3-BA90-1AE3F4A7F065}" srcId="{C5B70CF2-2104-47A4-A789-8C7068B7C41E}" destId="{4B6C1972-40C8-4E82-8B01-E35AB6505F48}" srcOrd="4" destOrd="0" parTransId="{CE1BB986-CB0C-4F4C-BDF1-F297389AB838}" sibTransId="{A1CFACC4-4B75-467E-B785-972EFF26D332}"/>
    <dgm:cxn modelId="{A55AD871-2D6B-4570-B7AC-7E36C673E061}" srcId="{C9711215-C751-463E-96DA-4F4B8308EEA2}" destId="{D4B83A17-718B-4D6C-A3E3-2C7961F07431}" srcOrd="2" destOrd="0" parTransId="{A17A62E5-DCE1-4366-B24D-0873D7D61430}" sibTransId="{C0B1E56B-56B1-4E10-B493-491942B899FC}"/>
    <dgm:cxn modelId="{C32AEA74-3597-4094-BF5F-BCD203EC355B}" srcId="{C9711215-C751-463E-96DA-4F4B8308EEA2}" destId="{BE1D8A51-FA3F-4085-8AF1-DF21B51788A7}" srcOrd="1" destOrd="0" parTransId="{668AC330-A567-41DA-8590-7611EEE43E93}" sibTransId="{DC977B0E-AA5B-423C-9FF6-8AFD1860A693}"/>
    <dgm:cxn modelId="{65DA4559-FDF6-401A-A2C4-F0408605E2AB}" srcId="{E255032B-83D5-4225-8E9F-706AA4A14D57}" destId="{838E2B3F-45D5-4E61-A3A7-CF3EA1376DDB}" srcOrd="1" destOrd="0" parTransId="{5655DDEE-55A7-409A-96C5-536EA27B6A51}" sibTransId="{E3EE0AE3-3998-4467-8331-7AF09EA0D337}"/>
    <dgm:cxn modelId="{F76AF880-91F7-4DCA-B48F-445D0D79EDC4}" type="presOf" srcId="{4184BCE8-3B9B-4B47-A56D-A279110976E5}" destId="{E177934B-9ECA-42D7-9431-71B92806242D}" srcOrd="0" destOrd="0" presId="urn:microsoft.com/office/officeart/2009/3/layout/RandomtoResultProcess"/>
    <dgm:cxn modelId="{8577A383-2392-4956-891C-8684ADDAE832}" type="presOf" srcId="{E255032B-83D5-4225-8E9F-706AA4A14D57}" destId="{E4F74285-1742-4886-9C3E-3996FDB31026}" srcOrd="0" destOrd="0" presId="urn:microsoft.com/office/officeart/2009/3/layout/RandomtoResultProcess"/>
    <dgm:cxn modelId="{FA095485-4A3B-4DAE-879A-49FEE7F274A0}" type="presOf" srcId="{B57E3D68-3957-42D2-A6EE-B6839E970F6D}" destId="{AF26AD25-DA61-4306-B2BB-12AA5A69A206}" srcOrd="0" destOrd="2" presId="urn:microsoft.com/office/officeart/2009/3/layout/RandomtoResultProcess"/>
    <dgm:cxn modelId="{8BABCB8C-1BDE-472B-A2AA-33A794AEE3EB}" srcId="{C5B70CF2-2104-47A4-A789-8C7068B7C41E}" destId="{B57E3D68-3957-42D2-A6EE-B6839E970F6D}" srcOrd="2" destOrd="0" parTransId="{D7EA54A4-1480-4AC9-B520-0177BBEB8C96}" sibTransId="{7533FCAF-66DE-47A4-90B6-644EFDE63E20}"/>
    <dgm:cxn modelId="{F131E698-3C32-48AD-9B03-3657EB0891F7}" type="presOf" srcId="{BE1D8A51-FA3F-4085-8AF1-DF21B51788A7}" destId="{B77FC623-4D36-4994-BD5D-B03AEDF7FB8C}" srcOrd="0" destOrd="1" presId="urn:microsoft.com/office/officeart/2009/3/layout/RandomtoResultProcess"/>
    <dgm:cxn modelId="{1147689A-9539-43C6-A87B-331BE924A78D}" srcId="{C5B70CF2-2104-47A4-A789-8C7068B7C41E}" destId="{8EC33037-6BFE-4A66-8E1C-28EEA6765B3B}" srcOrd="3" destOrd="0" parTransId="{B363AFDC-CF20-4379-85DB-3815EC186C92}" sibTransId="{F79A8372-1703-4687-9BF0-A8CAA8F79369}"/>
    <dgm:cxn modelId="{4D087C9B-9DF7-43C0-9991-B0DBA6CDF4CD}" type="presOf" srcId="{838E2B3F-45D5-4E61-A3A7-CF3EA1376DDB}" destId="{27E5A888-4058-4B96-9B26-85D576E6E500}" srcOrd="0" destOrd="1" presId="urn:microsoft.com/office/officeart/2009/3/layout/RandomtoResultProcess"/>
    <dgm:cxn modelId="{D9D6E29C-CD1D-4532-924A-307D2DD73A71}" srcId="{C9711215-C751-463E-96DA-4F4B8308EEA2}" destId="{4584E216-B1AE-4E6E-9FF4-C5EA9C12B27A}" srcOrd="4" destOrd="0" parTransId="{38D99717-B60B-4D6D-BEDD-EAA8A69644D2}" sibTransId="{F7AFC7B4-4372-443E-94A7-D10002697364}"/>
    <dgm:cxn modelId="{F3FF5D9E-81B5-4378-99AC-C82DA554D45B}" srcId="{C5B70CF2-2104-47A4-A789-8C7068B7C41E}" destId="{00C264DA-4157-4C86-BCD5-A24B1041BF22}" srcOrd="0" destOrd="0" parTransId="{441FE455-AD2F-4E3D-832F-E9441521E33D}" sibTransId="{D9DAB6F5-3813-4748-8519-29BA2777639E}"/>
    <dgm:cxn modelId="{5292F6A4-BBC9-4470-82B0-AFFD3F73FE89}" srcId="{11AADDD7-5028-4DC9-8C95-EBC3DA83A2BD}" destId="{A5B6855D-2C9A-4480-B150-3B74622246BC}" srcOrd="1" destOrd="0" parTransId="{73DE99E8-B95B-4DB3-A819-B6D7F68087E5}" sibTransId="{477EA18B-9EB4-4D6C-A732-4148979579BC}"/>
    <dgm:cxn modelId="{F25C84A6-43B3-4F3D-943E-E5D48729EA3D}" srcId="{CA398540-6D92-43A9-ACDD-78B5819FE49D}" destId="{75AC2610-352F-48B1-85F4-F9B0684B6024}" srcOrd="2" destOrd="0" parTransId="{37C56CD0-5E20-438B-A1B0-972E0B0E0595}" sibTransId="{E24126F4-CE66-4D15-9B8E-8AC16DE7894B}"/>
    <dgm:cxn modelId="{0858D0A9-FE29-41FA-B7F4-52A8AAD277CE}" srcId="{4184BCE8-3B9B-4B47-A56D-A279110976E5}" destId="{C5B70CF2-2104-47A4-A789-8C7068B7C41E}" srcOrd="2" destOrd="0" parTransId="{9252CDEF-7DF6-476A-8DFC-B034E92D502E}" sibTransId="{A453766E-9A37-4ECC-897D-4B257893E2D3}"/>
    <dgm:cxn modelId="{77B9F4B4-95D8-4D8B-B878-F169A59F933B}" type="presOf" srcId="{CA398540-6D92-43A9-ACDD-78B5819FE49D}" destId="{3ECD4F32-D675-405A-9620-D08A91DF4131}" srcOrd="0" destOrd="0" presId="urn:microsoft.com/office/officeart/2009/3/layout/RandomtoResultProcess"/>
    <dgm:cxn modelId="{F15D2BB6-3ECA-4484-AB2D-D255EC39BEBB}" type="presOf" srcId="{75AC2610-352F-48B1-85F4-F9B0684B6024}" destId="{C29AC2D9-746F-4F8F-8CED-144B778D7FEB}" srcOrd="0" destOrd="2" presId="urn:microsoft.com/office/officeart/2009/3/layout/RandomtoResultProcess"/>
    <dgm:cxn modelId="{0E19A5B6-3669-46FD-AB54-1EC123A62DB4}" srcId="{C5B70CF2-2104-47A4-A789-8C7068B7C41E}" destId="{F0C2E810-3C7F-45F2-8014-403F4C8A50C6}" srcOrd="1" destOrd="0" parTransId="{826BBF87-89A7-4CF9-AA0D-4BD6173F85DF}" sibTransId="{2CA667EE-30E0-43F2-8A1C-25C9B9621AA4}"/>
    <dgm:cxn modelId="{1E5DF8B9-E166-4DD4-8C17-20E86301B403}" type="presOf" srcId="{00C264DA-4157-4C86-BCD5-A24B1041BF22}" destId="{AF26AD25-DA61-4306-B2BB-12AA5A69A206}" srcOrd="0" destOrd="0" presId="urn:microsoft.com/office/officeart/2009/3/layout/RandomtoResultProcess"/>
    <dgm:cxn modelId="{9EC731CB-B910-4E31-B106-7B59D3920D49}" type="presOf" srcId="{11AADDD7-5028-4DC9-8C95-EBC3DA83A2BD}" destId="{7ACBDD4C-DF30-45E2-AB0F-A2BAAA9D3A18}" srcOrd="0" destOrd="0" presId="urn:microsoft.com/office/officeart/2009/3/layout/RandomtoResultProcess"/>
    <dgm:cxn modelId="{4CCD54CD-18E8-4711-B31D-A78ACAF3F5E1}" type="presOf" srcId="{8EC33037-6BFE-4A66-8E1C-28EEA6765B3B}" destId="{AF26AD25-DA61-4306-B2BB-12AA5A69A206}" srcOrd="0" destOrd="3" presId="urn:microsoft.com/office/officeart/2009/3/layout/RandomtoResultProcess"/>
    <dgm:cxn modelId="{9AA5E5D0-9D07-4FAA-922D-51899CBCB148}" type="presOf" srcId="{489DA2A5-C228-471C-B707-B03BB8928F18}" destId="{B77FC623-4D36-4994-BD5D-B03AEDF7FB8C}" srcOrd="0" destOrd="3" presId="urn:microsoft.com/office/officeart/2009/3/layout/RandomtoResultProcess"/>
    <dgm:cxn modelId="{FF2713D4-C746-413E-AF1E-6603FCB858FE}" type="presOf" srcId="{F0C2E810-3C7F-45F2-8014-403F4C8A50C6}" destId="{AF26AD25-DA61-4306-B2BB-12AA5A69A206}" srcOrd="0" destOrd="1" presId="urn:microsoft.com/office/officeart/2009/3/layout/RandomtoResultProcess"/>
    <dgm:cxn modelId="{5E4FD4D7-55AC-4F17-AF7E-2DA2719353E6}" srcId="{4184BCE8-3B9B-4B47-A56D-A279110976E5}" destId="{11AADDD7-5028-4DC9-8C95-EBC3DA83A2BD}" srcOrd="4" destOrd="0" parTransId="{F0A9D7BD-4B22-490F-B511-8D9B7D522B1F}" sibTransId="{26D0E24B-55FB-4AB4-B90D-538FE81C52B5}"/>
    <dgm:cxn modelId="{4F42F3E1-1275-4ECB-BC92-253D287255B3}" srcId="{CA398540-6D92-43A9-ACDD-78B5819FE49D}" destId="{319D16B8-3CA0-4820-A0D4-531FC689301B}" srcOrd="0" destOrd="0" parTransId="{E3C24B2E-DBCE-42C4-9D19-395055FD8072}" sibTransId="{6ABE751A-2A41-43D5-B4C4-BDBCB4F09621}"/>
    <dgm:cxn modelId="{64AEE9F7-948B-4AA7-BD75-7DD0A374861A}" type="presOf" srcId="{319D16B8-3CA0-4820-A0D4-531FC689301B}" destId="{C29AC2D9-746F-4F8F-8CED-144B778D7FEB}" srcOrd="0" destOrd="0" presId="urn:microsoft.com/office/officeart/2009/3/layout/RandomtoResultProcess"/>
    <dgm:cxn modelId="{DEE578FA-0E14-4B25-B1DA-99D338FBF805}" srcId="{4184BCE8-3B9B-4B47-A56D-A279110976E5}" destId="{CA398540-6D92-43A9-ACDD-78B5819FE49D}" srcOrd="3" destOrd="0" parTransId="{1DAB3539-FB25-4614-8687-4C50A7024153}" sibTransId="{841A6D05-46BD-477C-8A65-694A65F9B9F5}"/>
    <dgm:cxn modelId="{95E8EAFA-01A8-463A-B5AE-2C398C767BEF}" type="presOf" srcId="{A5B6855D-2C9A-4480-B150-3B74622246BC}" destId="{CAB326DA-4C4E-4B61-A0FD-309B53AF48A1}" srcOrd="0" destOrd="1" presId="urn:microsoft.com/office/officeart/2009/3/layout/RandomtoResultProcess"/>
    <dgm:cxn modelId="{1362E8FD-C918-48B9-AA6D-34CFC7C01131}" srcId="{C9711215-C751-463E-96DA-4F4B8308EEA2}" destId="{40DDB775-A298-46AE-9670-5F8375A556A1}" srcOrd="0" destOrd="0" parTransId="{214CD01D-065F-4FA4-BEBB-31F3EB5C7408}" sibTransId="{7D5AA9A3-A8E3-4F69-9285-8A116B4E97E7}"/>
    <dgm:cxn modelId="{A8A43DFF-9B1F-4FFA-8BC2-63EEF91BFC85}" type="presOf" srcId="{C5B70CF2-2104-47A4-A789-8C7068B7C41E}" destId="{E85D7C98-B0F8-4A48-A00F-0E644F47305D}" srcOrd="0" destOrd="0" presId="urn:microsoft.com/office/officeart/2009/3/layout/RandomtoResultProcess"/>
    <dgm:cxn modelId="{FC1A57BF-0625-412B-B89D-B3B3B4013EB7}" type="presParOf" srcId="{E177934B-9ECA-42D7-9431-71B92806242D}" destId="{3601A1FC-3D06-43BC-9E91-5FD1446FEAA6}" srcOrd="0" destOrd="0" presId="urn:microsoft.com/office/officeart/2009/3/layout/RandomtoResultProcess"/>
    <dgm:cxn modelId="{BAB514DA-E34F-44D2-902D-3D6B9F0646BB}" type="presParOf" srcId="{3601A1FC-3D06-43BC-9E91-5FD1446FEAA6}" destId="{6A450E45-3018-40C2-95CE-2193AD4976E7}" srcOrd="0" destOrd="0" presId="urn:microsoft.com/office/officeart/2009/3/layout/RandomtoResultProcess"/>
    <dgm:cxn modelId="{A1421D70-70E4-48EA-A90A-2FC463ACD7BA}" type="presParOf" srcId="{3601A1FC-3D06-43BC-9E91-5FD1446FEAA6}" destId="{B77FC623-4D36-4994-BD5D-B03AEDF7FB8C}" srcOrd="1" destOrd="0" presId="urn:microsoft.com/office/officeart/2009/3/layout/RandomtoResultProcess"/>
    <dgm:cxn modelId="{6A112F57-8EFB-4ECC-8E68-85DEDA1648F8}" type="presParOf" srcId="{3601A1FC-3D06-43BC-9E91-5FD1446FEAA6}" destId="{7AE10DE3-BDE4-4DB5-9DDD-EF23D00A40DD}" srcOrd="2" destOrd="0" presId="urn:microsoft.com/office/officeart/2009/3/layout/RandomtoResultProcess"/>
    <dgm:cxn modelId="{1057EAAE-436B-4D2E-9681-0255E9D9A444}" type="presParOf" srcId="{3601A1FC-3D06-43BC-9E91-5FD1446FEAA6}" destId="{B1B6E220-BCA0-45C0-9B35-2908A1E24B07}" srcOrd="3" destOrd="0" presId="urn:microsoft.com/office/officeart/2009/3/layout/RandomtoResultProcess"/>
    <dgm:cxn modelId="{4B1BBE2E-F61A-4A26-8686-5A7507B17377}" type="presParOf" srcId="{3601A1FC-3D06-43BC-9E91-5FD1446FEAA6}" destId="{981B1407-623E-47EE-83F8-09284FA809C9}" srcOrd="4" destOrd="0" presId="urn:microsoft.com/office/officeart/2009/3/layout/RandomtoResultProcess"/>
    <dgm:cxn modelId="{6BE5D1B5-9E6A-473E-B5B8-BE44C3E14864}" type="presParOf" srcId="{3601A1FC-3D06-43BC-9E91-5FD1446FEAA6}" destId="{113E6439-2C07-45E0-B18E-FC992A56706F}" srcOrd="5" destOrd="0" presId="urn:microsoft.com/office/officeart/2009/3/layout/RandomtoResultProcess"/>
    <dgm:cxn modelId="{FC8BC88F-70B3-406C-86F3-889DD4441E05}" type="presParOf" srcId="{3601A1FC-3D06-43BC-9E91-5FD1446FEAA6}" destId="{EAB10D87-9DB7-4338-8A99-AD6B708BA716}" srcOrd="6" destOrd="0" presId="urn:microsoft.com/office/officeart/2009/3/layout/RandomtoResultProcess"/>
    <dgm:cxn modelId="{AEC57ABD-AEDA-4E83-BFC2-3D85DC58A3C8}" type="presParOf" srcId="{3601A1FC-3D06-43BC-9E91-5FD1446FEAA6}" destId="{C7F293E7-91FA-4F8C-9271-04BCA609FCC6}" srcOrd="7" destOrd="0" presId="urn:microsoft.com/office/officeart/2009/3/layout/RandomtoResultProcess"/>
    <dgm:cxn modelId="{C741D47B-015E-477E-8102-4B3006D4BA4E}" type="presParOf" srcId="{3601A1FC-3D06-43BC-9E91-5FD1446FEAA6}" destId="{7F3B8F69-3453-4381-B8D5-6B3C44C02030}" srcOrd="8" destOrd="0" presId="urn:microsoft.com/office/officeart/2009/3/layout/RandomtoResultProcess"/>
    <dgm:cxn modelId="{AEB86936-DCD3-4D31-B983-551E20CC5FA9}" type="presParOf" srcId="{3601A1FC-3D06-43BC-9E91-5FD1446FEAA6}" destId="{61EB27AD-3CF0-4CB0-99BB-CCEE9B9FEA40}" srcOrd="9" destOrd="0" presId="urn:microsoft.com/office/officeart/2009/3/layout/RandomtoResultProcess"/>
    <dgm:cxn modelId="{512DFF04-3578-4342-8950-5AE10D98A1B8}" type="presParOf" srcId="{3601A1FC-3D06-43BC-9E91-5FD1446FEAA6}" destId="{C943BF27-BC49-4BB4-8F26-B583051A4B99}" srcOrd="10" destOrd="0" presId="urn:microsoft.com/office/officeart/2009/3/layout/RandomtoResultProcess"/>
    <dgm:cxn modelId="{58B52758-F962-4474-8674-3DD345F16BFE}" type="presParOf" srcId="{3601A1FC-3D06-43BC-9E91-5FD1446FEAA6}" destId="{1AEE6E87-0682-43C6-B3D8-ECA1DF35144B}" srcOrd="11" destOrd="0" presId="urn:microsoft.com/office/officeart/2009/3/layout/RandomtoResultProcess"/>
    <dgm:cxn modelId="{594241D7-B40D-414D-B4C9-132CCDF45D10}" type="presParOf" srcId="{3601A1FC-3D06-43BC-9E91-5FD1446FEAA6}" destId="{8A476134-872B-4081-ACBA-4064839B3FFE}" srcOrd="12" destOrd="0" presId="urn:microsoft.com/office/officeart/2009/3/layout/RandomtoResultProcess"/>
    <dgm:cxn modelId="{3CB73603-5063-4A13-83BD-A06B7355D3E1}" type="presParOf" srcId="{3601A1FC-3D06-43BC-9E91-5FD1446FEAA6}" destId="{6B259710-11A3-4A2B-9088-92993A86A013}" srcOrd="13" destOrd="0" presId="urn:microsoft.com/office/officeart/2009/3/layout/RandomtoResultProcess"/>
    <dgm:cxn modelId="{D7E4748D-A411-43DB-BB43-76D46E7F1271}" type="presParOf" srcId="{3601A1FC-3D06-43BC-9E91-5FD1446FEAA6}" destId="{8CF1F021-D229-47D9-A284-4D2EEC659940}" srcOrd="14" destOrd="0" presId="urn:microsoft.com/office/officeart/2009/3/layout/RandomtoResultProcess"/>
    <dgm:cxn modelId="{FCE8C5CB-652F-48B8-A5FD-B81CC31A4364}" type="presParOf" srcId="{3601A1FC-3D06-43BC-9E91-5FD1446FEAA6}" destId="{2BFE6901-0257-4D06-AAC0-1DD5990FAFFB}" srcOrd="15" destOrd="0" presId="urn:microsoft.com/office/officeart/2009/3/layout/RandomtoResultProcess"/>
    <dgm:cxn modelId="{3CC38F0F-008C-40EA-B59C-8D91C5EDAD6B}" type="presParOf" srcId="{3601A1FC-3D06-43BC-9E91-5FD1446FEAA6}" destId="{336D01FA-4DDE-4ADD-A758-7F1F53EC430C}" srcOrd="16" destOrd="0" presId="urn:microsoft.com/office/officeart/2009/3/layout/RandomtoResultProcess"/>
    <dgm:cxn modelId="{B178F98A-6FEA-4446-9FA2-54E7EE7DB65D}" type="presParOf" srcId="{3601A1FC-3D06-43BC-9E91-5FD1446FEAA6}" destId="{EF3742DF-7B9E-4EAD-8856-50AE86400EA5}" srcOrd="17" destOrd="0" presId="urn:microsoft.com/office/officeart/2009/3/layout/RandomtoResultProcess"/>
    <dgm:cxn modelId="{D65052BB-B4C9-481E-9092-6B16722B33FD}" type="presParOf" srcId="{3601A1FC-3D06-43BC-9E91-5FD1446FEAA6}" destId="{99E86164-F504-4C44-B569-EFBD123E88D1}" srcOrd="18" destOrd="0" presId="urn:microsoft.com/office/officeart/2009/3/layout/RandomtoResultProcess"/>
    <dgm:cxn modelId="{690C0E73-FCF2-449D-8435-EFA7EB15AF71}" type="presParOf" srcId="{3601A1FC-3D06-43BC-9E91-5FD1446FEAA6}" destId="{E1F3E72D-B006-42CE-8698-5C82A0FDCCF0}" srcOrd="19" destOrd="0" presId="urn:microsoft.com/office/officeart/2009/3/layout/RandomtoResultProcess"/>
    <dgm:cxn modelId="{E04E1CB5-4FF1-4A2A-8559-F350CDF21F39}" type="presParOf" srcId="{E177934B-9ECA-42D7-9431-71B92806242D}" destId="{601B062C-8260-4B36-B47F-781F520F396F}" srcOrd="1" destOrd="0" presId="urn:microsoft.com/office/officeart/2009/3/layout/RandomtoResultProcess"/>
    <dgm:cxn modelId="{BA37E4ED-78FC-4446-969B-916AC71B9EE8}" type="presParOf" srcId="{601B062C-8260-4B36-B47F-781F520F396F}" destId="{A3A6CC50-0B7C-4086-B538-D316D612EBDA}" srcOrd="0" destOrd="0" presId="urn:microsoft.com/office/officeart/2009/3/layout/RandomtoResultProcess"/>
    <dgm:cxn modelId="{B2290BA5-F60D-405A-9358-F110FEBDD1A7}" type="presParOf" srcId="{601B062C-8260-4B36-B47F-781F520F396F}" destId="{AE5B6314-BCB9-4567-B4E7-87671E414B48}" srcOrd="1" destOrd="0" presId="urn:microsoft.com/office/officeart/2009/3/layout/RandomtoResultProcess"/>
    <dgm:cxn modelId="{F68DCAF7-77A6-4309-ABD3-0CF011F9B649}" type="presParOf" srcId="{E177934B-9ECA-42D7-9431-71B92806242D}" destId="{EA862AAD-786A-4AEE-AFA9-3DCF98A50D73}" srcOrd="2" destOrd="0" presId="urn:microsoft.com/office/officeart/2009/3/layout/RandomtoResultProcess"/>
    <dgm:cxn modelId="{9DECD20D-5FB4-4171-85EC-A93180441F57}" type="presParOf" srcId="{EA862AAD-786A-4AEE-AFA9-3DCF98A50D73}" destId="{E4F74285-1742-4886-9C3E-3996FDB31026}" srcOrd="0" destOrd="0" presId="urn:microsoft.com/office/officeart/2009/3/layout/RandomtoResultProcess"/>
    <dgm:cxn modelId="{E21AE6ED-7902-4815-9D3E-7A28D21A21C2}" type="presParOf" srcId="{EA862AAD-786A-4AEE-AFA9-3DCF98A50D73}" destId="{27E5A888-4058-4B96-9B26-85D576E6E500}" srcOrd="1" destOrd="0" presId="urn:microsoft.com/office/officeart/2009/3/layout/RandomtoResultProcess"/>
    <dgm:cxn modelId="{81C4B5C7-D68A-4C5E-8D9A-D2BC8B6B6C85}" type="presParOf" srcId="{EA862AAD-786A-4AEE-AFA9-3DCF98A50D73}" destId="{94EE1CBA-2C31-42DD-AD7C-F9034078E5F2}" srcOrd="2" destOrd="0" presId="urn:microsoft.com/office/officeart/2009/3/layout/RandomtoResultProcess"/>
    <dgm:cxn modelId="{EC4116DF-29CC-4819-AC69-8606842AEEB2}" type="presParOf" srcId="{E177934B-9ECA-42D7-9431-71B92806242D}" destId="{C749C209-159A-4090-84DF-C5B8B9E060F6}" srcOrd="3" destOrd="0" presId="urn:microsoft.com/office/officeart/2009/3/layout/RandomtoResultProcess"/>
    <dgm:cxn modelId="{7BCA1025-B88E-4B22-AED7-1579B0A3C118}" type="presParOf" srcId="{C749C209-159A-4090-84DF-C5B8B9E060F6}" destId="{B753B288-3C4E-479E-9230-152AC22EC3AC}" srcOrd="0" destOrd="0" presId="urn:microsoft.com/office/officeart/2009/3/layout/RandomtoResultProcess"/>
    <dgm:cxn modelId="{583E29B6-9FFF-4C04-98A4-7866D89C4BC5}" type="presParOf" srcId="{C749C209-159A-4090-84DF-C5B8B9E060F6}" destId="{D1D36B9A-242F-49CB-A4B2-0CD665F938F8}" srcOrd="1" destOrd="0" presId="urn:microsoft.com/office/officeart/2009/3/layout/RandomtoResultProcess"/>
    <dgm:cxn modelId="{DB1E5867-C3E4-42AE-A3CC-0CCB1040730D}" type="presParOf" srcId="{E177934B-9ECA-42D7-9431-71B92806242D}" destId="{6326FBC1-BA12-4092-A6E8-8867A03F6716}" srcOrd="4" destOrd="0" presId="urn:microsoft.com/office/officeart/2009/3/layout/RandomtoResultProcess"/>
    <dgm:cxn modelId="{E8DFADA8-5CBD-420D-ACC2-393A268109E6}" type="presParOf" srcId="{6326FBC1-BA12-4092-A6E8-8867A03F6716}" destId="{E85D7C98-B0F8-4A48-A00F-0E644F47305D}" srcOrd="0" destOrd="0" presId="urn:microsoft.com/office/officeart/2009/3/layout/RandomtoResultProcess"/>
    <dgm:cxn modelId="{64E67C27-4C63-44F1-BC4E-5410EC636EBA}" type="presParOf" srcId="{6326FBC1-BA12-4092-A6E8-8867A03F6716}" destId="{AF26AD25-DA61-4306-B2BB-12AA5A69A206}" srcOrd="1" destOrd="0" presId="urn:microsoft.com/office/officeart/2009/3/layout/RandomtoResultProcess"/>
    <dgm:cxn modelId="{EB142458-E1D6-480B-A34B-54FED134A58A}" type="presParOf" srcId="{6326FBC1-BA12-4092-A6E8-8867A03F6716}" destId="{BE4DFCD3-AEC4-4A0E-A43E-C40ED0C70307}" srcOrd="2" destOrd="0" presId="urn:microsoft.com/office/officeart/2009/3/layout/RandomtoResultProcess"/>
    <dgm:cxn modelId="{C560BD76-695E-4791-8B26-43AA92BE9A0F}" type="presParOf" srcId="{E177934B-9ECA-42D7-9431-71B92806242D}" destId="{DDEDE9A3-B213-4BAC-B2C4-9C915336FCD9}" srcOrd="5" destOrd="0" presId="urn:microsoft.com/office/officeart/2009/3/layout/RandomtoResultProcess"/>
    <dgm:cxn modelId="{27D4D85C-7A07-45AC-BCD7-F98841B6C5F6}" type="presParOf" srcId="{DDEDE9A3-B213-4BAC-B2C4-9C915336FCD9}" destId="{8840253F-294A-49F5-844F-6E3124439431}" srcOrd="0" destOrd="0" presId="urn:microsoft.com/office/officeart/2009/3/layout/RandomtoResultProcess"/>
    <dgm:cxn modelId="{A2219E35-8DC4-4EC8-8375-9D123AB9973E}" type="presParOf" srcId="{DDEDE9A3-B213-4BAC-B2C4-9C915336FCD9}" destId="{D9971F20-206A-454F-BE8F-EC0D72CCDF21}" srcOrd="1" destOrd="0" presId="urn:microsoft.com/office/officeart/2009/3/layout/RandomtoResultProcess"/>
    <dgm:cxn modelId="{82ECC124-65B8-43B7-AF8A-B3C10E579E33}" type="presParOf" srcId="{E177934B-9ECA-42D7-9431-71B92806242D}" destId="{F967E039-9D74-4625-AC90-8FF36ABB9465}" srcOrd="6" destOrd="0" presId="urn:microsoft.com/office/officeart/2009/3/layout/RandomtoResultProcess"/>
    <dgm:cxn modelId="{39661219-0327-4ED3-B813-084388DF8374}" type="presParOf" srcId="{F967E039-9D74-4625-AC90-8FF36ABB9465}" destId="{3ECD4F32-D675-405A-9620-D08A91DF4131}" srcOrd="0" destOrd="0" presId="urn:microsoft.com/office/officeart/2009/3/layout/RandomtoResultProcess"/>
    <dgm:cxn modelId="{2321100B-B95B-45EA-A63E-0B0FEC2B6A68}" type="presParOf" srcId="{F967E039-9D74-4625-AC90-8FF36ABB9465}" destId="{C29AC2D9-746F-4F8F-8CED-144B778D7FEB}" srcOrd="1" destOrd="0" presId="urn:microsoft.com/office/officeart/2009/3/layout/RandomtoResultProcess"/>
    <dgm:cxn modelId="{37821830-531A-407A-8B4E-9064D5C99ED1}" type="presParOf" srcId="{F967E039-9D74-4625-AC90-8FF36ABB9465}" destId="{167986FB-53E0-4252-8E0B-A9788CD9E104}" srcOrd="2" destOrd="0" presId="urn:microsoft.com/office/officeart/2009/3/layout/RandomtoResultProcess"/>
    <dgm:cxn modelId="{F86DF938-E714-4F71-AAD9-3BFF25B06910}" type="presParOf" srcId="{E177934B-9ECA-42D7-9431-71B92806242D}" destId="{F5491C56-0F79-4753-83A4-F7BA089A5DCD}" srcOrd="7" destOrd="0" presId="urn:microsoft.com/office/officeart/2009/3/layout/RandomtoResultProcess"/>
    <dgm:cxn modelId="{BC6C9583-4E1D-420D-A6BA-13B59D573D5B}" type="presParOf" srcId="{F5491C56-0F79-4753-83A4-F7BA089A5DCD}" destId="{0927ACE1-19A4-42E4-B98A-23373ECC3850}" srcOrd="0" destOrd="0" presId="urn:microsoft.com/office/officeart/2009/3/layout/RandomtoResultProcess"/>
    <dgm:cxn modelId="{A2B0BA09-088C-4EF0-BF08-AD2FA0E39414}" type="presParOf" srcId="{F5491C56-0F79-4753-83A4-F7BA089A5DCD}" destId="{65ABB30E-C87F-4DEE-A54A-D4325C7719B5}" srcOrd="1" destOrd="0" presId="urn:microsoft.com/office/officeart/2009/3/layout/RandomtoResultProcess"/>
    <dgm:cxn modelId="{BF8A5241-825B-4EF6-92D5-CE1B6F7BD1C3}" type="presParOf" srcId="{E177934B-9ECA-42D7-9431-71B92806242D}" destId="{8884D169-D9C1-4DA7-8E98-EADA8D0A8B7A}" srcOrd="8" destOrd="0" presId="urn:microsoft.com/office/officeart/2009/3/layout/RandomtoResultProcess"/>
    <dgm:cxn modelId="{9CA56EF5-036E-4DE5-A6AC-59F002D91F26}" type="presParOf" srcId="{8884D169-D9C1-4DA7-8E98-EADA8D0A8B7A}" destId="{7ACBDD4C-DF30-45E2-AB0F-A2BAAA9D3A18}" srcOrd="0" destOrd="0" presId="urn:microsoft.com/office/officeart/2009/3/layout/RandomtoResultProcess"/>
    <dgm:cxn modelId="{5CF516CE-95C3-4B52-9C4E-93CB1D07BFFE}" type="presParOf" srcId="{8884D169-D9C1-4DA7-8E98-EADA8D0A8B7A}" destId="{CAB326DA-4C4E-4B61-A0FD-309B53AF48A1}" srcOrd="1" destOrd="0" presId="urn:microsoft.com/office/officeart/2009/3/layout/RandomtoResultProcess"/>
    <dgm:cxn modelId="{C0D762C2-F16D-403C-9D58-875E9BA73FC1}" type="presParOf" srcId="{8884D169-D9C1-4DA7-8E98-EADA8D0A8B7A}" destId="{44F75DDA-4B09-43FE-941F-E58545F17A32}" srcOrd="2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F1ADBC-0A07-4BD8-BF57-270189EC2A76}">
      <dsp:nvSpPr>
        <dsp:cNvPr id="0" name=""/>
        <dsp:cNvSpPr/>
      </dsp:nvSpPr>
      <dsp:spPr>
        <a:xfrm>
          <a:off x="0" y="4870078"/>
          <a:ext cx="8365436" cy="5329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Georgia Pro" panose="02040502050405020303" pitchFamily="18" charset="0"/>
            </a:rPr>
            <a:t>Conclusions</a:t>
          </a:r>
        </a:p>
      </dsp:txBody>
      <dsp:txXfrm>
        <a:off x="0" y="4870078"/>
        <a:ext cx="8365436" cy="532930"/>
      </dsp:txXfrm>
    </dsp:sp>
    <dsp:sp modelId="{784C84E0-7F7A-4355-B3D7-E7D917D7179D}">
      <dsp:nvSpPr>
        <dsp:cNvPr id="0" name=""/>
        <dsp:cNvSpPr/>
      </dsp:nvSpPr>
      <dsp:spPr>
        <a:xfrm rot="10800000">
          <a:off x="0" y="4058425"/>
          <a:ext cx="8365436" cy="81964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Georgia Pro" panose="02040502050405020303" pitchFamily="18" charset="0"/>
            </a:rPr>
            <a:t>Clinical Heterogeneity – </a:t>
          </a:r>
          <a:r>
            <a:rPr lang="en-US" sz="2100" i="1" kern="1200">
              <a:solidFill>
                <a:srgbClr val="FF0000"/>
              </a:solidFill>
              <a:latin typeface="Georgia Pro" panose="02040502050405020303" pitchFamily="18" charset="0"/>
            </a:rPr>
            <a:t>One treatment does NOT fit all patients?</a:t>
          </a:r>
        </a:p>
      </dsp:txBody>
      <dsp:txXfrm rot="10800000">
        <a:off x="0" y="4058425"/>
        <a:ext cx="8365436" cy="532581"/>
      </dsp:txXfrm>
    </dsp:sp>
    <dsp:sp modelId="{73EC4FB5-1980-40F4-9554-00D6555CB546}">
      <dsp:nvSpPr>
        <dsp:cNvPr id="0" name=""/>
        <dsp:cNvSpPr/>
      </dsp:nvSpPr>
      <dsp:spPr>
        <a:xfrm rot="10800000">
          <a:off x="0" y="3246773"/>
          <a:ext cx="8365436" cy="81964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Georgia Pro" panose="02040502050405020303" pitchFamily="18" charset="0"/>
            </a:rPr>
            <a:t>Causal Models - </a:t>
          </a:r>
          <a:r>
            <a:rPr lang="en-US" sz="2100" i="1" kern="1200">
              <a:solidFill>
                <a:srgbClr val="FF0000"/>
              </a:solidFill>
              <a:latin typeface="Georgia Pro" panose="02040502050405020303" pitchFamily="18" charset="0"/>
            </a:rPr>
            <a:t>How We Compare Models</a:t>
          </a:r>
        </a:p>
      </dsp:txBody>
      <dsp:txXfrm rot="10800000">
        <a:off x="0" y="3246773"/>
        <a:ext cx="8365436" cy="532581"/>
      </dsp:txXfrm>
    </dsp:sp>
    <dsp:sp modelId="{CF4F9B24-D0E1-4CE3-ADDB-B78BF92D4302}">
      <dsp:nvSpPr>
        <dsp:cNvPr id="0" name=""/>
        <dsp:cNvSpPr/>
      </dsp:nvSpPr>
      <dsp:spPr>
        <a:xfrm rot="10800000">
          <a:off x="0" y="2435120"/>
          <a:ext cx="8365436" cy="81964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Georgia Pro" panose="02040502050405020303" pitchFamily="18" charset="0"/>
            </a:rPr>
            <a:t>Key method – </a:t>
          </a:r>
          <a:r>
            <a:rPr lang="en-US" sz="2100" i="1" kern="1200">
              <a:solidFill>
                <a:srgbClr val="FF0000"/>
              </a:solidFill>
              <a:latin typeface="Georgia Pro" panose="02040502050405020303" pitchFamily="18" charset="0"/>
            </a:rPr>
            <a:t>Why we can trust the pipeline</a:t>
          </a:r>
          <a:endParaRPr lang="en-US" sz="2100" kern="1200">
            <a:solidFill>
              <a:srgbClr val="FF0000"/>
            </a:solidFill>
            <a:latin typeface="Georgia Pro" panose="02040502050405020303" pitchFamily="18" charset="0"/>
          </a:endParaRPr>
        </a:p>
      </dsp:txBody>
      <dsp:txXfrm rot="10800000">
        <a:off x="0" y="2435120"/>
        <a:ext cx="8365436" cy="532581"/>
      </dsp:txXfrm>
    </dsp:sp>
    <dsp:sp modelId="{14B6AE94-02C2-4407-AFBC-BE475E8AD2D3}">
      <dsp:nvSpPr>
        <dsp:cNvPr id="0" name=""/>
        <dsp:cNvSpPr/>
      </dsp:nvSpPr>
      <dsp:spPr>
        <a:xfrm rot="10800000">
          <a:off x="0" y="1623468"/>
          <a:ext cx="8365436" cy="81964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Georgia Pro" panose="02040502050405020303" pitchFamily="18" charset="0"/>
            </a:rPr>
            <a:t>Data exploratory and Preprocessing- </a:t>
          </a:r>
          <a:r>
            <a:rPr lang="en-US" sz="2100" i="1" kern="1200">
              <a:solidFill>
                <a:srgbClr val="FF0000"/>
              </a:solidFill>
              <a:latin typeface="Georgia Pro" panose="02040502050405020303" pitchFamily="18" charset="0"/>
            </a:rPr>
            <a:t>EDA drives design</a:t>
          </a:r>
          <a:endParaRPr lang="en-US" sz="2100" kern="1200">
            <a:solidFill>
              <a:srgbClr val="FF0000"/>
            </a:solidFill>
            <a:latin typeface="Georgia Pro" panose="02040502050405020303" pitchFamily="18" charset="0"/>
          </a:endParaRPr>
        </a:p>
      </dsp:txBody>
      <dsp:txXfrm rot="10800000">
        <a:off x="0" y="1623468"/>
        <a:ext cx="8365436" cy="532581"/>
      </dsp:txXfrm>
    </dsp:sp>
    <dsp:sp modelId="{3B68B958-D8FA-4A90-9490-F14950707B4E}">
      <dsp:nvSpPr>
        <dsp:cNvPr id="0" name=""/>
        <dsp:cNvSpPr/>
      </dsp:nvSpPr>
      <dsp:spPr>
        <a:xfrm rot="10800000">
          <a:off x="0" y="811816"/>
          <a:ext cx="8365436" cy="81964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Georgia Pro" panose="02040502050405020303" pitchFamily="18" charset="0"/>
            </a:rPr>
            <a:t>Model Pipeline - </a:t>
          </a:r>
          <a:r>
            <a:rPr lang="en-US" sz="2100" i="1" kern="1200">
              <a:solidFill>
                <a:srgbClr val="FF0000"/>
              </a:solidFill>
              <a:latin typeface="Georgia Pro" panose="02040502050405020303" pitchFamily="18" charset="0"/>
            </a:rPr>
            <a:t>How We Find Answers?</a:t>
          </a:r>
        </a:p>
      </dsp:txBody>
      <dsp:txXfrm rot="10800000">
        <a:off x="0" y="811816"/>
        <a:ext cx="8365436" cy="532581"/>
      </dsp:txXfrm>
    </dsp:sp>
    <dsp:sp modelId="{CCB1CE9C-8863-4DEC-810E-241FD3920CAA}">
      <dsp:nvSpPr>
        <dsp:cNvPr id="0" name=""/>
        <dsp:cNvSpPr/>
      </dsp:nvSpPr>
      <dsp:spPr>
        <a:xfrm rot="10800000">
          <a:off x="0" y="163"/>
          <a:ext cx="8365436" cy="81964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Georgia Pro" panose="02040502050405020303" pitchFamily="18" charset="0"/>
            </a:rPr>
            <a:t>Research Question – </a:t>
          </a:r>
          <a:r>
            <a:rPr lang="en-US" sz="2100" i="1" kern="1200">
              <a:solidFill>
                <a:srgbClr val="FF0000"/>
              </a:solidFill>
              <a:latin typeface="Georgia Pro" panose="02040502050405020303" pitchFamily="18" charset="0"/>
            </a:rPr>
            <a:t>Why are we doing this?</a:t>
          </a:r>
          <a:endParaRPr lang="en-US" sz="2100" kern="1200">
            <a:solidFill>
              <a:srgbClr val="FF0000"/>
            </a:solidFill>
            <a:latin typeface="Georgia Pro" panose="02040502050405020303" pitchFamily="18" charset="0"/>
          </a:endParaRPr>
        </a:p>
      </dsp:txBody>
      <dsp:txXfrm rot="10800000">
        <a:off x="0" y="163"/>
        <a:ext cx="8365436" cy="5325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450E45-3018-40C2-95CE-2193AD4976E7}">
      <dsp:nvSpPr>
        <dsp:cNvPr id="0" name=""/>
        <dsp:cNvSpPr/>
      </dsp:nvSpPr>
      <dsp:spPr>
        <a:xfrm>
          <a:off x="124380" y="2149016"/>
          <a:ext cx="1792510" cy="5907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latin typeface="Georgia Pro" panose="02040502050405020303" pitchFamily="18" charset="0"/>
            </a:rPr>
            <a:t>Data Preparation and Feature Engineering</a:t>
          </a:r>
        </a:p>
      </dsp:txBody>
      <dsp:txXfrm>
        <a:off x="124380" y="2149016"/>
        <a:ext cx="1792510" cy="590713"/>
      </dsp:txXfrm>
    </dsp:sp>
    <dsp:sp modelId="{B77FC623-4D36-4994-BD5D-B03AEDF7FB8C}">
      <dsp:nvSpPr>
        <dsp:cNvPr id="0" name=""/>
        <dsp:cNvSpPr/>
      </dsp:nvSpPr>
      <dsp:spPr>
        <a:xfrm>
          <a:off x="124380" y="3394627"/>
          <a:ext cx="1792510" cy="1106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latin typeface="Georgia Pro" panose="02040502050405020303" pitchFamily="18" charset="0"/>
            </a:rPr>
            <a:t>Explore Data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latin typeface="Georgia Pro" panose="02040502050405020303" pitchFamily="18" charset="0"/>
            </a:rPr>
            <a:t>Missing handling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latin typeface="Georgia Pro" panose="02040502050405020303" pitchFamily="18" charset="0"/>
            </a:rPr>
            <a:t>BMI Computation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latin typeface="Georgia Pro" panose="02040502050405020303" pitchFamily="18" charset="0"/>
            </a:rPr>
            <a:t>Feature Selection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latin typeface="Georgia Pro" panose="02040502050405020303" pitchFamily="18" charset="0"/>
            </a:rPr>
            <a:t>Data Pre-processing</a:t>
          </a:r>
        </a:p>
      </dsp:txBody>
      <dsp:txXfrm>
        <a:off x="124380" y="3394627"/>
        <a:ext cx="1792510" cy="1106709"/>
      </dsp:txXfrm>
    </dsp:sp>
    <dsp:sp modelId="{7AE10DE3-BDE4-4DB5-9DDD-EF23D00A40DD}">
      <dsp:nvSpPr>
        <dsp:cNvPr id="0" name=""/>
        <dsp:cNvSpPr/>
      </dsp:nvSpPr>
      <dsp:spPr>
        <a:xfrm>
          <a:off x="122343" y="1969357"/>
          <a:ext cx="142586" cy="1425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6E220-BCA0-45C0-9B35-2908A1E24B07}">
      <dsp:nvSpPr>
        <dsp:cNvPr id="0" name=""/>
        <dsp:cNvSpPr/>
      </dsp:nvSpPr>
      <dsp:spPr>
        <a:xfrm>
          <a:off x="222153" y="1769737"/>
          <a:ext cx="142586" cy="1425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B1407-623E-47EE-83F8-09284FA809C9}">
      <dsp:nvSpPr>
        <dsp:cNvPr id="0" name=""/>
        <dsp:cNvSpPr/>
      </dsp:nvSpPr>
      <dsp:spPr>
        <a:xfrm>
          <a:off x="461697" y="1809661"/>
          <a:ext cx="224063" cy="2240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3E6439-2C07-45E0-B18E-FC992A56706F}">
      <dsp:nvSpPr>
        <dsp:cNvPr id="0" name=""/>
        <dsp:cNvSpPr/>
      </dsp:nvSpPr>
      <dsp:spPr>
        <a:xfrm>
          <a:off x="661318" y="1590078"/>
          <a:ext cx="142586" cy="1425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B10D87-9DB7-4338-8A99-AD6B708BA716}">
      <dsp:nvSpPr>
        <dsp:cNvPr id="0" name=""/>
        <dsp:cNvSpPr/>
      </dsp:nvSpPr>
      <dsp:spPr>
        <a:xfrm>
          <a:off x="920825" y="1510230"/>
          <a:ext cx="142586" cy="1425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F293E7-91FA-4F8C-9271-04BCA609FCC6}">
      <dsp:nvSpPr>
        <dsp:cNvPr id="0" name=""/>
        <dsp:cNvSpPr/>
      </dsp:nvSpPr>
      <dsp:spPr>
        <a:xfrm>
          <a:off x="1240217" y="1649964"/>
          <a:ext cx="142586" cy="1425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3B8F69-3453-4381-B8D5-6B3C44C02030}">
      <dsp:nvSpPr>
        <dsp:cNvPr id="0" name=""/>
        <dsp:cNvSpPr/>
      </dsp:nvSpPr>
      <dsp:spPr>
        <a:xfrm>
          <a:off x="1439838" y="1749774"/>
          <a:ext cx="224063" cy="2240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EB27AD-3CF0-4CB0-99BB-CCEE9B9FEA40}">
      <dsp:nvSpPr>
        <dsp:cNvPr id="0" name=""/>
        <dsp:cNvSpPr/>
      </dsp:nvSpPr>
      <dsp:spPr>
        <a:xfrm>
          <a:off x="1719307" y="1969357"/>
          <a:ext cx="142586" cy="1425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43BF27-BC49-4BB4-8F26-B583051A4B99}">
      <dsp:nvSpPr>
        <dsp:cNvPr id="0" name=""/>
        <dsp:cNvSpPr/>
      </dsp:nvSpPr>
      <dsp:spPr>
        <a:xfrm>
          <a:off x="1839079" y="2188940"/>
          <a:ext cx="142586" cy="1425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E6E87-0682-43C6-B3D8-ECA1DF35144B}">
      <dsp:nvSpPr>
        <dsp:cNvPr id="0" name=""/>
        <dsp:cNvSpPr/>
      </dsp:nvSpPr>
      <dsp:spPr>
        <a:xfrm>
          <a:off x="801052" y="1769737"/>
          <a:ext cx="366649" cy="3666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476134-872B-4081-ACBA-4064839B3FFE}">
      <dsp:nvSpPr>
        <dsp:cNvPr id="0" name=""/>
        <dsp:cNvSpPr/>
      </dsp:nvSpPr>
      <dsp:spPr>
        <a:xfrm>
          <a:off x="22532" y="2528294"/>
          <a:ext cx="142586" cy="1425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259710-11A3-4A2B-9088-92993A86A013}">
      <dsp:nvSpPr>
        <dsp:cNvPr id="0" name=""/>
        <dsp:cNvSpPr/>
      </dsp:nvSpPr>
      <dsp:spPr>
        <a:xfrm>
          <a:off x="142305" y="2707953"/>
          <a:ext cx="224063" cy="2240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F1F021-D229-47D9-A284-4D2EEC659940}">
      <dsp:nvSpPr>
        <dsp:cNvPr id="0" name=""/>
        <dsp:cNvSpPr/>
      </dsp:nvSpPr>
      <dsp:spPr>
        <a:xfrm>
          <a:off x="441735" y="2867649"/>
          <a:ext cx="325911" cy="3259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FE6901-0257-4D06-AAC0-1DD5990FAFFB}">
      <dsp:nvSpPr>
        <dsp:cNvPr id="0" name=""/>
        <dsp:cNvSpPr/>
      </dsp:nvSpPr>
      <dsp:spPr>
        <a:xfrm>
          <a:off x="860938" y="3127156"/>
          <a:ext cx="142586" cy="1425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6D01FA-4DDE-4ADD-A758-7F1F53EC430C}">
      <dsp:nvSpPr>
        <dsp:cNvPr id="0" name=""/>
        <dsp:cNvSpPr/>
      </dsp:nvSpPr>
      <dsp:spPr>
        <a:xfrm>
          <a:off x="940787" y="2867649"/>
          <a:ext cx="224063" cy="2240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3742DF-7B9E-4EAD-8856-50AE86400EA5}">
      <dsp:nvSpPr>
        <dsp:cNvPr id="0" name=""/>
        <dsp:cNvSpPr/>
      </dsp:nvSpPr>
      <dsp:spPr>
        <a:xfrm>
          <a:off x="1140407" y="3147118"/>
          <a:ext cx="142586" cy="1425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E86164-F504-4C44-B569-EFBD123E88D1}">
      <dsp:nvSpPr>
        <dsp:cNvPr id="0" name=""/>
        <dsp:cNvSpPr/>
      </dsp:nvSpPr>
      <dsp:spPr>
        <a:xfrm>
          <a:off x="1320066" y="2827725"/>
          <a:ext cx="325911" cy="3259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F3E72D-B006-42CE-8698-5C82A0FDCCF0}">
      <dsp:nvSpPr>
        <dsp:cNvPr id="0" name=""/>
        <dsp:cNvSpPr/>
      </dsp:nvSpPr>
      <dsp:spPr>
        <a:xfrm>
          <a:off x="1759231" y="2747877"/>
          <a:ext cx="224063" cy="2240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A6CC50-0B7C-4086-B538-D316D612EBDA}">
      <dsp:nvSpPr>
        <dsp:cNvPr id="0" name=""/>
        <dsp:cNvSpPr/>
      </dsp:nvSpPr>
      <dsp:spPr>
        <a:xfrm>
          <a:off x="1983295" y="1809329"/>
          <a:ext cx="658043" cy="1256277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F74285-1742-4886-9C3E-3996FDB31026}">
      <dsp:nvSpPr>
        <dsp:cNvPr id="0" name=""/>
        <dsp:cNvSpPr/>
      </dsp:nvSpPr>
      <dsp:spPr>
        <a:xfrm>
          <a:off x="2641338" y="1809939"/>
          <a:ext cx="1794664" cy="1256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latin typeface="Georgia Pro" panose="02040502050405020303" pitchFamily="18" charset="0"/>
            </a:rPr>
            <a:t>Propensity Score and Covariate Balance</a:t>
          </a:r>
        </a:p>
      </dsp:txBody>
      <dsp:txXfrm>
        <a:off x="2641338" y="1809939"/>
        <a:ext cx="1794664" cy="1256265"/>
      </dsp:txXfrm>
    </dsp:sp>
    <dsp:sp modelId="{27E5A888-4058-4B96-9B26-85D576E6E500}">
      <dsp:nvSpPr>
        <dsp:cNvPr id="0" name=""/>
        <dsp:cNvSpPr/>
      </dsp:nvSpPr>
      <dsp:spPr>
        <a:xfrm>
          <a:off x="2641338" y="3394627"/>
          <a:ext cx="1794664" cy="1106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latin typeface="Georgia Pro" panose="02040502050405020303" pitchFamily="18" charset="0"/>
            </a:rPr>
            <a:t>Propensity Estimation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latin typeface="Georgia Pro" panose="02040502050405020303" pitchFamily="18" charset="0"/>
            </a:rPr>
            <a:t>Covariate Balance Diagnostics</a:t>
          </a:r>
        </a:p>
      </dsp:txBody>
      <dsp:txXfrm>
        <a:off x="2641338" y="3394627"/>
        <a:ext cx="1794664" cy="1106709"/>
      </dsp:txXfrm>
    </dsp:sp>
    <dsp:sp modelId="{B753B288-3C4E-479E-9230-152AC22EC3AC}">
      <dsp:nvSpPr>
        <dsp:cNvPr id="0" name=""/>
        <dsp:cNvSpPr/>
      </dsp:nvSpPr>
      <dsp:spPr>
        <a:xfrm>
          <a:off x="4436003" y="1809329"/>
          <a:ext cx="658043" cy="1256277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5D7C98-B0F8-4A48-A00F-0E644F47305D}">
      <dsp:nvSpPr>
        <dsp:cNvPr id="0" name=""/>
        <dsp:cNvSpPr/>
      </dsp:nvSpPr>
      <dsp:spPr>
        <a:xfrm>
          <a:off x="5094046" y="1809939"/>
          <a:ext cx="1794664" cy="1256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latin typeface="Georgia Pro" panose="02040502050405020303" pitchFamily="18" charset="0"/>
            </a:rPr>
            <a:t>Causal Meta-Learner Implementations</a:t>
          </a:r>
        </a:p>
      </dsp:txBody>
      <dsp:txXfrm>
        <a:off x="5094046" y="1809939"/>
        <a:ext cx="1794664" cy="1256265"/>
      </dsp:txXfrm>
    </dsp:sp>
    <dsp:sp modelId="{AF26AD25-DA61-4306-B2BB-12AA5A69A206}">
      <dsp:nvSpPr>
        <dsp:cNvPr id="0" name=""/>
        <dsp:cNvSpPr/>
      </dsp:nvSpPr>
      <dsp:spPr>
        <a:xfrm>
          <a:off x="5094046" y="3394627"/>
          <a:ext cx="1794664" cy="1106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latin typeface="Georgia Pro" panose="02040502050405020303" pitchFamily="18" charset="0"/>
            </a:rPr>
            <a:t>S-Learner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latin typeface="Georgia Pro" panose="02040502050405020303" pitchFamily="18" charset="0"/>
            </a:rPr>
            <a:t>T-Learner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latin typeface="Georgia Pro" panose="02040502050405020303" pitchFamily="18" charset="0"/>
            </a:rPr>
            <a:t>X-Learner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latin typeface="Georgia Pro" panose="02040502050405020303" pitchFamily="18" charset="0"/>
            </a:rPr>
            <a:t>R-Learner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latin typeface="Georgia Pro" panose="02040502050405020303" pitchFamily="18" charset="0"/>
            </a:rPr>
            <a:t>MLP within a T-learner framework.</a:t>
          </a:r>
        </a:p>
      </dsp:txBody>
      <dsp:txXfrm>
        <a:off x="5094046" y="3394627"/>
        <a:ext cx="1794664" cy="1106709"/>
      </dsp:txXfrm>
    </dsp:sp>
    <dsp:sp modelId="{8840253F-294A-49F5-844F-6E3124439431}">
      <dsp:nvSpPr>
        <dsp:cNvPr id="0" name=""/>
        <dsp:cNvSpPr/>
      </dsp:nvSpPr>
      <dsp:spPr>
        <a:xfrm>
          <a:off x="6888711" y="1809329"/>
          <a:ext cx="658043" cy="1256277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CD4F32-D675-405A-9620-D08A91DF4131}">
      <dsp:nvSpPr>
        <dsp:cNvPr id="0" name=""/>
        <dsp:cNvSpPr/>
      </dsp:nvSpPr>
      <dsp:spPr>
        <a:xfrm>
          <a:off x="7546754" y="1809939"/>
          <a:ext cx="1794664" cy="1256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latin typeface="Georgia Pro" panose="02040502050405020303" pitchFamily="18" charset="0"/>
            </a:rPr>
            <a:t>Model Selection and Evaluation</a:t>
          </a:r>
        </a:p>
      </dsp:txBody>
      <dsp:txXfrm>
        <a:off x="7546754" y="1809939"/>
        <a:ext cx="1794664" cy="1256265"/>
      </dsp:txXfrm>
    </dsp:sp>
    <dsp:sp modelId="{C29AC2D9-746F-4F8F-8CED-144B778D7FEB}">
      <dsp:nvSpPr>
        <dsp:cNvPr id="0" name=""/>
        <dsp:cNvSpPr/>
      </dsp:nvSpPr>
      <dsp:spPr>
        <a:xfrm>
          <a:off x="7546754" y="3394627"/>
          <a:ext cx="1794664" cy="1106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latin typeface="Georgia Pro" panose="02040502050405020303" pitchFamily="18" charset="0"/>
            </a:rPr>
            <a:t>5-fold cross-validation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latin typeface="Georgia Pro" panose="02040502050405020303" pitchFamily="18" charset="0"/>
            </a:rPr>
            <a:t>Inverse Transformation TE5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latin typeface="Georgia Pro" panose="02040502050405020303" pitchFamily="18" charset="0"/>
            </a:rPr>
            <a:t>R-loss, MAE, RMSE</a:t>
          </a:r>
        </a:p>
      </dsp:txBody>
      <dsp:txXfrm>
        <a:off x="7546754" y="3394627"/>
        <a:ext cx="1794664" cy="1106709"/>
      </dsp:txXfrm>
    </dsp:sp>
    <dsp:sp modelId="{0927ACE1-19A4-42E4-B98A-23373ECC3850}">
      <dsp:nvSpPr>
        <dsp:cNvPr id="0" name=""/>
        <dsp:cNvSpPr/>
      </dsp:nvSpPr>
      <dsp:spPr>
        <a:xfrm>
          <a:off x="9341419" y="1809329"/>
          <a:ext cx="658043" cy="1256277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CBDD4C-DF30-45E2-AB0F-A2BAAA9D3A18}">
      <dsp:nvSpPr>
        <dsp:cNvPr id="0" name=""/>
        <dsp:cNvSpPr/>
      </dsp:nvSpPr>
      <dsp:spPr>
        <a:xfrm>
          <a:off x="10134062" y="1720206"/>
          <a:ext cx="1525464" cy="152546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latin typeface="Georgia Pro" panose="02040502050405020303" pitchFamily="18" charset="0"/>
            </a:rPr>
            <a:t>Clinical Heterogeneity and Final Outputs</a:t>
          </a:r>
        </a:p>
      </dsp:txBody>
      <dsp:txXfrm>
        <a:off x="10357461" y="1943605"/>
        <a:ext cx="1078666" cy="1078666"/>
      </dsp:txXfrm>
    </dsp:sp>
    <dsp:sp modelId="{CAB326DA-4C4E-4B61-A0FD-309B53AF48A1}">
      <dsp:nvSpPr>
        <dsp:cNvPr id="0" name=""/>
        <dsp:cNvSpPr/>
      </dsp:nvSpPr>
      <dsp:spPr>
        <a:xfrm>
          <a:off x="9999462" y="3394627"/>
          <a:ext cx="1794664" cy="1106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latin typeface="Georgia Pro" panose="02040502050405020303" pitchFamily="18" charset="0"/>
            </a:rPr>
            <a:t>Driver Analysis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latin typeface="Georgia Pro" panose="02040502050405020303" pitchFamily="18" charset="0"/>
            </a:rPr>
            <a:t>CDS-Ready Table</a:t>
          </a:r>
        </a:p>
      </dsp:txBody>
      <dsp:txXfrm>
        <a:off x="9999462" y="3394627"/>
        <a:ext cx="1794664" cy="11067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www.flaticon.com/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www.freepik.com/" TargetMode="External"/><Relationship Id="rId9" Type="http://schemas.openxmlformats.org/officeDocument/2006/relationships/image" Target="../media/image8.png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67867" y="3621151"/>
            <a:ext cx="5334000" cy="30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7400" y="246567"/>
            <a:ext cx="4349933" cy="337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551" y="-584015"/>
            <a:ext cx="3213100" cy="311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9214367" y="274833"/>
            <a:ext cx="5786600" cy="4148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1255733" y="3661934"/>
            <a:ext cx="2311667" cy="52632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271100" y="1937000"/>
            <a:ext cx="9650000" cy="24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53500" y="4355800"/>
            <a:ext cx="8085200" cy="5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946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1_Section 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888600" y="3213060"/>
            <a:ext cx="64148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390967" y="4221160"/>
            <a:ext cx="3410400" cy="8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4446400" y="1396497"/>
            <a:ext cx="3299200" cy="18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883291">
            <a:off x="-531471" y="2215192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085" y="218257"/>
            <a:ext cx="2454500" cy="2376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639246">
            <a:off x="1255734" y="3661933"/>
            <a:ext cx="2311668" cy="526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42301" y="4292402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38835" y="812956"/>
            <a:ext cx="3182432" cy="584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639246">
            <a:off x="8506234" y="-2467834"/>
            <a:ext cx="2311668" cy="5263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8937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950967" y="1583467"/>
            <a:ext cx="10290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9357867" y="-2359233"/>
            <a:ext cx="2311667" cy="5263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2857450" y="2259649"/>
            <a:ext cx="4717967" cy="270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40967" y="3628533"/>
            <a:ext cx="2221533" cy="2151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2928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1044467" y="4541101"/>
            <a:ext cx="4742000" cy="12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2"/>
          </p:nvPr>
        </p:nvSpPr>
        <p:spPr>
          <a:xfrm>
            <a:off x="6405497" y="4541101"/>
            <a:ext cx="4742000" cy="12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 idx="3"/>
          </p:nvPr>
        </p:nvSpPr>
        <p:spPr>
          <a:xfrm>
            <a:off x="1044664" y="3992567"/>
            <a:ext cx="4742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title" idx="4"/>
          </p:nvPr>
        </p:nvSpPr>
        <p:spPr>
          <a:xfrm>
            <a:off x="6405483" y="3992567"/>
            <a:ext cx="4742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5178500" y="4166400"/>
            <a:ext cx="2922800" cy="6654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650512">
            <a:off x="-789933" y="1975667"/>
            <a:ext cx="2307167" cy="2130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498519">
            <a:off x="-2064548" y="517434"/>
            <a:ext cx="4041711" cy="289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10300434" y="798000"/>
            <a:ext cx="2841533" cy="2204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2968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7597377">
            <a:off x="-1853032" y="1030391"/>
            <a:ext cx="3182432" cy="584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708700" y="-2328833"/>
            <a:ext cx="1928067" cy="4389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07867" y="-444233"/>
            <a:ext cx="2307167" cy="21306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989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>
  <p:cSld name="One column 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5630167" y="2071133"/>
            <a:ext cx="5395200" cy="8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5630167" y="2952176"/>
            <a:ext cx="5395200" cy="19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pic>
        <p:nvPicPr>
          <p:cNvPr id="50" name="Google Shape;5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883291">
            <a:off x="9332663" y="-257575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6001" y="5314251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5251" y="-224343"/>
            <a:ext cx="2454500" cy="2376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101" y="-1175144"/>
            <a:ext cx="3182432" cy="5841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1308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3346800" y="1905000"/>
            <a:ext cx="5498400" cy="30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pic>
        <p:nvPicPr>
          <p:cNvPr id="56" name="Google Shape;5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6455401" y="-2439044"/>
            <a:ext cx="3182432" cy="584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665181">
            <a:off x="4933" y="-828867"/>
            <a:ext cx="2565400" cy="62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639250">
            <a:off x="750795" y="1693397"/>
            <a:ext cx="2669944" cy="6079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940574">
            <a:off x="9528296" y="4301559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8916334" y="4676833"/>
            <a:ext cx="1857733" cy="1799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1936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3578200" y="2044436"/>
            <a:ext cx="50356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3578000" y="3138533"/>
            <a:ext cx="5036000" cy="19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905281">
            <a:off x="2447033" y="-3055267"/>
            <a:ext cx="2565400" cy="62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">
            <a:off x="825133" y="-1978133"/>
            <a:ext cx="5081267" cy="3643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3282886">
            <a:off x="1053671" y="3315294"/>
            <a:ext cx="2365660" cy="5386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9671300" y="4742091"/>
            <a:ext cx="3339133" cy="191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4511836">
            <a:off x="9806553" y="3211698"/>
            <a:ext cx="2263304" cy="21917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642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950967" y="3231433"/>
            <a:ext cx="3433200" cy="2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6979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>
  <p:cSld name="Big numb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2351633" y="2164833"/>
            <a:ext cx="7488800" cy="18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2351633" y="4153512"/>
            <a:ext cx="7488800" cy="6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1219170" lvl="1" indent="-440256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pic>
        <p:nvPicPr>
          <p:cNvPr id="74" name="Google Shape;7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6561834" y="-424367"/>
            <a:ext cx="1857733" cy="17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5701" y="3952201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30805">
            <a:off x="9884031" y="1520865"/>
            <a:ext cx="2096005" cy="5084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159600" y="4315402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>
            <a:off x="4325216" y="-609615"/>
            <a:ext cx="3163905" cy="24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400008">
            <a:off x="8875993" y="3099164"/>
            <a:ext cx="2669944" cy="6079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0162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1_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430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preserve="1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2" hasCustomPrompt="1"/>
          </p:nvPr>
        </p:nvSpPr>
        <p:spPr>
          <a:xfrm>
            <a:off x="1336433" y="1573407"/>
            <a:ext cx="2582000" cy="10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3"/>
          </p:nvPr>
        </p:nvSpPr>
        <p:spPr>
          <a:xfrm>
            <a:off x="950967" y="2434664"/>
            <a:ext cx="33532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950967" y="2909575"/>
            <a:ext cx="3353200" cy="8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4" hasCustomPrompt="1"/>
          </p:nvPr>
        </p:nvSpPr>
        <p:spPr>
          <a:xfrm>
            <a:off x="4804915" y="1573407"/>
            <a:ext cx="2582000" cy="10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5"/>
          </p:nvPr>
        </p:nvSpPr>
        <p:spPr>
          <a:xfrm>
            <a:off x="4419449" y="2434664"/>
            <a:ext cx="33532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6"/>
          </p:nvPr>
        </p:nvSpPr>
        <p:spPr>
          <a:xfrm>
            <a:off x="4419453" y="2909575"/>
            <a:ext cx="3353200" cy="8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7" hasCustomPrompt="1"/>
          </p:nvPr>
        </p:nvSpPr>
        <p:spPr>
          <a:xfrm>
            <a:off x="8273400" y="1573407"/>
            <a:ext cx="2582000" cy="10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8"/>
          </p:nvPr>
        </p:nvSpPr>
        <p:spPr>
          <a:xfrm>
            <a:off x="7887933" y="2434665"/>
            <a:ext cx="33532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9"/>
          </p:nvPr>
        </p:nvSpPr>
        <p:spPr>
          <a:xfrm>
            <a:off x="7887939" y="2909576"/>
            <a:ext cx="3353200" cy="8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13" hasCustomPrompt="1"/>
          </p:nvPr>
        </p:nvSpPr>
        <p:spPr>
          <a:xfrm>
            <a:off x="3070667" y="3948339"/>
            <a:ext cx="2582000" cy="10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4"/>
          </p:nvPr>
        </p:nvSpPr>
        <p:spPr>
          <a:xfrm>
            <a:off x="2685165" y="4815745"/>
            <a:ext cx="3353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5"/>
          </p:nvPr>
        </p:nvSpPr>
        <p:spPr>
          <a:xfrm>
            <a:off x="2685151" y="5290657"/>
            <a:ext cx="3353200" cy="8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16" hasCustomPrompt="1"/>
          </p:nvPr>
        </p:nvSpPr>
        <p:spPr>
          <a:xfrm>
            <a:off x="6539045" y="3948339"/>
            <a:ext cx="2582400" cy="10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17"/>
          </p:nvPr>
        </p:nvSpPr>
        <p:spPr>
          <a:xfrm>
            <a:off x="6153520" y="4815745"/>
            <a:ext cx="3353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8"/>
          </p:nvPr>
        </p:nvSpPr>
        <p:spPr>
          <a:xfrm>
            <a:off x="6153516" y="5290657"/>
            <a:ext cx="3353200" cy="8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98" name="Google Shape;98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95882" flipH="1">
            <a:off x="-210933" y="-946022"/>
            <a:ext cx="2096000" cy="5084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142567" y="4742369"/>
            <a:ext cx="1582867" cy="2050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99011">
            <a:off x="10966314" y="1068214"/>
            <a:ext cx="2519972" cy="5737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8840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 preserve="1">
  <p:cSld name="Table of contents 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730933" y="4897601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30805">
            <a:off x="9884031" y="1520865"/>
            <a:ext cx="2096005" cy="5084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-637033" y="5260802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-908318" y="-1266449"/>
            <a:ext cx="3163905" cy="24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title" idx="2" hasCustomPrompt="1"/>
          </p:nvPr>
        </p:nvSpPr>
        <p:spPr>
          <a:xfrm>
            <a:off x="2607853" y="1541600"/>
            <a:ext cx="3262800" cy="10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3"/>
          </p:nvPr>
        </p:nvSpPr>
        <p:spPr>
          <a:xfrm>
            <a:off x="2607853" y="2415573"/>
            <a:ext cx="32628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subTitle" idx="1"/>
          </p:nvPr>
        </p:nvSpPr>
        <p:spPr>
          <a:xfrm>
            <a:off x="2607853" y="2909567"/>
            <a:ext cx="3262800" cy="8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title" idx="4" hasCustomPrompt="1"/>
          </p:nvPr>
        </p:nvSpPr>
        <p:spPr>
          <a:xfrm>
            <a:off x="6321347" y="1541600"/>
            <a:ext cx="3262800" cy="10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111" name="Google Shape;111;p14"/>
          <p:cNvSpPr txBox="1">
            <a:spLocks noGrp="1"/>
          </p:cNvSpPr>
          <p:nvPr>
            <p:ph type="title" idx="5"/>
          </p:nvPr>
        </p:nvSpPr>
        <p:spPr>
          <a:xfrm>
            <a:off x="6321347" y="2415573"/>
            <a:ext cx="32628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subTitle" idx="6"/>
          </p:nvPr>
        </p:nvSpPr>
        <p:spPr>
          <a:xfrm>
            <a:off x="6321347" y="2909567"/>
            <a:ext cx="3262800" cy="8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title" idx="7" hasCustomPrompt="1"/>
          </p:nvPr>
        </p:nvSpPr>
        <p:spPr>
          <a:xfrm>
            <a:off x="2607853" y="3910333"/>
            <a:ext cx="3262800" cy="10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114" name="Google Shape;114;p14"/>
          <p:cNvSpPr txBox="1">
            <a:spLocks noGrp="1"/>
          </p:cNvSpPr>
          <p:nvPr>
            <p:ph type="title" idx="8"/>
          </p:nvPr>
        </p:nvSpPr>
        <p:spPr>
          <a:xfrm>
            <a:off x="2607853" y="4784308"/>
            <a:ext cx="32628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15" name="Google Shape;115;p14"/>
          <p:cNvSpPr txBox="1">
            <a:spLocks noGrp="1"/>
          </p:cNvSpPr>
          <p:nvPr>
            <p:ph type="subTitle" idx="9"/>
          </p:nvPr>
        </p:nvSpPr>
        <p:spPr>
          <a:xfrm>
            <a:off x="2607853" y="5278300"/>
            <a:ext cx="3262800" cy="8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4"/>
          <p:cNvSpPr txBox="1">
            <a:spLocks noGrp="1"/>
          </p:cNvSpPr>
          <p:nvPr>
            <p:ph type="title" idx="13" hasCustomPrompt="1"/>
          </p:nvPr>
        </p:nvSpPr>
        <p:spPr>
          <a:xfrm>
            <a:off x="6321347" y="3910333"/>
            <a:ext cx="3262800" cy="10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117" name="Google Shape;117;p14"/>
          <p:cNvSpPr txBox="1">
            <a:spLocks noGrp="1"/>
          </p:cNvSpPr>
          <p:nvPr>
            <p:ph type="title" idx="14"/>
          </p:nvPr>
        </p:nvSpPr>
        <p:spPr>
          <a:xfrm>
            <a:off x="6321347" y="4784307"/>
            <a:ext cx="32628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18" name="Google Shape;118;p14"/>
          <p:cNvSpPr txBox="1">
            <a:spLocks noGrp="1"/>
          </p:cNvSpPr>
          <p:nvPr>
            <p:ph type="subTitle" idx="15"/>
          </p:nvPr>
        </p:nvSpPr>
        <p:spPr>
          <a:xfrm>
            <a:off x="6321347" y="5278300"/>
            <a:ext cx="3262800" cy="8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797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 preserve="1">
  <p:cSld name="Title and text 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665181">
            <a:off x="4933" y="-828867"/>
            <a:ext cx="2565400" cy="62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639250">
            <a:off x="750795" y="1693397"/>
            <a:ext cx="2669944" cy="6079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2303801" y="-614199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2702500" y="-250999"/>
            <a:ext cx="2096000" cy="271553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>
            <a:spLocks noGrp="1"/>
          </p:cNvSpPr>
          <p:nvPr>
            <p:ph type="title"/>
          </p:nvPr>
        </p:nvSpPr>
        <p:spPr>
          <a:xfrm>
            <a:off x="6206100" y="1923953"/>
            <a:ext cx="50356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subTitle" idx="1"/>
          </p:nvPr>
        </p:nvSpPr>
        <p:spPr>
          <a:xfrm>
            <a:off x="6205900" y="3037672"/>
            <a:ext cx="5036000" cy="19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pic>
        <p:nvPicPr>
          <p:cNvPr id="126" name="Google Shape;126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7511709">
            <a:off x="1655800" y="5695607"/>
            <a:ext cx="3339133" cy="191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4511836">
            <a:off x="3361687" y="2742731"/>
            <a:ext cx="2263304" cy="2191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639250">
            <a:off x="2415528" y="-1140004"/>
            <a:ext cx="2669944" cy="6079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-926600" y="4737102"/>
            <a:ext cx="2096000" cy="2715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9000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preserve="1">
  <p:cSld name="Section header 1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>
            <a:spLocks noGrp="1"/>
          </p:cNvSpPr>
          <p:nvPr>
            <p:ph type="title"/>
          </p:nvPr>
        </p:nvSpPr>
        <p:spPr>
          <a:xfrm>
            <a:off x="2888600" y="2539960"/>
            <a:ext cx="64148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2" name="Google Shape;132;p16"/>
          <p:cNvSpPr txBox="1">
            <a:spLocks noGrp="1"/>
          </p:cNvSpPr>
          <p:nvPr>
            <p:ph type="subTitle" idx="1"/>
          </p:nvPr>
        </p:nvSpPr>
        <p:spPr>
          <a:xfrm>
            <a:off x="2888600" y="3548067"/>
            <a:ext cx="5655600" cy="8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33" name="Google Shape;133;p16"/>
          <p:cNvSpPr txBox="1">
            <a:spLocks noGrp="1"/>
          </p:cNvSpPr>
          <p:nvPr>
            <p:ph type="title" idx="2" hasCustomPrompt="1"/>
          </p:nvPr>
        </p:nvSpPr>
        <p:spPr>
          <a:xfrm>
            <a:off x="950967" y="2158500"/>
            <a:ext cx="1903600" cy="18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8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pic>
        <p:nvPicPr>
          <p:cNvPr id="134" name="Google Shape;134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883291">
            <a:off x="8451496" y="4372459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1718" y="1548890"/>
            <a:ext cx="2454500" cy="2376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639246">
            <a:off x="10552134" y="4081033"/>
            <a:ext cx="2311668" cy="526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8369067" y="851084"/>
            <a:ext cx="1857733" cy="17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597377">
            <a:off x="6167568" y="-3388943"/>
            <a:ext cx="3182432" cy="584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67871" y="1304198"/>
            <a:ext cx="3222433" cy="3120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3668799">
            <a:off x="1240439" y="-2525260"/>
            <a:ext cx="2848424" cy="69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156636">
            <a:off x="3879601" y="-2109994"/>
            <a:ext cx="2669944" cy="6079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643364" flipH="1">
            <a:off x="3937135" y="3438003"/>
            <a:ext cx="2669944" cy="60790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9306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 preserve="1">
  <p:cSld name="Section header 2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>
            <a:spLocks noGrp="1"/>
          </p:cNvSpPr>
          <p:nvPr>
            <p:ph type="title"/>
          </p:nvPr>
        </p:nvSpPr>
        <p:spPr>
          <a:xfrm>
            <a:off x="5636333" y="3334933"/>
            <a:ext cx="56048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45" name="Google Shape;145;p17"/>
          <p:cNvSpPr txBox="1">
            <a:spLocks noGrp="1"/>
          </p:cNvSpPr>
          <p:nvPr>
            <p:ph type="subTitle" idx="1"/>
          </p:nvPr>
        </p:nvSpPr>
        <p:spPr>
          <a:xfrm>
            <a:off x="5636333" y="4343035"/>
            <a:ext cx="5604800" cy="8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46" name="Google Shape;146;p17"/>
          <p:cNvSpPr txBox="1">
            <a:spLocks noGrp="1"/>
          </p:cNvSpPr>
          <p:nvPr>
            <p:ph type="title" idx="2" hasCustomPrompt="1"/>
          </p:nvPr>
        </p:nvSpPr>
        <p:spPr>
          <a:xfrm>
            <a:off x="6879933" y="1518367"/>
            <a:ext cx="3117600" cy="18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pic>
        <p:nvPicPr>
          <p:cNvPr id="147" name="Google Shape;14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10134819" flipH="1">
            <a:off x="4933" y="1762353"/>
            <a:ext cx="2565400" cy="62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9160750" flipH="1">
            <a:off x="750795" y="-615914"/>
            <a:ext cx="2669944" cy="6079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 flipH="1">
            <a:off x="2303801" y="5503987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2702500" y="4691954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3288291" flipH="1">
            <a:off x="1655800" y="-455160"/>
            <a:ext cx="3339133" cy="191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288164" flipH="1">
            <a:off x="3361687" y="2222015"/>
            <a:ext cx="2263304" cy="2191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9160750" flipH="1">
            <a:off x="2415528" y="2217486"/>
            <a:ext cx="2669944" cy="6079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-926600" y="-296147"/>
            <a:ext cx="2096000" cy="2715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420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preserve="1">
  <p:cSld name="Title and two columns 1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>
            <a:spLocks noGrp="1"/>
          </p:cNvSpPr>
          <p:nvPr>
            <p:ph type="title"/>
          </p:nvPr>
        </p:nvSpPr>
        <p:spPr>
          <a:xfrm>
            <a:off x="950967" y="2600203"/>
            <a:ext cx="3383600" cy="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57" name="Google Shape;157;p18"/>
          <p:cNvSpPr txBox="1">
            <a:spLocks noGrp="1"/>
          </p:cNvSpPr>
          <p:nvPr>
            <p:ph type="subTitle" idx="1"/>
          </p:nvPr>
        </p:nvSpPr>
        <p:spPr>
          <a:xfrm>
            <a:off x="950967" y="3064323"/>
            <a:ext cx="33836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8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8"/>
          <p:cNvSpPr txBox="1">
            <a:spLocks noGrp="1"/>
          </p:cNvSpPr>
          <p:nvPr>
            <p:ph type="title" idx="3"/>
          </p:nvPr>
        </p:nvSpPr>
        <p:spPr>
          <a:xfrm>
            <a:off x="7857435" y="3851367"/>
            <a:ext cx="3383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subTitle" idx="4"/>
          </p:nvPr>
        </p:nvSpPr>
        <p:spPr>
          <a:xfrm>
            <a:off x="7857433" y="4342701"/>
            <a:ext cx="33836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161" name="Google Shape;161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10312167" y="1308284"/>
            <a:ext cx="1857733" cy="17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2866" y="5005317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10077216" y="-630666"/>
            <a:ext cx="3163905" cy="24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597377">
            <a:off x="8110668" y="-2931743"/>
            <a:ext cx="3182432" cy="584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799990">
            <a:off x="-1313096" y="939094"/>
            <a:ext cx="2365659" cy="53862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34375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 preserve="1">
  <p:cSld name="Title and four columns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>
            <a:spLocks noGrp="1"/>
          </p:cNvSpPr>
          <p:nvPr>
            <p:ph type="title"/>
          </p:nvPr>
        </p:nvSpPr>
        <p:spPr>
          <a:xfrm>
            <a:off x="1318108" y="1662408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68" name="Google Shape;168;p19"/>
          <p:cNvSpPr txBox="1">
            <a:spLocks noGrp="1"/>
          </p:cNvSpPr>
          <p:nvPr>
            <p:ph type="subTitle" idx="1"/>
          </p:nvPr>
        </p:nvSpPr>
        <p:spPr>
          <a:xfrm>
            <a:off x="1318108" y="2138456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title" idx="3"/>
          </p:nvPr>
        </p:nvSpPr>
        <p:spPr>
          <a:xfrm>
            <a:off x="1318108" y="4164516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subTitle" idx="4"/>
          </p:nvPr>
        </p:nvSpPr>
        <p:spPr>
          <a:xfrm>
            <a:off x="1318108" y="4640563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title" idx="5"/>
          </p:nvPr>
        </p:nvSpPr>
        <p:spPr>
          <a:xfrm>
            <a:off x="4496808" y="1662425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subTitle" idx="6"/>
          </p:nvPr>
        </p:nvSpPr>
        <p:spPr>
          <a:xfrm>
            <a:off x="4496808" y="2138472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174" name="Google Shape;17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546976">
            <a:off x="-647256" y="-1598092"/>
            <a:ext cx="2395245" cy="5453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10386000" y="-413333"/>
            <a:ext cx="2096000" cy="271553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>
            <a:spLocks noGrp="1"/>
          </p:cNvSpPr>
          <p:nvPr>
            <p:ph type="title" idx="7"/>
          </p:nvPr>
        </p:nvSpPr>
        <p:spPr>
          <a:xfrm>
            <a:off x="4497859" y="4186016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77" name="Google Shape;177;p19"/>
          <p:cNvSpPr txBox="1">
            <a:spLocks noGrp="1"/>
          </p:cNvSpPr>
          <p:nvPr>
            <p:ph type="subTitle" idx="8"/>
          </p:nvPr>
        </p:nvSpPr>
        <p:spPr>
          <a:xfrm>
            <a:off x="4497859" y="4662063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178" name="Google Shape;178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180706">
            <a:off x="7180752" y="2807051"/>
            <a:ext cx="2746033" cy="66610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42776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 preserve="1">
  <p:cSld name="Title and two columns 2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>
            <a:spLocks noGrp="1"/>
          </p:cNvSpPr>
          <p:nvPr>
            <p:ph type="subTitle" idx="1"/>
          </p:nvPr>
        </p:nvSpPr>
        <p:spPr>
          <a:xfrm>
            <a:off x="970100" y="2752100"/>
            <a:ext cx="4934800" cy="27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81" name="Google Shape;181;p20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0"/>
          <p:cNvSpPr txBox="1">
            <a:spLocks noGrp="1"/>
          </p:cNvSpPr>
          <p:nvPr>
            <p:ph type="subTitle" idx="2"/>
          </p:nvPr>
        </p:nvSpPr>
        <p:spPr>
          <a:xfrm>
            <a:off x="6306333" y="2752100"/>
            <a:ext cx="4934800" cy="27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-931600" y="501667"/>
            <a:ext cx="2417133" cy="187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10791434" y="93900"/>
            <a:ext cx="1612567" cy="208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7">
            <a:off x="3853233" y="4369068"/>
            <a:ext cx="1695600" cy="4113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8">
            <a:off x="5956460" y="4059297"/>
            <a:ext cx="2669944" cy="6079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60544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 preserve="1">
  <p:cSld name="Title and text 1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>
            <a:spLocks noGrp="1"/>
          </p:cNvSpPr>
          <p:nvPr>
            <p:ph type="subTitle" idx="1"/>
          </p:nvPr>
        </p:nvSpPr>
        <p:spPr>
          <a:xfrm>
            <a:off x="1308500" y="2664944"/>
            <a:ext cx="5415600" cy="25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89" name="Google Shape;189;p2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90" name="Google Shape;19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546976">
            <a:off x="-647256" y="-1191692"/>
            <a:ext cx="2395245" cy="5453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10386000" y="-413333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2708467" y="4127267"/>
            <a:ext cx="2299200" cy="5577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5986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 preserve="1">
  <p:cSld name="Title and text 2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>
            <a:spLocks noGrp="1"/>
          </p:cNvSpPr>
          <p:nvPr>
            <p:ph type="subTitle" idx="1"/>
          </p:nvPr>
        </p:nvSpPr>
        <p:spPr>
          <a:xfrm>
            <a:off x="5372500" y="2664944"/>
            <a:ext cx="5415600" cy="25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95" name="Google Shape;195;p22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96" name="Google Shape;19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3546976" flipH="1">
            <a:off x="10463078" y="-1191692"/>
            <a:ext cx="2395245" cy="5453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-270933" y="-413333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7533467" y="4045933"/>
            <a:ext cx="2299200" cy="5577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93003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 preserve="1">
  <p:cSld name="Title and three columns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>
            <a:spLocks noGrp="1"/>
          </p:cNvSpPr>
          <p:nvPr>
            <p:ph type="title"/>
          </p:nvPr>
        </p:nvSpPr>
        <p:spPr>
          <a:xfrm>
            <a:off x="1212533" y="3151363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01" name="Google Shape;201;p23"/>
          <p:cNvSpPr txBox="1">
            <a:spLocks noGrp="1"/>
          </p:cNvSpPr>
          <p:nvPr>
            <p:ph type="subTitle" idx="1"/>
          </p:nvPr>
        </p:nvSpPr>
        <p:spPr>
          <a:xfrm>
            <a:off x="1212533" y="3627411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3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3"/>
          <p:cNvSpPr txBox="1">
            <a:spLocks noGrp="1"/>
          </p:cNvSpPr>
          <p:nvPr>
            <p:ph type="title" idx="3"/>
          </p:nvPr>
        </p:nvSpPr>
        <p:spPr>
          <a:xfrm>
            <a:off x="4649467" y="3151363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04" name="Google Shape;204;p23"/>
          <p:cNvSpPr txBox="1">
            <a:spLocks noGrp="1"/>
          </p:cNvSpPr>
          <p:nvPr>
            <p:ph type="subTitle" idx="4"/>
          </p:nvPr>
        </p:nvSpPr>
        <p:spPr>
          <a:xfrm>
            <a:off x="4649467" y="3627411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3"/>
          <p:cNvSpPr txBox="1">
            <a:spLocks noGrp="1"/>
          </p:cNvSpPr>
          <p:nvPr>
            <p:ph type="title" idx="5"/>
          </p:nvPr>
        </p:nvSpPr>
        <p:spPr>
          <a:xfrm>
            <a:off x="8086400" y="3151363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06" name="Google Shape;206;p23"/>
          <p:cNvSpPr txBox="1">
            <a:spLocks noGrp="1"/>
          </p:cNvSpPr>
          <p:nvPr>
            <p:ph type="subTitle" idx="6"/>
          </p:nvPr>
        </p:nvSpPr>
        <p:spPr>
          <a:xfrm>
            <a:off x="8086401" y="3627411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207" name="Google Shape;207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546976">
            <a:off x="-647256" y="-1191692"/>
            <a:ext cx="2395245" cy="5453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10386000" y="-413333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2708467" y="4127267"/>
            <a:ext cx="2299200" cy="5577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2675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 preserve="1">
  <p:cSld name="Title and two columns 3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931133" y="2978308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12" name="Google Shape;212;p24"/>
          <p:cNvSpPr txBox="1">
            <a:spLocks noGrp="1"/>
          </p:cNvSpPr>
          <p:nvPr>
            <p:ph type="subTitle" idx="1"/>
          </p:nvPr>
        </p:nvSpPr>
        <p:spPr>
          <a:xfrm>
            <a:off x="2931133" y="3454356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4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4"/>
          <p:cNvSpPr txBox="1">
            <a:spLocks noGrp="1"/>
          </p:cNvSpPr>
          <p:nvPr>
            <p:ph type="title" idx="3"/>
          </p:nvPr>
        </p:nvSpPr>
        <p:spPr>
          <a:xfrm>
            <a:off x="6368067" y="2978308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15" name="Google Shape;215;p24"/>
          <p:cNvSpPr txBox="1">
            <a:spLocks noGrp="1"/>
          </p:cNvSpPr>
          <p:nvPr>
            <p:ph type="subTitle" idx="4"/>
          </p:nvPr>
        </p:nvSpPr>
        <p:spPr>
          <a:xfrm>
            <a:off x="6368067" y="3454356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216" name="Google Shape;216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546976">
            <a:off x="-647256" y="-1191692"/>
            <a:ext cx="2395245" cy="5453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4487367" y="5992800"/>
            <a:ext cx="1857733" cy="17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23684" y="4178934"/>
            <a:ext cx="2212033" cy="204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8611223">
            <a:off x="3526133" y="5989167"/>
            <a:ext cx="3780200" cy="2710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8">
            <a:off x="10094727" y="-2320169"/>
            <a:ext cx="2669944" cy="607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-413283" y="4178934"/>
            <a:ext cx="2212033" cy="20428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71047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 preserve="1">
  <p:cSld name="Title and two columns 4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>
            <a:spLocks noGrp="1"/>
          </p:cNvSpPr>
          <p:nvPr>
            <p:ph type="title"/>
          </p:nvPr>
        </p:nvSpPr>
        <p:spPr>
          <a:xfrm>
            <a:off x="2931133" y="3557763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24" name="Google Shape;224;p25"/>
          <p:cNvSpPr txBox="1">
            <a:spLocks noGrp="1"/>
          </p:cNvSpPr>
          <p:nvPr>
            <p:ph type="subTitle" idx="1"/>
          </p:nvPr>
        </p:nvSpPr>
        <p:spPr>
          <a:xfrm>
            <a:off x="2931133" y="4033811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5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5"/>
          <p:cNvSpPr txBox="1">
            <a:spLocks noGrp="1"/>
          </p:cNvSpPr>
          <p:nvPr>
            <p:ph type="title" idx="3"/>
          </p:nvPr>
        </p:nvSpPr>
        <p:spPr>
          <a:xfrm>
            <a:off x="6368067" y="3557763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27" name="Google Shape;227;p25"/>
          <p:cNvSpPr txBox="1">
            <a:spLocks noGrp="1"/>
          </p:cNvSpPr>
          <p:nvPr>
            <p:ph type="subTitle" idx="4"/>
          </p:nvPr>
        </p:nvSpPr>
        <p:spPr>
          <a:xfrm>
            <a:off x="6368067" y="4033811"/>
            <a:ext cx="28928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228" name="Google Shape;228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546976">
            <a:off x="-647256" y="-1191692"/>
            <a:ext cx="2395245" cy="5453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4487367" y="5992800"/>
            <a:ext cx="1857733" cy="17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957601" y="4436434"/>
            <a:ext cx="2212033" cy="204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8611223">
            <a:off x="3526133" y="5989167"/>
            <a:ext cx="3780200" cy="2710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8">
            <a:off x="10094727" y="-2320169"/>
            <a:ext cx="2669944" cy="6079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55589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 preserve="1">
  <p:cSld name="Title only 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-931600" y="501667"/>
            <a:ext cx="2417133" cy="187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10791434" y="93900"/>
            <a:ext cx="1612567" cy="208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202858">
            <a:off x="5191533" y="4502371"/>
            <a:ext cx="1695600" cy="4113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4597155">
            <a:off x="7068653" y="4773804"/>
            <a:ext cx="2669944" cy="607900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6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36330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 preserve="1">
  <p:cSld name="Main point 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4734819">
            <a:off x="8046549" y="1448181"/>
            <a:ext cx="2565400" cy="62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760750">
            <a:off x="4917179" y="2930211"/>
            <a:ext cx="2669944" cy="6079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65483" y="5669747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 flipH="1">
            <a:off x="9457116" y="5664782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8688291">
            <a:off x="3288690" y="5639393"/>
            <a:ext cx="3339133" cy="191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9911836">
            <a:off x="6641629" y="6669515"/>
            <a:ext cx="2263304" cy="2191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760750">
            <a:off x="8377412" y="3983045"/>
            <a:ext cx="2669944" cy="6079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4469016" y="2982415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3900296">
            <a:off x="8493157" y="911792"/>
            <a:ext cx="3182432" cy="584184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7"/>
          <p:cNvSpPr txBox="1">
            <a:spLocks noGrp="1"/>
          </p:cNvSpPr>
          <p:nvPr>
            <p:ph type="title"/>
          </p:nvPr>
        </p:nvSpPr>
        <p:spPr>
          <a:xfrm flipH="1">
            <a:off x="1490000" y="1117600"/>
            <a:ext cx="9212000" cy="15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pic>
        <p:nvPicPr>
          <p:cNvPr id="250" name="Google Shape;25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4734819">
            <a:off x="-1148251" y="1448181"/>
            <a:ext cx="2565400" cy="62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683" y="5669747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 flipH="1">
            <a:off x="262316" y="5664782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760750">
            <a:off x="-1606405" y="2050211"/>
            <a:ext cx="2669944" cy="60790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24167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 preserve="1">
  <p:cSld name="Title and three columns 1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>
            <a:spLocks noGrp="1"/>
          </p:cNvSpPr>
          <p:nvPr>
            <p:ph type="title"/>
          </p:nvPr>
        </p:nvSpPr>
        <p:spPr>
          <a:xfrm>
            <a:off x="1212533" y="4272500"/>
            <a:ext cx="289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56" name="Google Shape;256;p28"/>
          <p:cNvSpPr txBox="1">
            <a:spLocks noGrp="1"/>
          </p:cNvSpPr>
          <p:nvPr>
            <p:ph type="subTitle" idx="1"/>
          </p:nvPr>
        </p:nvSpPr>
        <p:spPr>
          <a:xfrm>
            <a:off x="1212533" y="4763845"/>
            <a:ext cx="28928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8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28"/>
          <p:cNvSpPr txBox="1">
            <a:spLocks noGrp="1"/>
          </p:cNvSpPr>
          <p:nvPr>
            <p:ph type="title" idx="3"/>
          </p:nvPr>
        </p:nvSpPr>
        <p:spPr>
          <a:xfrm>
            <a:off x="4649468" y="4272500"/>
            <a:ext cx="289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59" name="Google Shape;259;p28"/>
          <p:cNvSpPr txBox="1">
            <a:spLocks noGrp="1"/>
          </p:cNvSpPr>
          <p:nvPr>
            <p:ph type="subTitle" idx="4"/>
          </p:nvPr>
        </p:nvSpPr>
        <p:spPr>
          <a:xfrm>
            <a:off x="4649467" y="4763845"/>
            <a:ext cx="28928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8"/>
          <p:cNvSpPr txBox="1">
            <a:spLocks noGrp="1"/>
          </p:cNvSpPr>
          <p:nvPr>
            <p:ph type="title" idx="5"/>
          </p:nvPr>
        </p:nvSpPr>
        <p:spPr>
          <a:xfrm>
            <a:off x="8086403" y="4272500"/>
            <a:ext cx="289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61" name="Google Shape;261;p28"/>
          <p:cNvSpPr txBox="1">
            <a:spLocks noGrp="1"/>
          </p:cNvSpPr>
          <p:nvPr>
            <p:ph type="subTitle" idx="6"/>
          </p:nvPr>
        </p:nvSpPr>
        <p:spPr>
          <a:xfrm>
            <a:off x="8086400" y="4763845"/>
            <a:ext cx="28928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262" name="Google Shape;262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4487367" y="5992800"/>
            <a:ext cx="1857733" cy="17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957601" y="4436434"/>
            <a:ext cx="2212033" cy="204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9355986">
            <a:off x="-309423" y="415267"/>
            <a:ext cx="1771712" cy="429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8611223">
            <a:off x="3526133" y="5989167"/>
            <a:ext cx="3780200" cy="2710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0008">
            <a:off x="10094727" y="-2320169"/>
            <a:ext cx="2669944" cy="6079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79229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 preserve="1">
  <p:cSld name="Title and three columns 2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"/>
          <p:cNvSpPr txBox="1">
            <a:spLocks noGrp="1"/>
          </p:cNvSpPr>
          <p:nvPr>
            <p:ph type="title"/>
          </p:nvPr>
        </p:nvSpPr>
        <p:spPr>
          <a:xfrm>
            <a:off x="2648867" y="1760733"/>
            <a:ext cx="366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69" name="Google Shape;269;p29"/>
          <p:cNvSpPr txBox="1">
            <a:spLocks noGrp="1"/>
          </p:cNvSpPr>
          <p:nvPr>
            <p:ph type="subTitle" idx="1"/>
          </p:nvPr>
        </p:nvSpPr>
        <p:spPr>
          <a:xfrm>
            <a:off x="2648867" y="2249453"/>
            <a:ext cx="36652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9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9"/>
          <p:cNvSpPr txBox="1">
            <a:spLocks noGrp="1"/>
          </p:cNvSpPr>
          <p:nvPr>
            <p:ph type="title" idx="3"/>
          </p:nvPr>
        </p:nvSpPr>
        <p:spPr>
          <a:xfrm>
            <a:off x="2648868" y="3213473"/>
            <a:ext cx="366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72" name="Google Shape;272;p29"/>
          <p:cNvSpPr txBox="1">
            <a:spLocks noGrp="1"/>
          </p:cNvSpPr>
          <p:nvPr>
            <p:ph type="subTitle" idx="4"/>
          </p:nvPr>
        </p:nvSpPr>
        <p:spPr>
          <a:xfrm>
            <a:off x="2648867" y="3690648"/>
            <a:ext cx="36652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9"/>
          <p:cNvSpPr txBox="1">
            <a:spLocks noGrp="1"/>
          </p:cNvSpPr>
          <p:nvPr>
            <p:ph type="title" idx="5"/>
          </p:nvPr>
        </p:nvSpPr>
        <p:spPr>
          <a:xfrm>
            <a:off x="2648869" y="4677727"/>
            <a:ext cx="366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74" name="Google Shape;274;p29"/>
          <p:cNvSpPr txBox="1">
            <a:spLocks noGrp="1"/>
          </p:cNvSpPr>
          <p:nvPr>
            <p:ph type="subTitle" idx="6"/>
          </p:nvPr>
        </p:nvSpPr>
        <p:spPr>
          <a:xfrm>
            <a:off x="2648867" y="5160685"/>
            <a:ext cx="36652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275" name="Google Shape;275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3282886">
            <a:off x="11478905" y="3648427"/>
            <a:ext cx="2365660" cy="5386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10396267" y="392157"/>
            <a:ext cx="3339133" cy="191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4500000">
            <a:off x="-2093915" y="2274201"/>
            <a:ext cx="4041712" cy="28978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3953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 preserve="1">
  <p:cSld name="Title and four columns 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 txBox="1">
            <a:spLocks noGrp="1"/>
          </p:cNvSpPr>
          <p:nvPr>
            <p:ph type="title"/>
          </p:nvPr>
        </p:nvSpPr>
        <p:spPr>
          <a:xfrm>
            <a:off x="1009433" y="1742528"/>
            <a:ext cx="28928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80" name="Google Shape;280;p30"/>
          <p:cNvSpPr txBox="1">
            <a:spLocks noGrp="1"/>
          </p:cNvSpPr>
          <p:nvPr>
            <p:ph type="subTitle" idx="1"/>
          </p:nvPr>
        </p:nvSpPr>
        <p:spPr>
          <a:xfrm>
            <a:off x="1009433" y="2274701"/>
            <a:ext cx="2892800" cy="11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30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30"/>
          <p:cNvSpPr txBox="1">
            <a:spLocks noGrp="1"/>
          </p:cNvSpPr>
          <p:nvPr>
            <p:ph type="title" idx="3"/>
          </p:nvPr>
        </p:nvSpPr>
        <p:spPr>
          <a:xfrm>
            <a:off x="1009433" y="4406352"/>
            <a:ext cx="28928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83" name="Google Shape;283;p30"/>
          <p:cNvSpPr txBox="1">
            <a:spLocks noGrp="1"/>
          </p:cNvSpPr>
          <p:nvPr>
            <p:ph type="subTitle" idx="4"/>
          </p:nvPr>
        </p:nvSpPr>
        <p:spPr>
          <a:xfrm>
            <a:off x="1009433" y="4938537"/>
            <a:ext cx="2892800" cy="11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30"/>
          <p:cNvSpPr txBox="1">
            <a:spLocks noGrp="1"/>
          </p:cNvSpPr>
          <p:nvPr>
            <p:ph type="title" idx="5"/>
          </p:nvPr>
        </p:nvSpPr>
        <p:spPr>
          <a:xfrm>
            <a:off x="8289700" y="1742528"/>
            <a:ext cx="28928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85" name="Google Shape;285;p30"/>
          <p:cNvSpPr txBox="1">
            <a:spLocks noGrp="1"/>
          </p:cNvSpPr>
          <p:nvPr>
            <p:ph type="subTitle" idx="6"/>
          </p:nvPr>
        </p:nvSpPr>
        <p:spPr>
          <a:xfrm>
            <a:off x="8289700" y="2274701"/>
            <a:ext cx="2892800" cy="11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30"/>
          <p:cNvSpPr txBox="1">
            <a:spLocks noGrp="1"/>
          </p:cNvSpPr>
          <p:nvPr>
            <p:ph type="title" idx="7"/>
          </p:nvPr>
        </p:nvSpPr>
        <p:spPr>
          <a:xfrm>
            <a:off x="8289700" y="4406352"/>
            <a:ext cx="28928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87" name="Google Shape;287;p30"/>
          <p:cNvSpPr txBox="1">
            <a:spLocks noGrp="1"/>
          </p:cNvSpPr>
          <p:nvPr>
            <p:ph type="subTitle" idx="8"/>
          </p:nvPr>
        </p:nvSpPr>
        <p:spPr>
          <a:xfrm>
            <a:off x="8289700" y="4938537"/>
            <a:ext cx="2892800" cy="11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288" name="Google Shape;288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 flipH="1">
            <a:off x="-436034" y="-132155"/>
            <a:ext cx="1572667" cy="2037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3">
            <a:off x="10864611" y="3411875"/>
            <a:ext cx="2395245" cy="5453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873762" flipH="1">
            <a:off x="-1016477" y="5521697"/>
            <a:ext cx="3079964" cy="1767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873762" flipH="1">
            <a:off x="10522257" y="-451903"/>
            <a:ext cx="3079964" cy="17672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10987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 preserve="1">
  <p:cSld name="Title and four columns 2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1"/>
          <p:cNvSpPr txBox="1">
            <a:spLocks noGrp="1"/>
          </p:cNvSpPr>
          <p:nvPr>
            <p:ph type="title"/>
          </p:nvPr>
        </p:nvSpPr>
        <p:spPr>
          <a:xfrm>
            <a:off x="2165933" y="2172196"/>
            <a:ext cx="3592000" cy="5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94" name="Google Shape;294;p31"/>
          <p:cNvSpPr txBox="1">
            <a:spLocks noGrp="1"/>
          </p:cNvSpPr>
          <p:nvPr>
            <p:ph type="subTitle" idx="1"/>
          </p:nvPr>
        </p:nvSpPr>
        <p:spPr>
          <a:xfrm>
            <a:off x="2165933" y="2653549"/>
            <a:ext cx="35920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1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31"/>
          <p:cNvSpPr txBox="1">
            <a:spLocks noGrp="1"/>
          </p:cNvSpPr>
          <p:nvPr>
            <p:ph type="title" idx="3"/>
          </p:nvPr>
        </p:nvSpPr>
        <p:spPr>
          <a:xfrm>
            <a:off x="6433861" y="2172196"/>
            <a:ext cx="3592000" cy="5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97" name="Google Shape;297;p31"/>
          <p:cNvSpPr txBox="1">
            <a:spLocks noGrp="1"/>
          </p:cNvSpPr>
          <p:nvPr>
            <p:ph type="subTitle" idx="4"/>
          </p:nvPr>
        </p:nvSpPr>
        <p:spPr>
          <a:xfrm>
            <a:off x="6433852" y="2653549"/>
            <a:ext cx="35920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31"/>
          <p:cNvSpPr txBox="1">
            <a:spLocks noGrp="1"/>
          </p:cNvSpPr>
          <p:nvPr>
            <p:ph type="title" idx="5"/>
          </p:nvPr>
        </p:nvSpPr>
        <p:spPr>
          <a:xfrm>
            <a:off x="2165933" y="3997563"/>
            <a:ext cx="3592000" cy="5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99" name="Google Shape;299;p31"/>
          <p:cNvSpPr txBox="1">
            <a:spLocks noGrp="1"/>
          </p:cNvSpPr>
          <p:nvPr>
            <p:ph type="subTitle" idx="6"/>
          </p:nvPr>
        </p:nvSpPr>
        <p:spPr>
          <a:xfrm>
            <a:off x="2165933" y="4485844"/>
            <a:ext cx="35920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31"/>
          <p:cNvSpPr txBox="1">
            <a:spLocks noGrp="1"/>
          </p:cNvSpPr>
          <p:nvPr>
            <p:ph type="title" idx="7"/>
          </p:nvPr>
        </p:nvSpPr>
        <p:spPr>
          <a:xfrm>
            <a:off x="6433861" y="3997563"/>
            <a:ext cx="3592000" cy="5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1" name="Google Shape;301;p31"/>
          <p:cNvSpPr txBox="1">
            <a:spLocks noGrp="1"/>
          </p:cNvSpPr>
          <p:nvPr>
            <p:ph type="subTitle" idx="8"/>
          </p:nvPr>
        </p:nvSpPr>
        <p:spPr>
          <a:xfrm>
            <a:off x="6433852" y="4485844"/>
            <a:ext cx="3592000" cy="11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302" name="Google Shape;302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7138799">
            <a:off x="10274627" y="-1551988"/>
            <a:ext cx="1932816" cy="4400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822033" y="513700"/>
            <a:ext cx="1857733" cy="17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6896233" y="4978800"/>
            <a:ext cx="1754200" cy="4255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20422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 preserve="1">
  <p:cSld name="Title and five columns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2"/>
          <p:cNvSpPr txBox="1">
            <a:spLocks noGrp="1"/>
          </p:cNvSpPr>
          <p:nvPr>
            <p:ph type="title"/>
          </p:nvPr>
        </p:nvSpPr>
        <p:spPr>
          <a:xfrm>
            <a:off x="1212667" y="2033763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7" name="Google Shape;307;p32"/>
          <p:cNvSpPr txBox="1">
            <a:spLocks noGrp="1"/>
          </p:cNvSpPr>
          <p:nvPr>
            <p:ph type="subTitle" idx="1"/>
          </p:nvPr>
        </p:nvSpPr>
        <p:spPr>
          <a:xfrm>
            <a:off x="1212667" y="2532893"/>
            <a:ext cx="2892800" cy="9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32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32"/>
          <p:cNvSpPr txBox="1">
            <a:spLocks noGrp="1"/>
          </p:cNvSpPr>
          <p:nvPr>
            <p:ph type="title" idx="3"/>
          </p:nvPr>
        </p:nvSpPr>
        <p:spPr>
          <a:xfrm>
            <a:off x="4649600" y="2033767"/>
            <a:ext cx="2892800" cy="5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10" name="Google Shape;310;p32"/>
          <p:cNvSpPr txBox="1">
            <a:spLocks noGrp="1"/>
          </p:cNvSpPr>
          <p:nvPr>
            <p:ph type="subTitle" idx="4"/>
          </p:nvPr>
        </p:nvSpPr>
        <p:spPr>
          <a:xfrm>
            <a:off x="4649600" y="2527900"/>
            <a:ext cx="2892800" cy="9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2"/>
          <p:cNvSpPr txBox="1">
            <a:spLocks noGrp="1"/>
          </p:cNvSpPr>
          <p:nvPr>
            <p:ph type="title" idx="5"/>
          </p:nvPr>
        </p:nvSpPr>
        <p:spPr>
          <a:xfrm>
            <a:off x="8086533" y="2033767"/>
            <a:ext cx="2892800" cy="5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12" name="Google Shape;312;p32"/>
          <p:cNvSpPr txBox="1">
            <a:spLocks noGrp="1"/>
          </p:cNvSpPr>
          <p:nvPr>
            <p:ph type="subTitle" idx="6"/>
          </p:nvPr>
        </p:nvSpPr>
        <p:spPr>
          <a:xfrm>
            <a:off x="8086533" y="2527900"/>
            <a:ext cx="2892800" cy="9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32"/>
          <p:cNvSpPr txBox="1">
            <a:spLocks noGrp="1"/>
          </p:cNvSpPr>
          <p:nvPr>
            <p:ph type="title" idx="7"/>
          </p:nvPr>
        </p:nvSpPr>
        <p:spPr>
          <a:xfrm>
            <a:off x="2931267" y="4031129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14" name="Google Shape;314;p32"/>
          <p:cNvSpPr txBox="1">
            <a:spLocks noGrp="1"/>
          </p:cNvSpPr>
          <p:nvPr>
            <p:ph type="subTitle" idx="8"/>
          </p:nvPr>
        </p:nvSpPr>
        <p:spPr>
          <a:xfrm>
            <a:off x="2931267" y="4530260"/>
            <a:ext cx="2892800" cy="9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32"/>
          <p:cNvSpPr txBox="1">
            <a:spLocks noGrp="1"/>
          </p:cNvSpPr>
          <p:nvPr>
            <p:ph type="title" idx="9"/>
          </p:nvPr>
        </p:nvSpPr>
        <p:spPr>
          <a:xfrm>
            <a:off x="6368200" y="4031129"/>
            <a:ext cx="2892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16" name="Google Shape;316;p32"/>
          <p:cNvSpPr txBox="1">
            <a:spLocks noGrp="1"/>
          </p:cNvSpPr>
          <p:nvPr>
            <p:ph type="subTitle" idx="13"/>
          </p:nvPr>
        </p:nvSpPr>
        <p:spPr>
          <a:xfrm>
            <a:off x="6368201" y="4530260"/>
            <a:ext cx="2892800" cy="9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317" name="Google Shape;31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6199968">
            <a:off x="-312033" y="4949597"/>
            <a:ext cx="2478368" cy="2400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7811237">
            <a:off x="-1733472" y="4928502"/>
            <a:ext cx="5043111" cy="3615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6199968" flipH="1">
            <a:off x="10045115" y="4949597"/>
            <a:ext cx="2478368" cy="2400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7811237" flipH="1">
            <a:off x="8901813" y="4928502"/>
            <a:ext cx="5043111" cy="3615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 flipH="1">
            <a:off x="10386000" y="-413333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8859426">
            <a:off x="-662683" y="-461481"/>
            <a:ext cx="3425472" cy="19655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21015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 preserve="1">
  <p:cSld name="Caption 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"/>
          <p:cNvSpPr txBox="1">
            <a:spLocks noGrp="1"/>
          </p:cNvSpPr>
          <p:nvPr>
            <p:ph type="title"/>
          </p:nvPr>
        </p:nvSpPr>
        <p:spPr>
          <a:xfrm>
            <a:off x="6645633" y="1024133"/>
            <a:ext cx="4595200" cy="15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10505536" flipH="1">
            <a:off x="8885310" y="2154343"/>
            <a:ext cx="3079964" cy="1767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231359" flipH="1">
            <a:off x="6390680" y="2672210"/>
            <a:ext cx="2206923" cy="2137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3830222" flipH="1">
            <a:off x="7551465" y="1427997"/>
            <a:ext cx="2311667" cy="52632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1378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 preserve="1">
  <p:cSld name="Title and three columns 3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>
            <a:spLocks noGrp="1"/>
          </p:cNvSpPr>
          <p:nvPr>
            <p:ph type="title"/>
          </p:nvPr>
        </p:nvSpPr>
        <p:spPr>
          <a:xfrm>
            <a:off x="1212667" y="3764500"/>
            <a:ext cx="28928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30" name="Google Shape;330;p34"/>
          <p:cNvSpPr txBox="1">
            <a:spLocks noGrp="1"/>
          </p:cNvSpPr>
          <p:nvPr>
            <p:ph type="subTitle" idx="1"/>
          </p:nvPr>
        </p:nvSpPr>
        <p:spPr>
          <a:xfrm>
            <a:off x="1212667" y="4296667"/>
            <a:ext cx="28928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34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34"/>
          <p:cNvSpPr txBox="1">
            <a:spLocks noGrp="1"/>
          </p:cNvSpPr>
          <p:nvPr>
            <p:ph type="title" idx="3"/>
          </p:nvPr>
        </p:nvSpPr>
        <p:spPr>
          <a:xfrm>
            <a:off x="4649600" y="3764500"/>
            <a:ext cx="28928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33" name="Google Shape;333;p34"/>
          <p:cNvSpPr txBox="1">
            <a:spLocks noGrp="1"/>
          </p:cNvSpPr>
          <p:nvPr>
            <p:ph type="subTitle" idx="4"/>
          </p:nvPr>
        </p:nvSpPr>
        <p:spPr>
          <a:xfrm>
            <a:off x="4649600" y="4296667"/>
            <a:ext cx="28928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34"/>
          <p:cNvSpPr txBox="1">
            <a:spLocks noGrp="1"/>
          </p:cNvSpPr>
          <p:nvPr>
            <p:ph type="title" idx="5"/>
          </p:nvPr>
        </p:nvSpPr>
        <p:spPr>
          <a:xfrm>
            <a:off x="8086533" y="3764500"/>
            <a:ext cx="28928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35" name="Google Shape;335;p34"/>
          <p:cNvSpPr txBox="1">
            <a:spLocks noGrp="1"/>
          </p:cNvSpPr>
          <p:nvPr>
            <p:ph type="subTitle" idx="6"/>
          </p:nvPr>
        </p:nvSpPr>
        <p:spPr>
          <a:xfrm>
            <a:off x="8086533" y="4296667"/>
            <a:ext cx="28928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336" name="Google Shape;336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4487367" y="5992800"/>
            <a:ext cx="1857733" cy="17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-1193327" y="4436434"/>
            <a:ext cx="2212033" cy="204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9355986" flipH="1">
            <a:off x="10514016" y="415267"/>
            <a:ext cx="1771712" cy="429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8">
            <a:off x="-2651507" y="-3313069"/>
            <a:ext cx="2669944" cy="6079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39964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 preserve="1">
  <p:cSld name="Big number 1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883291">
            <a:off x="9265629" y="3601592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60118" y="1098623"/>
            <a:ext cx="2454500" cy="2376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639246">
            <a:off x="10958534" y="4081033"/>
            <a:ext cx="2311668" cy="526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449383" y="4137977"/>
            <a:ext cx="2596567" cy="2514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7800871" y="-1087866"/>
            <a:ext cx="3903565" cy="302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7597377">
            <a:off x="7156452" y="1906507"/>
            <a:ext cx="3182432" cy="5841843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5"/>
          <p:cNvSpPr txBox="1">
            <a:spLocks noGrp="1"/>
          </p:cNvSpPr>
          <p:nvPr>
            <p:ph type="title" hasCustomPrompt="1"/>
          </p:nvPr>
        </p:nvSpPr>
        <p:spPr>
          <a:xfrm>
            <a:off x="950967" y="2108267"/>
            <a:ext cx="5916000" cy="18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8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348" name="Google Shape;348;p35"/>
          <p:cNvSpPr txBox="1">
            <a:spLocks noGrp="1"/>
          </p:cNvSpPr>
          <p:nvPr>
            <p:ph type="body" idx="1"/>
          </p:nvPr>
        </p:nvSpPr>
        <p:spPr>
          <a:xfrm>
            <a:off x="950967" y="4096933"/>
            <a:ext cx="5916000" cy="6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pic>
        <p:nvPicPr>
          <p:cNvPr id="349" name="Google Shape;349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894983">
            <a:off x="7467201" y="-956500"/>
            <a:ext cx="2311668" cy="5263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06697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 preserve="1">
  <p:cSld name="Title and text 3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6"/>
          <p:cNvSpPr txBox="1">
            <a:spLocks noGrp="1"/>
          </p:cNvSpPr>
          <p:nvPr>
            <p:ph type="title"/>
          </p:nvPr>
        </p:nvSpPr>
        <p:spPr>
          <a:xfrm>
            <a:off x="3398400" y="2743084"/>
            <a:ext cx="5395200" cy="8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52" name="Google Shape;352;p36"/>
          <p:cNvSpPr txBox="1">
            <a:spLocks noGrp="1"/>
          </p:cNvSpPr>
          <p:nvPr>
            <p:ph type="body" idx="1"/>
          </p:nvPr>
        </p:nvSpPr>
        <p:spPr>
          <a:xfrm>
            <a:off x="3398400" y="3624125"/>
            <a:ext cx="5395200" cy="19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pic>
        <p:nvPicPr>
          <p:cNvPr id="353" name="Google Shape;353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9566817" y="4137977"/>
            <a:ext cx="2596567" cy="2514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9918304" y="-1087866"/>
            <a:ext cx="3903565" cy="302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597377">
            <a:off x="9273885" y="1906507"/>
            <a:ext cx="3182432" cy="584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894983">
            <a:off x="9584634" y="-956500"/>
            <a:ext cx="2311668" cy="526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3883291">
            <a:off x="278229" y="3507459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-1538017" y="4043844"/>
            <a:ext cx="2596567" cy="2514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-1186529" y="-1181999"/>
            <a:ext cx="3903565" cy="302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597377">
            <a:off x="-1830948" y="1812373"/>
            <a:ext cx="3182432" cy="584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894983">
            <a:off x="-1520199" y="-1050634"/>
            <a:ext cx="2311668" cy="5263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0452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 preserve="1">
  <p:cSld name="Title and six columns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"/>
          <p:cNvSpPr txBox="1">
            <a:spLocks noGrp="1"/>
          </p:cNvSpPr>
          <p:nvPr>
            <p:ph type="title"/>
          </p:nvPr>
        </p:nvSpPr>
        <p:spPr>
          <a:xfrm>
            <a:off x="1062433" y="2392633"/>
            <a:ext cx="3193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64" name="Google Shape;364;p37"/>
          <p:cNvSpPr txBox="1">
            <a:spLocks noGrp="1"/>
          </p:cNvSpPr>
          <p:nvPr>
            <p:ph type="subTitle" idx="1"/>
          </p:nvPr>
        </p:nvSpPr>
        <p:spPr>
          <a:xfrm>
            <a:off x="1062433" y="2883979"/>
            <a:ext cx="3193200" cy="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37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37"/>
          <p:cNvSpPr txBox="1">
            <a:spLocks noGrp="1"/>
          </p:cNvSpPr>
          <p:nvPr>
            <p:ph type="title" idx="3"/>
          </p:nvPr>
        </p:nvSpPr>
        <p:spPr>
          <a:xfrm>
            <a:off x="4499367" y="2392633"/>
            <a:ext cx="3193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67" name="Google Shape;367;p37"/>
          <p:cNvSpPr txBox="1">
            <a:spLocks noGrp="1"/>
          </p:cNvSpPr>
          <p:nvPr>
            <p:ph type="subTitle" idx="4"/>
          </p:nvPr>
        </p:nvSpPr>
        <p:spPr>
          <a:xfrm>
            <a:off x="4499367" y="2883979"/>
            <a:ext cx="3193200" cy="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37"/>
          <p:cNvSpPr txBox="1">
            <a:spLocks noGrp="1"/>
          </p:cNvSpPr>
          <p:nvPr>
            <p:ph type="title" idx="5"/>
          </p:nvPr>
        </p:nvSpPr>
        <p:spPr>
          <a:xfrm>
            <a:off x="1062433" y="4630121"/>
            <a:ext cx="3193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69" name="Google Shape;369;p37"/>
          <p:cNvSpPr txBox="1">
            <a:spLocks noGrp="1"/>
          </p:cNvSpPr>
          <p:nvPr>
            <p:ph type="subTitle" idx="6"/>
          </p:nvPr>
        </p:nvSpPr>
        <p:spPr>
          <a:xfrm>
            <a:off x="1062433" y="5121467"/>
            <a:ext cx="3193200" cy="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37"/>
          <p:cNvSpPr txBox="1">
            <a:spLocks noGrp="1"/>
          </p:cNvSpPr>
          <p:nvPr>
            <p:ph type="title" idx="7"/>
          </p:nvPr>
        </p:nvSpPr>
        <p:spPr>
          <a:xfrm>
            <a:off x="4499367" y="4630121"/>
            <a:ext cx="3193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71" name="Google Shape;371;p37"/>
          <p:cNvSpPr txBox="1">
            <a:spLocks noGrp="1"/>
          </p:cNvSpPr>
          <p:nvPr>
            <p:ph type="subTitle" idx="8"/>
          </p:nvPr>
        </p:nvSpPr>
        <p:spPr>
          <a:xfrm>
            <a:off x="4499367" y="5121467"/>
            <a:ext cx="3193200" cy="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37"/>
          <p:cNvSpPr txBox="1">
            <a:spLocks noGrp="1"/>
          </p:cNvSpPr>
          <p:nvPr>
            <p:ph type="title" idx="9"/>
          </p:nvPr>
        </p:nvSpPr>
        <p:spPr>
          <a:xfrm>
            <a:off x="7936200" y="2392633"/>
            <a:ext cx="3193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73" name="Google Shape;373;p37"/>
          <p:cNvSpPr txBox="1">
            <a:spLocks noGrp="1"/>
          </p:cNvSpPr>
          <p:nvPr>
            <p:ph type="subTitle" idx="13"/>
          </p:nvPr>
        </p:nvSpPr>
        <p:spPr>
          <a:xfrm>
            <a:off x="7936200" y="2883979"/>
            <a:ext cx="3193200" cy="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37"/>
          <p:cNvSpPr txBox="1">
            <a:spLocks noGrp="1"/>
          </p:cNvSpPr>
          <p:nvPr>
            <p:ph type="title" idx="14"/>
          </p:nvPr>
        </p:nvSpPr>
        <p:spPr>
          <a:xfrm>
            <a:off x="7936200" y="4630121"/>
            <a:ext cx="3193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75" name="Google Shape;375;p37"/>
          <p:cNvSpPr txBox="1">
            <a:spLocks noGrp="1"/>
          </p:cNvSpPr>
          <p:nvPr>
            <p:ph type="subTitle" idx="15"/>
          </p:nvPr>
        </p:nvSpPr>
        <p:spPr>
          <a:xfrm>
            <a:off x="7936200" y="5121467"/>
            <a:ext cx="3193200" cy="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376" name="Google Shape;376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10059469">
            <a:off x="-333875" y="255211"/>
            <a:ext cx="1761017" cy="4271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 flipH="1">
            <a:off x="-436034" y="-132155"/>
            <a:ext cx="1572667" cy="2037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3">
            <a:off x="10637344" y="3411875"/>
            <a:ext cx="2395245" cy="54535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42105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 preserve="1">
  <p:cSld name="Title and text 4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8"/>
          <p:cNvSpPr txBox="1">
            <a:spLocks noGrp="1"/>
          </p:cNvSpPr>
          <p:nvPr>
            <p:ph type="subTitle" idx="1"/>
          </p:nvPr>
        </p:nvSpPr>
        <p:spPr>
          <a:xfrm>
            <a:off x="3520067" y="3044900"/>
            <a:ext cx="5151600" cy="18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38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382" name="Google Shape;38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3883295" flipH="1">
            <a:off x="244190" y="4197230"/>
            <a:ext cx="3079965" cy="1767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111499" y="2401712"/>
            <a:ext cx="2206923" cy="2137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639246" flipH="1">
            <a:off x="-149767" y="-198100"/>
            <a:ext cx="2311668" cy="526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6057767" flipH="1">
            <a:off x="9602701" y="2578502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03100" y="1623556"/>
            <a:ext cx="3182432" cy="5841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51564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 preserve="1">
  <p:cSld name="Title and text 5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9"/>
          <p:cNvSpPr txBox="1">
            <a:spLocks noGrp="1"/>
          </p:cNvSpPr>
          <p:nvPr>
            <p:ph type="subTitle" idx="1"/>
          </p:nvPr>
        </p:nvSpPr>
        <p:spPr>
          <a:xfrm>
            <a:off x="2305900" y="2313633"/>
            <a:ext cx="7580000" cy="38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89" name="Google Shape;389;p39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390" name="Google Shape;390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9160750">
            <a:off x="10044080" y="-835676"/>
            <a:ext cx="2669944" cy="6079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8859426">
            <a:off x="-1528583" y="2574986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41519" y="1959860"/>
            <a:ext cx="1857733" cy="17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-2015815" y="4645167"/>
            <a:ext cx="5344467" cy="3831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134819">
            <a:off x="10894485" y="1542593"/>
            <a:ext cx="2565400" cy="6223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13324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 preserve="1">
  <p:cSld name="Title and text 6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/>
          <p:cNvSpPr txBox="1">
            <a:spLocks noGrp="1"/>
          </p:cNvSpPr>
          <p:nvPr>
            <p:ph type="subTitle" idx="1"/>
          </p:nvPr>
        </p:nvSpPr>
        <p:spPr>
          <a:xfrm>
            <a:off x="1701000" y="3061867"/>
            <a:ext cx="3874800" cy="1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40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398" name="Google Shape;398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665182" flipH="1">
            <a:off x="10106612" y="1929332"/>
            <a:ext cx="1989713" cy="4826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58732">
            <a:off x="-1061639" y="503130"/>
            <a:ext cx="2669944" cy="607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89068" y="296823"/>
            <a:ext cx="3182432" cy="5841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07858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 preserve="1">
  <p:cSld name="Numbers and text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1"/>
          <p:cNvSpPr txBox="1">
            <a:spLocks noGrp="1"/>
          </p:cNvSpPr>
          <p:nvPr>
            <p:ph type="title" hasCustomPrompt="1"/>
          </p:nvPr>
        </p:nvSpPr>
        <p:spPr>
          <a:xfrm>
            <a:off x="3359751" y="973333"/>
            <a:ext cx="5926000" cy="8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403" name="Google Shape;403;p41"/>
          <p:cNvSpPr txBox="1">
            <a:spLocks noGrp="1"/>
          </p:cNvSpPr>
          <p:nvPr>
            <p:ph type="subTitle" idx="1"/>
          </p:nvPr>
        </p:nvSpPr>
        <p:spPr>
          <a:xfrm>
            <a:off x="3359751" y="1722133"/>
            <a:ext cx="5926000" cy="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2424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41"/>
          <p:cNvSpPr txBox="1">
            <a:spLocks noGrp="1"/>
          </p:cNvSpPr>
          <p:nvPr>
            <p:ph type="title" idx="2" hasCustomPrompt="1"/>
          </p:nvPr>
        </p:nvSpPr>
        <p:spPr>
          <a:xfrm>
            <a:off x="3359751" y="2749400"/>
            <a:ext cx="5926000" cy="8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>
            <a:spLocks noGrp="1"/>
          </p:cNvSpPr>
          <p:nvPr>
            <p:ph type="subTitle" idx="3"/>
          </p:nvPr>
        </p:nvSpPr>
        <p:spPr>
          <a:xfrm>
            <a:off x="3359751" y="3498200"/>
            <a:ext cx="5926000" cy="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2424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41"/>
          <p:cNvSpPr txBox="1">
            <a:spLocks noGrp="1"/>
          </p:cNvSpPr>
          <p:nvPr>
            <p:ph type="title" idx="4" hasCustomPrompt="1"/>
          </p:nvPr>
        </p:nvSpPr>
        <p:spPr>
          <a:xfrm>
            <a:off x="3359751" y="4525467"/>
            <a:ext cx="5926000" cy="8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407" name="Google Shape;407;p41"/>
          <p:cNvSpPr txBox="1">
            <a:spLocks noGrp="1"/>
          </p:cNvSpPr>
          <p:nvPr>
            <p:ph type="subTitle" idx="5"/>
          </p:nvPr>
        </p:nvSpPr>
        <p:spPr>
          <a:xfrm>
            <a:off x="3133151" y="5274267"/>
            <a:ext cx="6379200" cy="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2424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408" name="Google Shape;40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2700007" flipH="1">
            <a:off x="33398" y="110098"/>
            <a:ext cx="2096005" cy="5084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4778591">
            <a:off x="-1449667" y="1301267"/>
            <a:ext cx="4112400" cy="2948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9293149" y="4445918"/>
            <a:ext cx="3163905" cy="24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9736334" y="3504300"/>
            <a:ext cx="1857733" cy="17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8">
            <a:off x="9787127" y="389498"/>
            <a:ext cx="2669944" cy="6079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760663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 preserve="1">
  <p:cSld name="Numbers and text 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2"/>
          <p:cNvSpPr txBox="1">
            <a:spLocks noGrp="1"/>
          </p:cNvSpPr>
          <p:nvPr>
            <p:ph type="title"/>
          </p:nvPr>
        </p:nvSpPr>
        <p:spPr>
          <a:xfrm>
            <a:off x="2780900" y="1957931"/>
            <a:ext cx="3193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15" name="Google Shape;415;p42"/>
          <p:cNvSpPr txBox="1">
            <a:spLocks noGrp="1"/>
          </p:cNvSpPr>
          <p:nvPr>
            <p:ph type="subTitle" idx="1"/>
          </p:nvPr>
        </p:nvSpPr>
        <p:spPr>
          <a:xfrm>
            <a:off x="2780900" y="2449276"/>
            <a:ext cx="3193200" cy="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42"/>
          <p:cNvSpPr txBox="1">
            <a:spLocks noGrp="1"/>
          </p:cNvSpPr>
          <p:nvPr>
            <p:ph type="title" idx="2"/>
          </p:nvPr>
        </p:nvSpPr>
        <p:spPr>
          <a:xfrm>
            <a:off x="6217833" y="1957931"/>
            <a:ext cx="3193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17" name="Google Shape;417;p42"/>
          <p:cNvSpPr txBox="1">
            <a:spLocks noGrp="1"/>
          </p:cNvSpPr>
          <p:nvPr>
            <p:ph type="subTitle" idx="3"/>
          </p:nvPr>
        </p:nvSpPr>
        <p:spPr>
          <a:xfrm>
            <a:off x="6217833" y="2449276"/>
            <a:ext cx="3193200" cy="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42"/>
          <p:cNvSpPr txBox="1">
            <a:spLocks noGrp="1"/>
          </p:cNvSpPr>
          <p:nvPr>
            <p:ph type="title" idx="4"/>
          </p:nvPr>
        </p:nvSpPr>
        <p:spPr>
          <a:xfrm>
            <a:off x="2780900" y="4297019"/>
            <a:ext cx="3193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19" name="Google Shape;419;p42"/>
          <p:cNvSpPr txBox="1">
            <a:spLocks noGrp="1"/>
          </p:cNvSpPr>
          <p:nvPr>
            <p:ph type="subTitle" idx="5"/>
          </p:nvPr>
        </p:nvSpPr>
        <p:spPr>
          <a:xfrm>
            <a:off x="2780900" y="4788364"/>
            <a:ext cx="3193200" cy="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20" name="Google Shape;420;p42"/>
          <p:cNvSpPr txBox="1">
            <a:spLocks noGrp="1"/>
          </p:cNvSpPr>
          <p:nvPr>
            <p:ph type="title" idx="6"/>
          </p:nvPr>
        </p:nvSpPr>
        <p:spPr>
          <a:xfrm>
            <a:off x="6217884" y="4314847"/>
            <a:ext cx="31932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21" name="Google Shape;421;p42"/>
          <p:cNvSpPr txBox="1">
            <a:spLocks noGrp="1"/>
          </p:cNvSpPr>
          <p:nvPr>
            <p:ph type="subTitle" idx="7"/>
          </p:nvPr>
        </p:nvSpPr>
        <p:spPr>
          <a:xfrm>
            <a:off x="6217883" y="4806192"/>
            <a:ext cx="3193200" cy="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422" name="Google Shape;422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10059469">
            <a:off x="-333875" y="255211"/>
            <a:ext cx="1761017" cy="4271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 flipH="1">
            <a:off x="-436034" y="-132155"/>
            <a:ext cx="1572667" cy="2037513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2"/>
          <p:cNvSpPr txBox="1">
            <a:spLocks noGrp="1"/>
          </p:cNvSpPr>
          <p:nvPr>
            <p:ph type="title" idx="8" hasCustomPrompt="1"/>
          </p:nvPr>
        </p:nvSpPr>
        <p:spPr>
          <a:xfrm>
            <a:off x="2780900" y="1208615"/>
            <a:ext cx="3193200" cy="8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425" name="Google Shape;425;p42"/>
          <p:cNvSpPr txBox="1">
            <a:spLocks noGrp="1"/>
          </p:cNvSpPr>
          <p:nvPr>
            <p:ph type="title" idx="9" hasCustomPrompt="1"/>
          </p:nvPr>
        </p:nvSpPr>
        <p:spPr>
          <a:xfrm>
            <a:off x="2780900" y="3564448"/>
            <a:ext cx="3193200" cy="8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426" name="Google Shape;426;p42"/>
          <p:cNvSpPr txBox="1">
            <a:spLocks noGrp="1"/>
          </p:cNvSpPr>
          <p:nvPr>
            <p:ph type="title" idx="13" hasCustomPrompt="1"/>
          </p:nvPr>
        </p:nvSpPr>
        <p:spPr>
          <a:xfrm>
            <a:off x="6217900" y="1208608"/>
            <a:ext cx="3193200" cy="8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427" name="Google Shape;427;p42"/>
          <p:cNvSpPr txBox="1">
            <a:spLocks noGrp="1"/>
          </p:cNvSpPr>
          <p:nvPr>
            <p:ph type="title" idx="14" hasCustomPrompt="1"/>
          </p:nvPr>
        </p:nvSpPr>
        <p:spPr>
          <a:xfrm>
            <a:off x="6217784" y="3566075"/>
            <a:ext cx="3193200" cy="8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pic>
        <p:nvPicPr>
          <p:cNvPr id="428" name="Google Shape;428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740531">
            <a:off x="10765925" y="2370129"/>
            <a:ext cx="1761017" cy="4271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 flipH="1">
            <a:off x="11056433" y="4991694"/>
            <a:ext cx="1572667" cy="20375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823911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 preserve="1">
  <p:cSld name="Title and text 7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3"/>
          <p:cNvSpPr txBox="1">
            <a:spLocks noGrp="1"/>
          </p:cNvSpPr>
          <p:nvPr>
            <p:ph type="title"/>
          </p:nvPr>
        </p:nvSpPr>
        <p:spPr>
          <a:xfrm>
            <a:off x="1183800" y="2031879"/>
            <a:ext cx="5395200" cy="8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32" name="Google Shape;432;p43"/>
          <p:cNvSpPr txBox="1">
            <a:spLocks noGrp="1"/>
          </p:cNvSpPr>
          <p:nvPr>
            <p:ph type="body" idx="1"/>
          </p:nvPr>
        </p:nvSpPr>
        <p:spPr>
          <a:xfrm>
            <a:off x="1183800" y="2912921"/>
            <a:ext cx="5395200" cy="19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pic>
        <p:nvPicPr>
          <p:cNvPr id="433" name="Google Shape;433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3883291" flipH="1">
            <a:off x="141399" y="-968775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399034" y="5314251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9659785" y="-224343"/>
            <a:ext cx="2454500" cy="2376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9483000" y="-1175144"/>
            <a:ext cx="3182432" cy="5841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29558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5" preserve="1">
  <p:cSld name="Title and two columns 5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4"/>
          <p:cNvSpPr txBox="1">
            <a:spLocks noGrp="1"/>
          </p:cNvSpPr>
          <p:nvPr>
            <p:ph type="title"/>
          </p:nvPr>
        </p:nvSpPr>
        <p:spPr>
          <a:xfrm>
            <a:off x="2524733" y="4170900"/>
            <a:ext cx="289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39" name="Google Shape;439;p44"/>
          <p:cNvSpPr txBox="1">
            <a:spLocks noGrp="1"/>
          </p:cNvSpPr>
          <p:nvPr>
            <p:ph type="subTitle" idx="1"/>
          </p:nvPr>
        </p:nvSpPr>
        <p:spPr>
          <a:xfrm>
            <a:off x="2524733" y="4662245"/>
            <a:ext cx="28928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44"/>
          <p:cNvSpPr txBox="1">
            <a:spLocks noGrp="1"/>
          </p:cNvSpPr>
          <p:nvPr>
            <p:ph type="title" idx="2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44"/>
          <p:cNvSpPr txBox="1">
            <a:spLocks noGrp="1"/>
          </p:cNvSpPr>
          <p:nvPr>
            <p:ph type="title" idx="3"/>
          </p:nvPr>
        </p:nvSpPr>
        <p:spPr>
          <a:xfrm>
            <a:off x="6774467" y="4170900"/>
            <a:ext cx="289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42" name="Google Shape;442;p44"/>
          <p:cNvSpPr txBox="1">
            <a:spLocks noGrp="1"/>
          </p:cNvSpPr>
          <p:nvPr>
            <p:ph type="subTitle" idx="4"/>
          </p:nvPr>
        </p:nvSpPr>
        <p:spPr>
          <a:xfrm>
            <a:off x="6774467" y="4662245"/>
            <a:ext cx="28928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443" name="Google Shape;443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9355986">
            <a:off x="11246577" y="3066567"/>
            <a:ext cx="1771712" cy="429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7580934">
            <a:off x="10431400" y="2516267"/>
            <a:ext cx="3780200" cy="2710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8859426">
            <a:off x="-2055083" y="3010152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-877415" y="1935027"/>
            <a:ext cx="1857733" cy="1799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555962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 preserve="1">
  <p:cSld name="Title and text 8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883291">
            <a:off x="9332663" y="-968775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6001" y="5314251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5251" y="-224343"/>
            <a:ext cx="2454500" cy="2376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101" y="-1175144"/>
            <a:ext cx="3182432" cy="5841843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5"/>
          <p:cNvSpPr txBox="1">
            <a:spLocks noGrp="1"/>
          </p:cNvSpPr>
          <p:nvPr>
            <p:ph type="title"/>
          </p:nvPr>
        </p:nvSpPr>
        <p:spPr>
          <a:xfrm>
            <a:off x="6580371" y="1931333"/>
            <a:ext cx="4413600" cy="8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53" name="Google Shape;453;p45"/>
          <p:cNvSpPr txBox="1">
            <a:spLocks noGrp="1"/>
          </p:cNvSpPr>
          <p:nvPr>
            <p:ph type="body" idx="1"/>
          </p:nvPr>
        </p:nvSpPr>
        <p:spPr>
          <a:xfrm>
            <a:off x="6580371" y="2812371"/>
            <a:ext cx="4413600" cy="19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algn="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 algn="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383786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 preserve="1">
  <p:cSld name="Title and text 9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6"/>
          <p:cNvSpPr txBox="1">
            <a:spLocks noGrp="1"/>
          </p:cNvSpPr>
          <p:nvPr>
            <p:ph type="title"/>
          </p:nvPr>
        </p:nvSpPr>
        <p:spPr>
          <a:xfrm>
            <a:off x="1219903" y="1931333"/>
            <a:ext cx="4413600" cy="8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56" name="Google Shape;456;p46"/>
          <p:cNvSpPr txBox="1">
            <a:spLocks noGrp="1"/>
          </p:cNvSpPr>
          <p:nvPr>
            <p:ph type="body" idx="1"/>
          </p:nvPr>
        </p:nvSpPr>
        <p:spPr>
          <a:xfrm>
            <a:off x="1219903" y="2812371"/>
            <a:ext cx="4413600" cy="19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pic>
        <p:nvPicPr>
          <p:cNvPr id="457" name="Google Shape;457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678227">
            <a:off x="-843101" y="5155894"/>
            <a:ext cx="3425472" cy="19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18034" y="-734599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9659785" y="-224343"/>
            <a:ext cx="2454500" cy="2376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9483000" y="-1175144"/>
            <a:ext cx="3182432" cy="5841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30974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 preserve="1">
  <p:cSld name="Thanks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7"/>
          <p:cNvSpPr txBox="1">
            <a:spLocks noGrp="1"/>
          </p:cNvSpPr>
          <p:nvPr>
            <p:ph type="ctrTitle"/>
          </p:nvPr>
        </p:nvSpPr>
        <p:spPr>
          <a:xfrm>
            <a:off x="3644433" y="719333"/>
            <a:ext cx="4903200" cy="13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463" name="Google Shape;463;p47"/>
          <p:cNvSpPr txBox="1">
            <a:spLocks noGrp="1"/>
          </p:cNvSpPr>
          <p:nvPr>
            <p:ph type="subTitle" idx="1"/>
          </p:nvPr>
        </p:nvSpPr>
        <p:spPr>
          <a:xfrm>
            <a:off x="3644500" y="2041800"/>
            <a:ext cx="4903200" cy="1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464" name="Google Shape;464;p47"/>
          <p:cNvSpPr txBox="1"/>
          <p:nvPr/>
        </p:nvSpPr>
        <p:spPr>
          <a:xfrm>
            <a:off x="3644233" y="4360933"/>
            <a:ext cx="4903600" cy="10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</a:t>
            </a: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This presentation template was created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 b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</a:t>
            </a: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including icons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and infographics &amp; images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6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465" name="Google Shape;465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-787687" y="1721489"/>
            <a:ext cx="3715384" cy="2882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4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519591" y="257762"/>
            <a:ext cx="2744388" cy="2657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4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400000">
            <a:off x="-1318767" y="4122466"/>
            <a:ext cx="5377737" cy="3855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4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3546973">
            <a:off x="10120238" y="2638516"/>
            <a:ext cx="2232892" cy="5083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4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665179">
            <a:off x="9065566" y="-1055368"/>
            <a:ext cx="2359313" cy="57230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9396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 preserve="1">
  <p:cSld name="Background"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17468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 preserve="1">
  <p:cSld name="Background 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9305281">
            <a:off x="9274967" y="-48033"/>
            <a:ext cx="2565400" cy="62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399999">
            <a:off x="8229833" y="877935"/>
            <a:ext cx="5081267" cy="3643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0">
            <a:off x="207571" y="1368227"/>
            <a:ext cx="2365659" cy="53862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98102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 preserve="1">
  <p:cSld name="Background 2"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9571467" y="214357"/>
            <a:ext cx="3339133" cy="191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956358">
            <a:off x="7412319" y="-2235044"/>
            <a:ext cx="3182432" cy="5841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76567" y="2807999"/>
            <a:ext cx="3715384" cy="2882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-159714" y="4496447"/>
            <a:ext cx="2744388" cy="2657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8860801" y="4930734"/>
            <a:ext cx="2454500" cy="2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5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400000" flipH="1">
            <a:off x="9627667" y="4791667"/>
            <a:ext cx="2096000" cy="271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358732">
            <a:off x="-532239" y="-873070"/>
            <a:ext cx="2669944" cy="60790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12398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27D69-0035-7644-9970-05AE6407B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E59ED5-964D-8C20-169A-D578FEFE9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E26F9-91BB-4311-9CC2-F2BD76754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CE92C-D540-60AD-38C7-7D34341BC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565B8-1AB3-9010-E1A6-0841828D0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88407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3A206-52F1-E9C2-A307-6A3E306D9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64B25-517A-A1B7-7B6C-64C25D91F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B8D45-80BF-80CA-9331-3626EECBD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AAFC4-AB7B-6586-0D98-070AC54A9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EA847-8F63-AB17-3F7B-D1A144CD9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381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5C227-6DC1-3FDE-763D-4C31FF775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920A2-84C5-258C-DE11-C1FD7258E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F1A33-D768-C946-C4C3-370213224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9BC68-F1DA-B9FD-C472-0BEADFD65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E8ECB-3EE6-8573-CC89-64498C68F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9796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5179C-DDC3-9B36-9FC6-86128C7CE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A0E02-1A36-6382-FACB-189F04739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8AE6B-D423-C56D-AB5F-651FB040C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B6BD7-4099-8287-11AD-5BBCEFB29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0EF7B-27D0-583A-B771-E65F536D6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6EB18-A4B4-1512-D284-7E4C26FE4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8466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743F8-AB96-777E-CDE5-D92BD9CC4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F4114-93D4-C01D-3202-90FCB0B8E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D5B7AA-D457-B60D-E611-4DDBA2205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074AE2-6902-9F3A-6DCF-E8480D1FB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D2D25-07F2-0B9E-26C6-68DD9A9B7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BA2869-9E44-8AB9-8CF0-442F69C40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29F6D6-B4E8-9F3C-CF70-C23325E71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1F3DCC-ACD3-F002-0CE1-BF9EC79C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90183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D07B3-8D8D-5E67-D2AC-8AA94960A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FCD665-5782-5799-B1A6-B50492DC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32EC05-D6CF-451F-7A27-D1C2BA12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BFB0F8-F190-FD5C-8C67-4300FACF2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202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5A9EA7-103A-397A-EF04-275CFDC9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8FE71-B234-AD47-B8F7-453ECD8E2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2D25F-72CC-0C2F-3449-F6FAC563C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7214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03E25-FCDA-7C32-29E3-EB2B54AE6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5F941-B968-280A-3643-E4C44F40D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C7EA8-A516-91D4-C1F9-4AB141BB0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E462E-AB2C-374C-F15A-9CBEB2D5F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25642-CA2B-C534-9044-67E173681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10AD5-A2D5-15B5-4150-981311FAD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380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0883B-42CD-E563-3D23-196F22C97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068117-450C-6920-91E7-AB1498251A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49F9E-7D0D-C646-A672-393A1FF4B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665DA-003C-24C3-422B-B14244C60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E50F5-8F9D-AA58-CD32-EFDB292FA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60442-5496-F951-425C-64A98C9A0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785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7F9FF-2DDA-4F08-95AC-BCD841079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DBC4B-99DC-A796-2F4B-349B83068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B59AC-BF7F-3530-E9E5-208E4346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8A318-1E82-B89A-554E-2BF2C4BF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24E5A-98A6-7990-30E7-5CDE8A1F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3842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E05D7C-F673-A000-13E1-0BAEB8C44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5B82B-690E-E5B4-07CA-232038828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900E0-D0AD-BC5D-EF3F-7A122973C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1856-6F1E-4A01-9511-938361D535B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C6496-A9C4-6578-F393-F172F57F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6A496-1C2D-C24C-0192-F094ED865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97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4DF97-F269-537B-FC10-447A67076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4C98F-FD96-FDF3-713F-6ADC6BE49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E527B-77B3-A59E-F97D-8820D5343F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8C1856-6F1E-4A01-9511-938361D535B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DD301-18F7-B28F-CEDD-22611C4DF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2CFA9-7721-09BC-4DF3-613C62857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4CB12-3EAB-4988-BE84-FF046570F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8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649" r:id="rId50"/>
    <p:sldLayoutId id="2147483650" r:id="rId51"/>
    <p:sldLayoutId id="2147483651" r:id="rId52"/>
    <p:sldLayoutId id="2147483652" r:id="rId53"/>
    <p:sldLayoutId id="2147483653" r:id="rId54"/>
    <p:sldLayoutId id="2147483654" r:id="rId55"/>
    <p:sldLayoutId id="2147483655" r:id="rId56"/>
    <p:sldLayoutId id="2147483656" r:id="rId57"/>
    <p:sldLayoutId id="2147483657" r:id="rId58"/>
    <p:sldLayoutId id="2147483658" r:id="rId59"/>
    <p:sldLayoutId id="2147483659" r:id="rId6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502.00501" TargetMode="External"/><Relationship Id="rId3" Type="http://schemas.openxmlformats.org/officeDocument/2006/relationships/hyperlink" Target="https://pmc.ncbi.nlm.nih.gov/articles/PMC8499698/" TargetMode="External"/><Relationship Id="rId7" Type="http://schemas.openxmlformats.org/officeDocument/2006/relationships/hyperlink" Target="https://doi.org/10.1186/s12874-024-02153-1" TargetMode="External"/><Relationship Id="rId2" Type="http://schemas.openxmlformats.org/officeDocument/2006/relationships/hyperlink" Target="https://arxiv.org/pdf/2505.15671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sciopen.com/article/10.26599/BDMA.2025.9020093" TargetMode="External"/><Relationship Id="rId11" Type="http://schemas.openxmlformats.org/officeDocument/2006/relationships/hyperlink" Target="https://doi.org/10.1016/j.cjca.2020.11.010" TargetMode="External"/><Relationship Id="rId5" Type="http://schemas.openxmlformats.org/officeDocument/2006/relationships/hyperlink" Target="https://doi.org/10.1186/s12874-024-02293-4" TargetMode="External"/><Relationship Id="rId10" Type="http://schemas.openxmlformats.org/officeDocument/2006/relationships/hyperlink" Target="https://doi.org/10.1186/s12911-022-02086-z" TargetMode="External"/><Relationship Id="rId4" Type="http://schemas.openxmlformats.org/officeDocument/2006/relationships/hyperlink" Target="https://arxiv.org/abs/2512.14851" TargetMode="External"/><Relationship Id="rId9" Type="http://schemas.openxmlformats.org/officeDocument/2006/relationships/hyperlink" Target="https://doi.org/10.1186/s12874-023-01974-w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C5E61-889A-8CC0-28CE-4CB0E0F5C3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From Algorithm to the Clinic: Designing a Usable Clinical Decision Support (CDS) Interface and EHR Integration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EF643-356C-925E-2F53-06C8AEC39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3400" y="4165300"/>
            <a:ext cx="8085200" cy="740075"/>
          </a:xfrm>
        </p:spPr>
        <p:txBody>
          <a:bodyPr anchor="ctr">
            <a:normAutofit/>
          </a:bodyPr>
          <a:lstStyle/>
          <a:p>
            <a:r>
              <a:rPr lang="en-US" sz="2400">
                <a:latin typeface="Georgia Pro" panose="02040502050405020303" pitchFamily="18" charset="0"/>
              </a:rPr>
              <a:t>Team HAC</a:t>
            </a:r>
          </a:p>
        </p:txBody>
      </p:sp>
    </p:spTree>
    <p:extLst>
      <p:ext uri="{BB962C8B-B14F-4D97-AF65-F5344CB8AC3E}">
        <p14:creationId xmlns:p14="http://schemas.microsoft.com/office/powerpoint/2010/main" val="1988476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4F615-B608-A154-A430-3E57EA45F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975" y="272071"/>
            <a:ext cx="10290000" cy="763600"/>
          </a:xfrm>
        </p:spPr>
        <p:txBody>
          <a:bodyPr/>
          <a:lstStyle/>
          <a:p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Roadmap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(1/1)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309CA33D-37D7-B0B6-E5E8-C5034689F2B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078162411"/>
              </p:ext>
            </p:extLst>
          </p:nvPr>
        </p:nvGraphicFramePr>
        <p:xfrm>
          <a:off x="2070650" y="1182757"/>
          <a:ext cx="8365436" cy="5403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0818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D53A9A-5C5B-E387-8808-3896A0DF7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000" y="530489"/>
            <a:ext cx="10290000" cy="763600"/>
          </a:xfrm>
        </p:spPr>
        <p:txBody>
          <a:bodyPr/>
          <a:lstStyle/>
          <a:p>
            <a:pPr algn="ctr"/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We would like to thank the authors of the papers referenced in this study.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F640A8-C492-B81A-65F7-B2C13DD13017}"/>
              </a:ext>
            </a:extLst>
          </p:cNvPr>
          <p:cNvSpPr txBox="1">
            <a:spLocks/>
          </p:cNvSpPr>
          <p:nvPr/>
        </p:nvSpPr>
        <p:spPr>
          <a:xfrm>
            <a:off x="1325217" y="1795806"/>
            <a:ext cx="10290000" cy="52609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lvl="0" indent="-22860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err="1">
                <a:latin typeface="Georgia Pro" panose="02040502050405020303" pitchFamily="18" charset="0"/>
              </a:rPr>
              <a:t>Asgharnezhad</a:t>
            </a:r>
            <a:r>
              <a:rPr lang="en-US" sz="1400" b="1">
                <a:latin typeface="Georgia Pro" panose="02040502050405020303" pitchFamily="18" charset="0"/>
              </a:rPr>
              <a:t>, A., </a:t>
            </a:r>
            <a:r>
              <a:rPr lang="en-US" sz="1400" b="1" i="1">
                <a:latin typeface="Georgia Pro" panose="02040502050405020303" pitchFamily="18" charset="0"/>
              </a:rPr>
              <a:t>et al.</a:t>
            </a:r>
            <a:r>
              <a:rPr lang="en-US" sz="1400" b="1">
                <a:latin typeface="Georgia Pro" panose="02040502050405020303" pitchFamily="18" charset="0"/>
              </a:rPr>
              <a:t> </a:t>
            </a:r>
            <a:r>
              <a:rPr lang="en-US" sz="1400">
                <a:latin typeface="Georgia Pro" panose="02040502050405020303" pitchFamily="18" charset="0"/>
              </a:rPr>
              <a:t>(2025). </a:t>
            </a:r>
            <a:r>
              <a:rPr lang="en-US" sz="1400" i="1">
                <a:latin typeface="Georgia Pro" panose="02040502050405020303" pitchFamily="18" charset="0"/>
              </a:rPr>
              <a:t>Enhancing Monte Carlo dropout performance for uncertainty quantification</a:t>
            </a:r>
            <a:r>
              <a:rPr lang="en-US" sz="1400">
                <a:latin typeface="Georgia Pro" panose="02040502050405020303" pitchFamily="18" charset="0"/>
              </a:rPr>
              <a:t> (</a:t>
            </a:r>
            <a:r>
              <a:rPr lang="en-US" sz="1400" err="1">
                <a:latin typeface="Georgia Pro" panose="02040502050405020303" pitchFamily="18" charset="0"/>
              </a:rPr>
              <a:t>arXiv</a:t>
            </a:r>
            <a:r>
              <a:rPr lang="en-US" sz="1400">
                <a:latin typeface="Georgia Pro" panose="02040502050405020303" pitchFamily="18" charset="0"/>
              </a:rPr>
              <a:t> preprint arXiv:2505.15671). </a:t>
            </a:r>
            <a:r>
              <a:rPr lang="en-US" sz="1400">
                <a:latin typeface="Georgia Pro" panose="02040502050405020303" pitchFamily="18" charset="0"/>
                <a:hlinkClick r:id="rId2"/>
              </a:rPr>
              <a:t>https://arxiv.org/pdf/2505.15671</a:t>
            </a:r>
            <a:endParaRPr lang="en-US" sz="1400">
              <a:latin typeface="Georgia Pro" panose="02040502050405020303" pitchFamily="18" charset="0"/>
            </a:endParaRPr>
          </a:p>
          <a:p>
            <a:pPr algn="l"/>
            <a:r>
              <a:rPr lang="en-US" sz="1400" b="1">
                <a:latin typeface="Georgia Pro" panose="02040502050405020303" pitchFamily="18" charset="0"/>
              </a:rPr>
              <a:t>Austin, P. C. </a:t>
            </a:r>
            <a:r>
              <a:rPr lang="en-US" sz="1400">
                <a:latin typeface="Georgia Pro" panose="02040502050405020303" pitchFamily="18" charset="0"/>
              </a:rPr>
              <a:t>(2021). </a:t>
            </a:r>
            <a:r>
              <a:rPr lang="en-US" sz="1400" i="1">
                <a:latin typeface="Georgia Pro" panose="02040502050405020303" pitchFamily="18" charset="0"/>
              </a:rPr>
              <a:t>Missing data in clinical research: A tutorial on multiple imputation</a:t>
            </a:r>
            <a:r>
              <a:rPr lang="en-US" sz="1400">
                <a:latin typeface="Georgia Pro" panose="02040502050405020303" pitchFamily="18" charset="0"/>
              </a:rPr>
              <a:t>. U.S. National Library of Medicine. </a:t>
            </a:r>
            <a:r>
              <a:rPr lang="en-US" sz="1400">
                <a:latin typeface="Georgia Pro" panose="02040502050405020303" pitchFamily="18" charset="0"/>
                <a:hlinkClick r:id="rId3"/>
              </a:rPr>
              <a:t>https://pmc.ncbi.nlm.nih.gov/articles/PMC8499698/</a:t>
            </a:r>
            <a:endParaRPr lang="en-US" sz="1400">
              <a:latin typeface="Georgia Pro" panose="02040502050405020303" pitchFamily="18" charset="0"/>
            </a:endParaRPr>
          </a:p>
          <a:p>
            <a:pPr algn="l"/>
            <a:r>
              <a:rPr lang="en-US" sz="1400" b="1" err="1">
                <a:latin typeface="Georgia Pro" panose="02040502050405020303" pitchFamily="18" charset="0"/>
              </a:rPr>
              <a:t>Djupskås</a:t>
            </a:r>
            <a:r>
              <a:rPr lang="en-US" sz="1400" b="1">
                <a:latin typeface="Georgia Pro" panose="02040502050405020303" pitchFamily="18" charset="0"/>
              </a:rPr>
              <a:t>, A., Stasik, A. J., &amp; Riemer-Sørensen, S</a:t>
            </a:r>
            <a:r>
              <a:rPr lang="en-US" sz="1400">
                <a:latin typeface="Georgia Pro" panose="02040502050405020303" pitchFamily="18" charset="0"/>
              </a:rPr>
              <a:t>. (2025). </a:t>
            </a:r>
            <a:r>
              <a:rPr lang="en-US" sz="1400" i="1">
                <a:latin typeface="Georgia Pro" panose="02040502050405020303" pitchFamily="18" charset="0"/>
              </a:rPr>
              <a:t>Unreliable uncertainty estimates with Monte Carlo dropout</a:t>
            </a:r>
            <a:r>
              <a:rPr lang="en-US" sz="1400">
                <a:latin typeface="Georgia Pro" panose="02040502050405020303" pitchFamily="18" charset="0"/>
              </a:rPr>
              <a:t> (</a:t>
            </a:r>
            <a:r>
              <a:rPr lang="en-US" sz="1400" err="1">
                <a:latin typeface="Georgia Pro" panose="02040502050405020303" pitchFamily="18" charset="0"/>
              </a:rPr>
              <a:t>arXiv</a:t>
            </a:r>
            <a:r>
              <a:rPr lang="en-US" sz="1400">
                <a:latin typeface="Georgia Pro" panose="02040502050405020303" pitchFamily="18" charset="0"/>
              </a:rPr>
              <a:t> preprint arXiv:2512.14851). </a:t>
            </a:r>
            <a:r>
              <a:rPr lang="en-US" sz="1400">
                <a:latin typeface="Georgia Pro" panose="02040502050405020303" pitchFamily="18" charset="0"/>
                <a:hlinkClick r:id="rId4"/>
              </a:rPr>
              <a:t>https://arxiv.org/abs/2512.14851</a:t>
            </a:r>
            <a:endParaRPr lang="en-US" sz="1400">
              <a:latin typeface="Georgia Pro" panose="02040502050405020303" pitchFamily="18" charset="0"/>
            </a:endParaRPr>
          </a:p>
          <a:p>
            <a:pPr algn="l"/>
            <a:r>
              <a:rPr lang="en-US" sz="1400" b="1">
                <a:latin typeface="Georgia Pro" panose="02040502050405020303" pitchFamily="18" charset="0"/>
              </a:rPr>
              <a:t>Lee, K. M., &amp; Emsley, R. (2024). </a:t>
            </a:r>
            <a:r>
              <a:rPr lang="en-US" sz="1400">
                <a:latin typeface="Georgia Pro" panose="02040502050405020303" pitchFamily="18" charset="0"/>
              </a:rPr>
              <a:t>The impact of heterogeneity on the analysis of platform trials with normally distributed outcomes. </a:t>
            </a:r>
            <a:r>
              <a:rPr lang="en-US" sz="1400" i="1">
                <a:latin typeface="Georgia Pro" panose="02040502050405020303" pitchFamily="18" charset="0"/>
              </a:rPr>
              <a:t>BMC Medical Research Methodology, 24</a:t>
            </a:r>
            <a:r>
              <a:rPr lang="en-US" sz="1400">
                <a:latin typeface="Georgia Pro" panose="02040502050405020303" pitchFamily="18" charset="0"/>
              </a:rPr>
              <a:t>, Article 163. </a:t>
            </a:r>
            <a:r>
              <a:rPr lang="en-US" sz="1400">
                <a:latin typeface="Georgia Pro" panose="02040502050405020303" pitchFamily="18" charset="0"/>
                <a:hlinkClick r:id="rId5"/>
              </a:rPr>
              <a:t>https://doi.org/10.1186/s12874-024-02293-4</a:t>
            </a:r>
            <a:endParaRPr lang="en-US" sz="1400">
              <a:latin typeface="Georgia Pro" panose="02040502050405020303" pitchFamily="18" charset="0"/>
            </a:endParaRPr>
          </a:p>
          <a:p>
            <a:pPr algn="l"/>
            <a:r>
              <a:rPr lang="en-US" sz="1400" b="1">
                <a:latin typeface="Georgia Pro" panose="02040502050405020303" pitchFamily="18" charset="0"/>
              </a:rPr>
              <a:t>Tamo, J. B. (2026). </a:t>
            </a:r>
            <a:r>
              <a:rPr lang="en-US" sz="1400">
                <a:latin typeface="Georgia Pro" panose="02040502050405020303" pitchFamily="18" charset="0"/>
              </a:rPr>
              <a:t>Causal machine learning for surgical interventions. </a:t>
            </a:r>
            <a:r>
              <a:rPr lang="en-US" sz="1400" i="1">
                <a:latin typeface="Georgia Pro" panose="02040502050405020303" pitchFamily="18" charset="0"/>
              </a:rPr>
              <a:t>Big Data Mining and Analytics</a:t>
            </a:r>
            <a:r>
              <a:rPr lang="en-US" sz="1400">
                <a:latin typeface="Georgia Pro" panose="02040502050405020303" pitchFamily="18" charset="0"/>
              </a:rPr>
              <a:t>. </a:t>
            </a:r>
            <a:r>
              <a:rPr lang="en-US" sz="1400">
                <a:latin typeface="Georgia Pro" panose="02040502050405020303" pitchFamily="18" charset="0"/>
                <a:hlinkClick r:id="rId6"/>
              </a:rPr>
              <a:t>https://www.sciopen.com/article/10.26599/BDMA.2025.9020093</a:t>
            </a:r>
            <a:endParaRPr lang="en-US" sz="1400">
              <a:latin typeface="Georgia Pro" panose="02040502050405020303" pitchFamily="18" charset="0"/>
            </a:endParaRPr>
          </a:p>
          <a:p>
            <a:pPr algn="l"/>
            <a:r>
              <a:rPr lang="en-US" sz="1400" b="1">
                <a:latin typeface="Georgia Pro" panose="02040502050405020303" pitchFamily="18" charset="0"/>
              </a:rPr>
              <a:t>Tian, H., Tom, B. D. M., &amp; Burgess, S. (2024). </a:t>
            </a:r>
            <a:r>
              <a:rPr lang="en-US" sz="1400">
                <a:latin typeface="Georgia Pro" panose="02040502050405020303" pitchFamily="18" charset="0"/>
              </a:rPr>
              <a:t>A data-adaptive method for investigating effect heterogeneity with high-dimensional covariates in Mendelian randomization. </a:t>
            </a:r>
            <a:r>
              <a:rPr lang="en-US" sz="1400" i="1">
                <a:latin typeface="Georgia Pro" panose="02040502050405020303" pitchFamily="18" charset="0"/>
              </a:rPr>
              <a:t>BMC Medical Research Methodology, 24</a:t>
            </a:r>
            <a:r>
              <a:rPr lang="en-US" sz="1400">
                <a:latin typeface="Georgia Pro" panose="02040502050405020303" pitchFamily="18" charset="0"/>
              </a:rPr>
              <a:t>, Article 34. </a:t>
            </a:r>
            <a:r>
              <a:rPr lang="en-US" sz="1400">
                <a:latin typeface="Georgia Pro" panose="02040502050405020303" pitchFamily="18" charset="0"/>
                <a:hlinkClick r:id="rId7"/>
              </a:rPr>
              <a:t>https://doi.org/10.1186/s12874-024-02153-1</a:t>
            </a:r>
            <a:endParaRPr lang="en-US" sz="1400">
              <a:latin typeface="Georgia Pro" panose="02040502050405020303" pitchFamily="18" charset="0"/>
            </a:endParaRPr>
          </a:p>
          <a:p>
            <a:pPr algn="l"/>
            <a:r>
              <a:rPr lang="en-US" sz="1400" b="1">
                <a:latin typeface="Georgia Pro" panose="02040502050405020303" pitchFamily="18" charset="0"/>
              </a:rPr>
              <a:t>Yang, T., &amp; Noor-E-Alam, M. (2025). </a:t>
            </a:r>
            <a:r>
              <a:rPr lang="en-US" sz="1400" i="1">
                <a:latin typeface="Georgia Pro" panose="02040502050405020303" pitchFamily="18" charset="0"/>
              </a:rPr>
              <a:t>Optimizing feature selection in causal inference: A three-stage computational framework for unbiased estimation</a:t>
            </a:r>
            <a:r>
              <a:rPr lang="en-US" sz="1400">
                <a:latin typeface="Georgia Pro" panose="02040502050405020303" pitchFamily="18" charset="0"/>
              </a:rPr>
              <a:t>. </a:t>
            </a:r>
            <a:r>
              <a:rPr lang="en-US" sz="1400" err="1">
                <a:latin typeface="Georgia Pro" panose="02040502050405020303" pitchFamily="18" charset="0"/>
              </a:rPr>
              <a:t>arXiv</a:t>
            </a:r>
            <a:r>
              <a:rPr lang="en-US" sz="1400">
                <a:latin typeface="Georgia Pro" panose="02040502050405020303" pitchFamily="18" charset="0"/>
              </a:rPr>
              <a:t>. </a:t>
            </a:r>
            <a:r>
              <a:rPr lang="en-US" sz="1400">
                <a:latin typeface="Georgia Pro" panose="02040502050405020303" pitchFamily="18" charset="0"/>
                <a:hlinkClick r:id="rId8"/>
              </a:rPr>
              <a:t>https://arxiv.org/abs/2502.00501</a:t>
            </a:r>
            <a:r>
              <a:rPr lang="en-US" sz="1400">
                <a:latin typeface="Georgia Pro" panose="02040502050405020303" pitchFamily="18" charset="0"/>
              </a:rPr>
              <a:t> </a:t>
            </a:r>
          </a:p>
          <a:p>
            <a:pPr algn="l"/>
            <a:r>
              <a:rPr lang="en-US" sz="1400" b="1">
                <a:latin typeface="Georgia Pro" panose="02040502050405020303" pitchFamily="18" charset="0"/>
              </a:rPr>
              <a:t>Maas, C. C. H. M., Kent, D. M., Hughes, M. C., et al. (2023). </a:t>
            </a:r>
            <a:r>
              <a:rPr lang="en-US" sz="1400">
                <a:latin typeface="Georgia Pro" panose="02040502050405020303" pitchFamily="18" charset="0"/>
              </a:rPr>
              <a:t>Performance metrics for models designed to predict treatment effect. </a:t>
            </a:r>
            <a:r>
              <a:rPr lang="en-US" sz="1400" i="1">
                <a:latin typeface="Georgia Pro" panose="02040502050405020303" pitchFamily="18" charset="0"/>
              </a:rPr>
              <a:t>BMC Medical Research Methodology, 23</a:t>
            </a:r>
            <a:r>
              <a:rPr lang="en-US" sz="1400">
                <a:latin typeface="Georgia Pro" panose="02040502050405020303" pitchFamily="18" charset="0"/>
              </a:rPr>
              <a:t>, 165. </a:t>
            </a:r>
            <a:r>
              <a:rPr lang="en-US" sz="1400">
                <a:latin typeface="Georgia Pro" panose="02040502050405020303" pitchFamily="18" charset="0"/>
                <a:hlinkClick r:id="rId9"/>
              </a:rPr>
              <a:t>https://doi.org/10.1186/s12874-023-01974-w</a:t>
            </a:r>
            <a:endParaRPr lang="en-US" sz="1400">
              <a:latin typeface="Georgia Pro" panose="02040502050405020303" pitchFamily="18" charset="0"/>
            </a:endParaRPr>
          </a:p>
          <a:p>
            <a:pPr algn="l"/>
            <a:r>
              <a:rPr lang="en-US" sz="1400" b="1">
                <a:latin typeface="Georgia Pro" panose="02040502050405020303" pitchFamily="18" charset="0"/>
              </a:rPr>
              <a:t>Yang, J., Wan, Y., Ni, Q., et al. (2022). </a:t>
            </a:r>
            <a:r>
              <a:rPr lang="en-US" sz="1400">
                <a:latin typeface="Georgia Pro" panose="02040502050405020303" pitchFamily="18" charset="0"/>
              </a:rPr>
              <a:t>Quantifying causal effects from observed data using quasi-intervention. </a:t>
            </a:r>
            <a:r>
              <a:rPr lang="en-US" sz="1400" i="1">
                <a:latin typeface="Georgia Pro" panose="02040502050405020303" pitchFamily="18" charset="0"/>
              </a:rPr>
              <a:t>BMC Medical Informatics and Decision Making, 22</a:t>
            </a:r>
            <a:r>
              <a:rPr lang="en-US" sz="1400">
                <a:latin typeface="Georgia Pro" panose="02040502050405020303" pitchFamily="18" charset="0"/>
              </a:rPr>
              <a:t>, 337. </a:t>
            </a:r>
            <a:r>
              <a:rPr lang="en-US" sz="1400">
                <a:latin typeface="Georgia Pro" panose="02040502050405020303" pitchFamily="18" charset="0"/>
                <a:hlinkClick r:id="rId10"/>
              </a:rPr>
              <a:t>https://doi.org/10.1186/s12911-022-02086-z</a:t>
            </a:r>
            <a:br>
              <a:rPr lang="en-US" sz="1400">
                <a:latin typeface="Georgia Pro" panose="02040502050405020303" pitchFamily="18" charset="0"/>
              </a:rPr>
            </a:br>
            <a:r>
              <a:rPr lang="en-US" sz="1400">
                <a:latin typeface="Georgia Pro" panose="02040502050405020303" pitchFamily="18" charset="0"/>
              </a:rPr>
              <a:t>Austin, P. C., White, I. R., Lee, D. S., &amp; van Buuren, S. (2021). Missing data in clinical research: A tutorial on multiple imputation. </a:t>
            </a:r>
            <a:r>
              <a:rPr lang="en-US" sz="1400" i="1">
                <a:latin typeface="Georgia Pro" panose="02040502050405020303" pitchFamily="18" charset="0"/>
              </a:rPr>
              <a:t>The Canadian Journal of Cardiology, 37</a:t>
            </a:r>
            <a:r>
              <a:rPr lang="en-US" sz="1400">
                <a:latin typeface="Georgia Pro" panose="02040502050405020303" pitchFamily="18" charset="0"/>
              </a:rPr>
              <a:t>(9), 1322–1331. </a:t>
            </a:r>
            <a:r>
              <a:rPr lang="en-US" sz="1400">
                <a:latin typeface="Georgia Pro" panose="02040502050405020303" pitchFamily="18" charset="0"/>
                <a:hlinkClick r:id="rId11"/>
              </a:rPr>
              <a:t>https://doi.org/10.1016/j.cjca.2020.11.010</a:t>
            </a:r>
            <a:endParaRPr lang="en-US" sz="1400">
              <a:latin typeface="Georgia Pro" panose="02040502050405020303" pitchFamily="18" charset="0"/>
            </a:endParaRPr>
          </a:p>
          <a:p>
            <a:pPr algn="l"/>
            <a:r>
              <a:rPr lang="en-US" sz="1400" b="1">
                <a:latin typeface="Georgia Pro" panose="02040502050405020303" pitchFamily="18" charset="0"/>
              </a:rPr>
              <a:t>Zhao, Z., Zhang, Y., </a:t>
            </a:r>
            <a:r>
              <a:rPr lang="en-US" sz="1400" b="1" err="1">
                <a:latin typeface="Georgia Pro" panose="02040502050405020303" pitchFamily="18" charset="0"/>
              </a:rPr>
              <a:t>Harinen</a:t>
            </a:r>
            <a:r>
              <a:rPr lang="en-US" sz="1400" b="1">
                <a:latin typeface="Georgia Pro" panose="02040502050405020303" pitchFamily="18" charset="0"/>
              </a:rPr>
              <a:t>, T., &amp; Yung, M. (2022). </a:t>
            </a:r>
            <a:r>
              <a:rPr lang="en-US" sz="1400">
                <a:latin typeface="Georgia Pro" panose="02040502050405020303" pitchFamily="18" charset="0"/>
              </a:rPr>
              <a:t>Feature selection methods for uplift modeling and heterogeneous treatment effect. In </a:t>
            </a:r>
            <a:r>
              <a:rPr lang="en-US" sz="1400" i="1">
                <a:latin typeface="Georgia Pro" panose="02040502050405020303" pitchFamily="18" charset="0"/>
              </a:rPr>
              <a:t>Proceedings of the 18th IFIP International Conference on Artificial Intelligence Applications and Innovations (AIAI)</a:t>
            </a:r>
            <a:r>
              <a:rPr lang="en-US" sz="1400">
                <a:latin typeface="Georgia Pro" panose="02040502050405020303" pitchFamily="18" charset="0"/>
              </a:rPr>
              <a:t> (pp. 217–230). Springer. https://doi.org/10.1007/978-3-031-08337-2_19</a:t>
            </a:r>
          </a:p>
          <a:p>
            <a:pPr algn="l"/>
            <a:endParaRPr lang="en-US" sz="1400">
              <a:latin typeface="Georgia Pro" panose="02040502050405020303" pitchFamily="18" charset="0"/>
            </a:endParaRPr>
          </a:p>
          <a:p>
            <a:pPr algn="l"/>
            <a:endParaRPr lang="en-US" sz="1400">
              <a:latin typeface="Georgia Pro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38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C0F23C69-4180-3E9F-0429-CEB8355D1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380" y="2932358"/>
            <a:ext cx="10817240" cy="99328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>
                <a:latin typeface="Georgia Pro"/>
              </a:rPr>
              <a:t>How can patient-specific treatment effects of surgery versus conservative care be estimated to support shared decision making?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C9C385-4C6B-0151-80A4-CB4E2F03A265}"/>
                  </a:ext>
                </a:extLst>
              </p:cNvPr>
              <p:cNvSpPr txBox="1"/>
              <p:nvPr/>
            </p:nvSpPr>
            <p:spPr>
              <a:xfrm>
                <a:off x="687380" y="4015913"/>
                <a:ext cx="1081724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800" i="1">
                    <a:latin typeface="Georgia Pro" panose="02040502050405020303" pitchFamily="18" charset="0"/>
                  </a:rPr>
                  <a:t>For outcome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lang="ar-AE" sz="2800" i="1">
                    <a:latin typeface="Georgia Pro" panose="02040502050405020303" pitchFamily="18" charset="0"/>
                  </a:rPr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800" b="0" i="1">
                              <a:latin typeface="Georgia Pro" panose="02040502050405020303" pitchFamily="18" charset="0"/>
                            </a:rPr>
                            <m:t>TE</m:t>
                          </m:r>
                        </m:e>
                        <m:sub>
                          <m:r>
                            <a:rPr lang="ar-AE" sz="2800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ar-AE" sz="2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8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 b="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800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ar-AE" sz="28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8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ar-AE" sz="28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800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ar-AE" sz="28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8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ar-AE" sz="2800" b="0" i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2800" b="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ar-AE" sz="2800" b="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8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sz="2800" b="0" i="1">
                  <a:latin typeface="Georgia Pro" panose="02040502050405020303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C9C385-4C6B-0151-80A4-CB4E2F03A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0" y="4015913"/>
                <a:ext cx="10817240" cy="954107"/>
              </a:xfrm>
              <a:prstGeom prst="rect">
                <a:avLst/>
              </a:prstGeom>
              <a:blipFill>
                <a:blip r:embed="rId2"/>
                <a:stretch>
                  <a:fillRect l="-1184" t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670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BBDE09-3E5C-0051-7D23-381EE9D4D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888" y="570246"/>
            <a:ext cx="10290000" cy="763600"/>
          </a:xfrm>
        </p:spPr>
        <p:txBody>
          <a:bodyPr/>
          <a:lstStyle/>
          <a:p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Model pipeline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Georgia Pro" panose="02040502050405020303" pitchFamily="18" charset="0"/>
              </a:rPr>
              <a:t>(1/1)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98E3449-4073-A76C-6768-FE62E44A11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4151193"/>
              </p:ext>
            </p:extLst>
          </p:nvPr>
        </p:nvGraphicFramePr>
        <p:xfrm>
          <a:off x="375340" y="722754"/>
          <a:ext cx="11816660" cy="6011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3339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9CC06-1887-7608-11A6-B974F7BB2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7" y="857557"/>
            <a:ext cx="11563555" cy="763600"/>
          </a:xfrm>
        </p:spPr>
        <p:txBody>
          <a:bodyPr/>
          <a:lstStyle/>
          <a:p>
            <a:r>
              <a:rPr lang="en-US" sz="4000" b="1">
                <a:latin typeface="Georgia Pro" panose="02040502050405020303" pitchFamily="18" charset="0"/>
              </a:rPr>
              <a:t>Data exploratory and Preprocessing </a:t>
            </a:r>
            <a:r>
              <a:rPr lang="en-US" sz="3000" b="1">
                <a:latin typeface="Georgia Pro" panose="02040502050405020303" pitchFamily="18" charset="0"/>
              </a:rPr>
              <a:t>(1/4)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4D34D2-439B-D29E-4578-CAA88EBB16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3" t="2349" r="2536" b="2233"/>
          <a:stretch>
            <a:fillRect/>
          </a:stretch>
        </p:blipFill>
        <p:spPr bwMode="auto">
          <a:xfrm>
            <a:off x="950967" y="1920254"/>
            <a:ext cx="5319131" cy="317809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743981-4DDC-04A4-66FC-085388EBD049}"/>
              </a:ext>
            </a:extLst>
          </p:cNvPr>
          <p:cNvSpPr txBox="1"/>
          <p:nvPr/>
        </p:nvSpPr>
        <p:spPr>
          <a:xfrm>
            <a:off x="6394327" y="2237736"/>
            <a:ext cx="5555974" cy="2543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Georgia Pro" panose="02040502050405020303" pitchFamily="18" charset="0"/>
              </a:rPr>
              <a:t>EDA Insight:</a:t>
            </a:r>
            <a:r>
              <a:rPr lang="en-US">
                <a:latin typeface="Georgia Pro" panose="02040502050405020303" pitchFamily="18" charset="0"/>
              </a:rPr>
              <a:t> Treatment assignment is highly imbalanced (24% surgery).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Georgia Pro" panose="02040502050405020303" pitchFamily="18" charset="0"/>
              </a:rPr>
              <a:t>Implication:</a:t>
            </a:r>
            <a:r>
              <a:rPr lang="en-US">
                <a:latin typeface="Georgia Pro" panose="02040502050405020303" pitchFamily="18" charset="0"/>
              </a:rPr>
              <a:t> Strong selection bias; naive outcome comparisons are invalid.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Georgia Pro" panose="02040502050405020303" pitchFamily="18" charset="0"/>
              </a:rPr>
              <a:t>Solution:</a:t>
            </a:r>
            <a:r>
              <a:rPr lang="en-US">
                <a:latin typeface="Georgia Pro" panose="02040502050405020303" pitchFamily="18" charset="0"/>
              </a:rPr>
              <a:t> Propensity score modeling with IPW and balance diagnostics.</a:t>
            </a:r>
          </a:p>
        </p:txBody>
      </p:sp>
    </p:spTree>
    <p:extLst>
      <p:ext uri="{BB962C8B-B14F-4D97-AF65-F5344CB8AC3E}">
        <p14:creationId xmlns:p14="http://schemas.microsoft.com/office/powerpoint/2010/main" val="545716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A3381D-1A00-28E5-61E9-DB1DAEBB6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7683" y="2486336"/>
            <a:ext cx="5853870" cy="313182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E36A12-EDAD-DBDF-C06C-1BE20AC04161}"/>
              </a:ext>
            </a:extLst>
          </p:cNvPr>
          <p:cNvSpPr txBox="1"/>
          <p:nvPr/>
        </p:nvSpPr>
        <p:spPr>
          <a:xfrm>
            <a:off x="6678556" y="1949684"/>
            <a:ext cx="5314969" cy="4205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Georgia Pro" panose="02040502050405020303" pitchFamily="18" charset="0"/>
              </a:rPr>
              <a:t>EDA Insight: </a:t>
            </a:r>
            <a:r>
              <a:rPr lang="en-US">
                <a:latin typeface="Georgia Pro" panose="02040502050405020303" pitchFamily="18" charset="0"/>
              </a:rPr>
              <a:t>Outcomes exhibit strong skewness and bimodality.</a:t>
            </a:r>
            <a:endParaRPr lang="en-US" b="1">
              <a:latin typeface="Georgia Pro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Georgia Pro" panose="02040502050405020303" pitchFamily="18" charset="0"/>
              </a:rPr>
              <a:t>Implication: </a:t>
            </a:r>
            <a:r>
              <a:rPr lang="en-US">
                <a:latin typeface="Georgia Pro" panose="02040502050405020303" pitchFamily="18" charset="0"/>
              </a:rPr>
              <a:t>Treatment effects are heterogeneous and non-linear.</a:t>
            </a:r>
            <a:endParaRPr lang="en-US" b="1">
              <a:latin typeface="Georgia Pro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Georgia Pro" panose="02040502050405020303" pitchFamily="18" charset="0"/>
              </a:rPr>
              <a:t>Solution: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Georgia Pro" panose="02040502050405020303" pitchFamily="18" charset="0"/>
              </a:rPr>
              <a:t>Log1p transformation for cost and time outcomes.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Georgia Pro" panose="02040502050405020303" pitchFamily="18" charset="0"/>
              </a:rPr>
              <a:t>Causal meta-learners with outcome-specific modeling.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Georgia Pro" panose="02040502050405020303" pitchFamily="18" charset="0"/>
              </a:rPr>
              <a:t>R-loss.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8046139-49A7-E714-2EAF-DA24B9F88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83" y="836291"/>
            <a:ext cx="11265842" cy="763600"/>
          </a:xfrm>
        </p:spPr>
        <p:txBody>
          <a:bodyPr/>
          <a:lstStyle/>
          <a:p>
            <a:r>
              <a:rPr lang="en-US" sz="4000" b="1">
                <a:latin typeface="Georgia Pro" panose="02040502050405020303" pitchFamily="18" charset="0"/>
              </a:rPr>
              <a:t>Data exploratory and Preprocessing </a:t>
            </a:r>
            <a:r>
              <a:rPr lang="en-US" sz="3000" b="1">
                <a:latin typeface="Georgia Pro" panose="02040502050405020303" pitchFamily="18" charset="0"/>
              </a:rPr>
              <a:t>(2/4)</a:t>
            </a:r>
          </a:p>
        </p:txBody>
      </p:sp>
    </p:spTree>
    <p:extLst>
      <p:ext uri="{BB962C8B-B14F-4D97-AF65-F5344CB8AC3E}">
        <p14:creationId xmlns:p14="http://schemas.microsoft.com/office/powerpoint/2010/main" val="934717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E2439-98C8-1C0B-6E7D-B4DA45053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47E4A76-B56D-A1E3-1774-8D92A57AF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82" y="836291"/>
            <a:ext cx="11595452" cy="763600"/>
          </a:xfrm>
        </p:spPr>
        <p:txBody>
          <a:bodyPr/>
          <a:lstStyle/>
          <a:p>
            <a:r>
              <a:rPr lang="en-US" sz="4000" b="1">
                <a:latin typeface="Georgia Pro" panose="02040502050405020303" pitchFamily="18" charset="0"/>
              </a:rPr>
              <a:t>Data exploratory and Preprocessing </a:t>
            </a:r>
            <a:r>
              <a:rPr lang="en-US" sz="3000" b="1">
                <a:latin typeface="Georgia Pro" panose="02040502050405020303" pitchFamily="18" charset="0"/>
              </a:rPr>
              <a:t>(3/4)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91D382-447A-8912-8333-3519FB213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716" y="1686995"/>
            <a:ext cx="6850061" cy="362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D652B0-0F38-6D2C-82F8-9695E47C42E2}"/>
              </a:ext>
            </a:extLst>
          </p:cNvPr>
          <p:cNvSpPr txBox="1"/>
          <p:nvPr/>
        </p:nvSpPr>
        <p:spPr>
          <a:xfrm>
            <a:off x="4945449" y="3620385"/>
            <a:ext cx="7377685" cy="21276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Georgia Pro"/>
              </a:rPr>
              <a:t>EDA Insight: </a:t>
            </a:r>
            <a:r>
              <a:rPr lang="en-US">
                <a:latin typeface="Georgia Pro"/>
              </a:rPr>
              <a:t>Outcome distributions differ substantially by treatment group.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Georgia Pro"/>
              </a:rPr>
              <a:t>Implication: </a:t>
            </a:r>
            <a:r>
              <a:rPr lang="en-US">
                <a:latin typeface="Georgia Pro"/>
              </a:rPr>
              <a:t>Differences may reflect causal effects or confounding.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Georgia Pro"/>
              </a:rPr>
              <a:t>Solution: </a:t>
            </a:r>
            <a:r>
              <a:rPr lang="en-US">
                <a:latin typeface="Georgia Pro"/>
              </a:rPr>
              <a:t>Doubly robust causal learning with balance diagnostics.</a:t>
            </a:r>
          </a:p>
        </p:txBody>
      </p:sp>
    </p:spTree>
    <p:extLst>
      <p:ext uri="{BB962C8B-B14F-4D97-AF65-F5344CB8AC3E}">
        <p14:creationId xmlns:p14="http://schemas.microsoft.com/office/powerpoint/2010/main" val="327429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9CCF8-23B0-2960-60FA-6808E9625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BAFA100-D92A-0B59-65DB-A0B5EF0FB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887" y="609907"/>
            <a:ext cx="11244577" cy="763600"/>
          </a:xfrm>
        </p:spPr>
        <p:txBody>
          <a:bodyPr/>
          <a:lstStyle/>
          <a:p>
            <a:r>
              <a:rPr lang="en-US" sz="4000" b="1">
                <a:latin typeface="Georgia Pro" panose="02040502050405020303" pitchFamily="18" charset="0"/>
              </a:rPr>
              <a:t>Data exploratory and Preprocessing </a:t>
            </a:r>
            <a:r>
              <a:rPr lang="en-US" sz="3000" b="1">
                <a:latin typeface="Georgia Pro" panose="02040502050405020303" pitchFamily="18" charset="0"/>
              </a:rPr>
              <a:t>(4/4)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B7AE6D-D69C-7637-0DE3-68F1AB9C1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8" y="1456035"/>
            <a:ext cx="3574894" cy="50066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8EEDEC-EAAE-DD20-8A43-4C0995131580}"/>
              </a:ext>
            </a:extLst>
          </p:cNvPr>
          <p:cNvSpPr txBox="1"/>
          <p:nvPr/>
        </p:nvSpPr>
        <p:spPr>
          <a:xfrm>
            <a:off x="3838353" y="3062029"/>
            <a:ext cx="8353647" cy="1712135"/>
          </a:xfrm>
          <a:prstGeom prst="rect">
            <a:avLst/>
          </a:prstGeom>
          <a:solidFill>
            <a:schemeClr val="accent2">
              <a:lumMod val="20000"/>
              <a:lumOff val="80000"/>
              <a:alpha val="43922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Georgia Pro" panose="02040502050405020303" pitchFamily="18" charset="0"/>
              </a:rPr>
              <a:t>EDA Insight: </a:t>
            </a:r>
            <a:r>
              <a:rPr lang="en-US">
                <a:latin typeface="Georgia Pro" panose="02040502050405020303" pitchFamily="18" charset="0"/>
              </a:rPr>
              <a:t>No Duplicate, Substantial and variable missingness across baseline features.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Georgia Pro" panose="02040502050405020303" pitchFamily="18" charset="0"/>
              </a:rPr>
              <a:t>Implication: </a:t>
            </a:r>
            <a:r>
              <a:rPr lang="en-US">
                <a:latin typeface="Georgia Pro" panose="02040502050405020303" pitchFamily="18" charset="0"/>
              </a:rPr>
              <a:t>Dropping data would introduce bias and reduce power.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Georgia Pro" panose="02040502050405020303" pitchFamily="18" charset="0"/>
              </a:rPr>
              <a:t>Solution: </a:t>
            </a:r>
            <a:r>
              <a:rPr lang="en-US">
                <a:latin typeface="Georgia Pro" panose="02040502050405020303" pitchFamily="18" charset="0"/>
              </a:rPr>
              <a:t>Structured imputation with explicit missingness indicators.</a:t>
            </a:r>
          </a:p>
        </p:txBody>
      </p:sp>
    </p:spTree>
    <p:extLst>
      <p:ext uri="{BB962C8B-B14F-4D97-AF65-F5344CB8AC3E}">
        <p14:creationId xmlns:p14="http://schemas.microsoft.com/office/powerpoint/2010/main" val="2825063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BAD2-8CA9-B0E1-477C-1214A68D5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F716F-F56F-D703-01B4-C38EA1C44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481" y="712381"/>
            <a:ext cx="6356496" cy="770552"/>
          </a:xfrm>
        </p:spPr>
        <p:txBody>
          <a:bodyPr/>
          <a:lstStyle/>
          <a:p>
            <a:r>
              <a:rPr lang="en-US" sz="4000" b="1">
                <a:latin typeface="Georgia Pro" panose="02040502050405020303" pitchFamily="18" charset="0"/>
              </a:rPr>
              <a:t>Key Methodology </a:t>
            </a:r>
            <a:r>
              <a:rPr lang="en-US" sz="3000" b="1">
                <a:latin typeface="Georgia Pro" panose="02040502050405020303" pitchFamily="18" charset="0"/>
              </a:rPr>
              <a:t>(1/5)</a:t>
            </a:r>
            <a:br>
              <a:rPr lang="en-US" sz="3000" b="1">
                <a:latin typeface="Georgia Pro" panose="02040502050405020303" pitchFamily="18" charset="0"/>
              </a:rPr>
            </a:br>
            <a:br>
              <a:rPr lang="en-US" sz="3000" b="1">
                <a:latin typeface="Georgia Pro" panose="02040502050405020303" pitchFamily="18" charset="0"/>
              </a:rPr>
            </a:br>
            <a:br>
              <a:rPr lang="en-US" sz="1600" b="1">
                <a:latin typeface="Georgia Pro" panose="02040502050405020303" pitchFamily="18" charset="0"/>
              </a:rPr>
            </a:br>
            <a:br>
              <a:rPr lang="en-US" sz="1600" b="1">
                <a:latin typeface="Georgia Pro" panose="02040502050405020303" pitchFamily="18" charset="0"/>
              </a:rPr>
            </a:br>
            <a:br>
              <a:rPr lang="ar-AE" sz="1600">
                <a:latin typeface="Georgia Pro" panose="02040502050405020303" pitchFamily="18" charset="0"/>
              </a:rPr>
            </a:br>
            <a:endParaRPr lang="en-US" sz="1600">
              <a:latin typeface="Georgia Pro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D24C2C-6CB2-4ED8-415A-E125F416D544}"/>
              </a:ext>
            </a:extLst>
          </p:cNvPr>
          <p:cNvSpPr txBox="1"/>
          <p:nvPr/>
        </p:nvSpPr>
        <p:spPr>
          <a:xfrm>
            <a:off x="820480" y="3054495"/>
            <a:ext cx="4740348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>
                <a:latin typeface="Georgia Pro" panose="02040502050405020303" pitchFamily="18" charset="0"/>
              </a:rPr>
              <a:t>Why:</a:t>
            </a:r>
            <a:br>
              <a:rPr lang="en-US">
                <a:latin typeface="Georgia Pro" panose="02040502050405020303" pitchFamily="18" charset="0"/>
              </a:rPr>
            </a:br>
            <a:r>
              <a:rPr lang="en-US" i="1">
                <a:latin typeface="Georgia Pro" panose="02040502050405020303" pitchFamily="18" charset="0"/>
              </a:rPr>
              <a:t>Help model focusing on who benefits more rather than just predicting outcomes.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FD6662-782C-7578-C854-6C748709DB57}"/>
              </a:ext>
            </a:extLst>
          </p:cNvPr>
          <p:cNvSpPr txBox="1"/>
          <p:nvPr/>
        </p:nvSpPr>
        <p:spPr>
          <a:xfrm>
            <a:off x="820480" y="2685163"/>
            <a:ext cx="4368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Georgia Pro" panose="02040502050405020303" pitchFamily="18" charset="0"/>
              </a:rPr>
              <a:t>Uplift-aligned F-filter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3DD615B-ECA4-B4E9-27E9-D719E27D9621}"/>
                  </a:ext>
                </a:extLst>
              </p:cNvPr>
              <p:cNvSpPr txBox="1"/>
              <p:nvPr/>
            </p:nvSpPr>
            <p:spPr>
              <a:xfrm>
                <a:off x="5881578" y="1920691"/>
                <a:ext cx="6143845" cy="41142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>
                    <a:latin typeface="Georgia Pro" panose="02040502050405020303" pitchFamily="18" charset="0"/>
                  </a:rPr>
                  <a:t>Definition</a:t>
                </a:r>
                <a:br>
                  <a:rPr lang="en-US" sz="1600" b="1">
                    <a:latin typeface="Georgia Pro" panose="02040502050405020303" pitchFamily="18" charset="0"/>
                  </a:rPr>
                </a:br>
                <a:r>
                  <a:rPr lang="en-US" sz="1600">
                    <a:latin typeface="Georgia Pro" panose="02040502050405020303" pitchFamily="18" charset="0"/>
                  </a:rPr>
                  <a:t>Uplift-aligned F-filter is a feature-screening method that keeps only variables that change the treatment–control difference (individualized treatment effect).</a:t>
                </a:r>
              </a:p>
              <a:p>
                <a:br>
                  <a:rPr lang="en-US" sz="1600">
                    <a:latin typeface="Georgia Pro" panose="02040502050405020303" pitchFamily="18" charset="0"/>
                  </a:rPr>
                </a:br>
                <a:r>
                  <a:rPr lang="en-US" sz="1600" b="1">
                    <a:latin typeface="Georgia Pro" panose="02040502050405020303" pitchFamily="18" charset="0"/>
                  </a:rPr>
                  <a:t>Core formulation</a:t>
                </a:r>
                <a:br>
                  <a:rPr lang="en-US" sz="1600" b="1">
                    <a:latin typeface="Georgia Pro" panose="02040502050405020303" pitchFamily="18" charset="0"/>
                  </a:rPr>
                </a:br>
                <a:r>
                  <a:rPr lang="en-US" sz="1600">
                    <a:latin typeface="Georgia Pro" panose="02040502050405020303" pitchFamily="18" charset="0"/>
                  </a:rPr>
                  <a:t>For each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1600">
                    <a:latin typeface="Georgia Pro" panose="02040502050405020303" pitchFamily="18" charset="0"/>
                  </a:rPr>
                  <a:t>, </a:t>
                </a:r>
                <a:r>
                  <a:rPr lang="en-US" sz="1600">
                    <a:latin typeface="Georgia Pro" panose="02040502050405020303" pitchFamily="18" charset="0"/>
                  </a:rPr>
                  <a:t>compute its interaction strength with treatment: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600" i="1">
                              <a:latin typeface="Georgia Pro" panose="02040502050405020303" pitchFamily="18" charset="0"/>
                            </a:rPr>
                            <m:t>Var</m:t>
                          </m:r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sepChr m:val=",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sepChr m:val=",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600" i="1">
                              <a:latin typeface="Georgia Pro" panose="02040502050405020303" pitchFamily="18" charset="0"/>
                            </a:rPr>
                            <m:t>Residual</m:t>
                          </m:r>
                          <m:r>
                            <m:rPr>
                              <m:nor/>
                            </m:rPr>
                            <a:rPr lang="en-US" sz="1600" i="1">
                              <a:latin typeface="Georgia Pro" panose="02040502050405020303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i="1">
                              <a:latin typeface="Georgia Pro" panose="02040502050405020303" pitchFamily="18" charset="0"/>
                            </a:rPr>
                            <m:t>variance</m:t>
                          </m:r>
                        </m:den>
                      </m:f>
                    </m:oMath>
                  </m:oMathPara>
                </a14:m>
                <a:endParaRPr lang="ar-AE" sz="1600" b="0">
                  <a:latin typeface="Georgia Pro" panose="02040502050405020303" pitchFamily="18" charset="0"/>
                </a:endParaRPr>
              </a:p>
              <a:p>
                <a:r>
                  <a:rPr lang="en-US" sz="1600">
                    <a:latin typeface="Georgia Pro" panose="02040502050405020303" pitchFamily="18" charset="0"/>
                  </a:rPr>
                  <a:t>Interpretation: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Georgia Pro" panose="02040502050405020303" pitchFamily="18" charset="0"/>
                  </a:rPr>
                  <a:t>High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>
                    <a:latin typeface="Georgia Pro" panose="02040502050405020303" pitchFamily="18" charset="0"/>
                  </a:rPr>
                  <a:t>:</a:t>
                </a:r>
                <a:r>
                  <a:rPr lang="ar-AE" sz="1600">
                    <a:latin typeface="Georgia Pro" panose="02040502050405020303" pitchFamily="18" charset="0"/>
                  </a:rPr>
                  <a:t> </a:t>
                </a:r>
                <a:r>
                  <a:rPr lang="en-US" sz="1600">
                    <a:latin typeface="Georgia Pro" panose="02040502050405020303" pitchFamily="18" charset="0"/>
                  </a:rPr>
                  <a:t> feature changes the gap between treatment and control → keep it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Georgia Pro" panose="02040502050405020303" pitchFamily="18" charset="0"/>
                  </a:rPr>
                  <a:t>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: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1600">
                    <a:latin typeface="Georgia Pro" panose="02040502050405020303" pitchFamily="18" charset="0"/>
                  </a:rPr>
                  <a:t> </a:t>
                </a:r>
                <a:r>
                  <a:rPr lang="en-US" sz="1600">
                    <a:latin typeface="Georgia Pro" panose="02040502050405020303" pitchFamily="18" charset="0"/>
                  </a:rPr>
                  <a:t>feature predicts outcome but not treatment effect → drop it</a:t>
                </a:r>
              </a:p>
              <a:p>
                <a:endParaRPr lang="en-US" sz="1600">
                  <a:latin typeface="Georgia Pro" panose="02040502050405020303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3DD615B-ECA4-B4E9-27E9-D719E27D9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578" y="1920691"/>
                <a:ext cx="6143845" cy="4114268"/>
              </a:xfrm>
              <a:prstGeom prst="rect">
                <a:avLst/>
              </a:prstGeom>
              <a:blipFill>
                <a:blip r:embed="rId2"/>
                <a:stretch>
                  <a:fillRect l="-595" t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5606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A67E7-8166-46B0-9960-E34417D66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481" y="712381"/>
            <a:ext cx="6356496" cy="770552"/>
          </a:xfrm>
        </p:spPr>
        <p:txBody>
          <a:bodyPr/>
          <a:lstStyle/>
          <a:p>
            <a:r>
              <a:rPr lang="en-US" sz="4000" b="1">
                <a:latin typeface="Georgia Pro" panose="02040502050405020303" pitchFamily="18" charset="0"/>
              </a:rPr>
              <a:t>Key Methodology </a:t>
            </a:r>
            <a:r>
              <a:rPr lang="en-US" sz="3000" b="1">
                <a:latin typeface="Georgia Pro" panose="02040502050405020303" pitchFamily="18" charset="0"/>
              </a:rPr>
              <a:t>(2/5)</a:t>
            </a:r>
            <a:br>
              <a:rPr lang="en-US" sz="3000" b="1">
                <a:latin typeface="Georgia Pro" panose="02040502050405020303" pitchFamily="18" charset="0"/>
              </a:rPr>
            </a:br>
            <a:br>
              <a:rPr lang="en-US" sz="3000" b="1">
                <a:latin typeface="Georgia Pro" panose="02040502050405020303" pitchFamily="18" charset="0"/>
              </a:rPr>
            </a:br>
            <a:br>
              <a:rPr lang="en-US" sz="1600" b="1">
                <a:latin typeface="Georgia Pro" panose="02040502050405020303" pitchFamily="18" charset="0"/>
              </a:rPr>
            </a:br>
            <a:br>
              <a:rPr lang="en-US" sz="1600" b="1">
                <a:latin typeface="Georgia Pro" panose="02040502050405020303" pitchFamily="18" charset="0"/>
              </a:rPr>
            </a:br>
            <a:br>
              <a:rPr lang="ar-AE" sz="1600">
                <a:latin typeface="Georgia Pro" panose="02040502050405020303" pitchFamily="18" charset="0"/>
              </a:rPr>
            </a:br>
            <a:endParaRPr lang="en-US" sz="1600">
              <a:latin typeface="Georgia Pro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4D812C-346F-D7A9-3530-E71720F9F707}"/>
              </a:ext>
            </a:extLst>
          </p:cNvPr>
          <p:cNvSpPr txBox="1"/>
          <p:nvPr/>
        </p:nvSpPr>
        <p:spPr>
          <a:xfrm>
            <a:off x="820480" y="3054495"/>
            <a:ext cx="4740348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>
                <a:latin typeface="Georgia Pro" panose="02040502050405020303" pitchFamily="18" charset="0"/>
              </a:rPr>
              <a:t>Why:</a:t>
            </a:r>
            <a:br>
              <a:rPr lang="en-US">
                <a:latin typeface="Georgia Pro" panose="02040502050405020303" pitchFamily="18" charset="0"/>
              </a:rPr>
            </a:br>
            <a:r>
              <a:rPr lang="en-US" i="1">
                <a:latin typeface="Georgia Pro" panose="02040502050405020303" pitchFamily="18" charset="0"/>
              </a:rPr>
              <a:t>Balance diagnostics justify causal estimation by confirming that treatment groups are comparable.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56028C-6FE6-A26B-E610-9678FA76ABEF}"/>
              </a:ext>
            </a:extLst>
          </p:cNvPr>
          <p:cNvSpPr txBox="1"/>
          <p:nvPr/>
        </p:nvSpPr>
        <p:spPr>
          <a:xfrm>
            <a:off x="820479" y="2408164"/>
            <a:ext cx="51355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Georgia Pro" panose="02040502050405020303" pitchFamily="18" charset="0"/>
              </a:rPr>
              <a:t>Propensity Score Weighting by Logistic Regression Model + Balance Diagnostics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C1FD83-3381-FC40-ADAB-1EACBA7038AE}"/>
                  </a:ext>
                </a:extLst>
              </p:cNvPr>
              <p:cNvSpPr txBox="1"/>
              <p:nvPr/>
            </p:nvSpPr>
            <p:spPr>
              <a:xfrm>
                <a:off x="5956005" y="1895151"/>
                <a:ext cx="6111948" cy="4400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1600" b="1">
                    <a:latin typeface="Georgia Pro" panose="02040502050405020303" pitchFamily="18" charset="0"/>
                  </a:rPr>
                  <a:t>Definition</a:t>
                </a:r>
                <a:br>
                  <a:rPr lang="en-US" sz="1600" b="1">
                    <a:latin typeface="Georgia Pro" panose="02040502050405020303" pitchFamily="18" charset="0"/>
                  </a:rPr>
                </a:br>
                <a:r>
                  <a:rPr lang="en-US" sz="1600" b="1">
                    <a:latin typeface="Georgia Pro" panose="02040502050405020303" pitchFamily="18" charset="0"/>
                  </a:rPr>
                  <a:t>Propensity score weighting (IPW)</a:t>
                </a:r>
                <a:r>
                  <a:rPr lang="en-US" sz="1600">
                    <a:latin typeface="Georgia Pro" panose="02040502050405020303" pitchFamily="18" charset="0"/>
                  </a:rPr>
                  <a:t> reweights observational data so that treated, and control groups become comparable with respect to baseline clinical covariates, approximating a randomized experiment.</a:t>
                </a:r>
                <a:br>
                  <a:rPr lang="en-US" sz="1600">
                    <a:latin typeface="Georgia Pro" panose="02040502050405020303" pitchFamily="18" charset="0"/>
                  </a:rPr>
                </a:br>
                <a:r>
                  <a:rPr lang="en-US" sz="1600" b="1">
                    <a:latin typeface="Georgia Pro" panose="02040502050405020303" pitchFamily="18" charset="0"/>
                  </a:rPr>
                  <a:t>Core formulation</a:t>
                </a:r>
                <a:br>
                  <a:rPr lang="en-US" sz="1600" b="1">
                    <a:latin typeface="Georgia Pro" panose="02040502050405020303" pitchFamily="18" charset="0"/>
                  </a:rPr>
                </a:br>
                <a:r>
                  <a:rPr lang="en-US" sz="1600">
                    <a:latin typeface="Georgia Pro" panose="02040502050405020303" pitchFamily="18" charset="0"/>
                  </a:rPr>
                  <a:t>Propensity score:</a:t>
                </a:r>
                <a:br>
                  <a:rPr lang="en-US" sz="1600">
                    <a:latin typeface="Georgia Pro" panose="02040502050405020303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br>
                  <a:rPr lang="ar-AE" sz="1600">
                    <a:latin typeface="Georgia Pro" panose="02040502050405020303" pitchFamily="18" charset="0"/>
                  </a:rPr>
                </a:br>
                <a:r>
                  <a:rPr lang="en-US" sz="1600">
                    <a:latin typeface="Georgia Pro" panose="02040502050405020303" pitchFamily="18" charset="0"/>
                  </a:rPr>
                  <a:t>Stabilized inverse probability weights:</a:t>
                </a:r>
                <a:br>
                  <a:rPr lang="en-US" sz="1600">
                    <a:latin typeface="Georgia Pro" panose="02040502050405020303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ar-AE" sz="160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ar-AE" sz="16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d>
                                      <m:dPr>
                                        <m:ctrlP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ar-AE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 sz="1600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ar-AE" sz="16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600" i="1">
                                    <a:latin typeface="Georgia Pro" panose="02040502050405020303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600" i="1">
                                    <a:latin typeface="Georgia Pro" panose="02040502050405020303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sz="16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16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ar-AE" sz="160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ar-AE" sz="160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ar-AE" sz="16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ar-AE" sz="160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d>
                                      <m:dPr>
                                        <m:ctrlP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ar-AE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 sz="1600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ar-AE" sz="16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600" i="1">
                                    <a:latin typeface="Georgia Pro" panose="02040502050405020303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600" i="1">
                                    <a:latin typeface="Georgia Pro" panose="02040502050405020303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sz="16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16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br>
                  <a:rPr lang="ar-AE" sz="1600">
                    <a:latin typeface="Georgia Pro" panose="02040502050405020303" pitchFamily="18" charset="0"/>
                  </a:rPr>
                </a:br>
                <a:r>
                  <a:rPr lang="en-US" sz="1600">
                    <a:latin typeface="Georgia Pro" panose="02040502050405020303" pitchFamily="18" charset="0"/>
                  </a:rPr>
                  <a:t>Balance diagnostic (Standardized Mean Difference):</a:t>
                </a:r>
                <a:br>
                  <a:rPr lang="en-US" sz="1600">
                    <a:latin typeface="Georgia Pro" panose="02040502050405020303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b="0">
                          <a:latin typeface="Georgia Pro" panose="02040502050405020303" pitchFamily="18" charset="0"/>
                        </a:rPr>
                        <m:t>SMD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limUpp>
                                <m:limUpp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limUpp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lim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ˉ</m:t>
                                  </m:r>
                                </m:lim>
                              </m:limUpp>
                            </m:e>
                            <m:sub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limUpp>
                                <m:limUpp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limUpp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lim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ˉ</m:t>
                                  </m:r>
                                </m:lim>
                              </m:limUpp>
                            </m:e>
                            <m:sub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 i="1">
                                  <a:latin typeface="Georgia Pro" panose="02040502050405020303" pitchFamily="18" charset="0"/>
                                </a:rPr>
                                <m:t>pooled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>
                  <a:latin typeface="Georgia Pro" panose="02040502050405020303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C1FD83-3381-FC40-ADAB-1EACBA703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005" y="1895151"/>
                <a:ext cx="6111948" cy="4400372"/>
              </a:xfrm>
              <a:prstGeom prst="rect">
                <a:avLst/>
              </a:prstGeom>
              <a:blipFill>
                <a:blip r:embed="rId2"/>
                <a:stretch>
                  <a:fillRect l="-499" t="-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1452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B3EF1-90AF-7549-00A3-FFD775264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B8005-2B6D-447C-1965-AA44C70CD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481" y="712381"/>
            <a:ext cx="6356496" cy="770552"/>
          </a:xfrm>
        </p:spPr>
        <p:txBody>
          <a:bodyPr/>
          <a:lstStyle/>
          <a:p>
            <a:r>
              <a:rPr lang="en-US" sz="4000" b="1">
                <a:latin typeface="Georgia Pro" panose="02040502050405020303" pitchFamily="18" charset="0"/>
              </a:rPr>
              <a:t>Key Methodology </a:t>
            </a:r>
            <a:r>
              <a:rPr lang="en-US" sz="3000" b="1">
                <a:latin typeface="Georgia Pro" panose="02040502050405020303" pitchFamily="18" charset="0"/>
              </a:rPr>
              <a:t>(3/5)</a:t>
            </a:r>
            <a:br>
              <a:rPr lang="en-US" sz="3000" b="1">
                <a:latin typeface="Georgia Pro" panose="02040502050405020303" pitchFamily="18" charset="0"/>
              </a:rPr>
            </a:br>
            <a:br>
              <a:rPr lang="en-US" sz="3000" b="1">
                <a:latin typeface="Georgia Pro" panose="02040502050405020303" pitchFamily="18" charset="0"/>
              </a:rPr>
            </a:br>
            <a:br>
              <a:rPr lang="en-US" sz="1600" b="1">
                <a:latin typeface="Georgia Pro" panose="02040502050405020303" pitchFamily="18" charset="0"/>
              </a:rPr>
            </a:br>
            <a:br>
              <a:rPr lang="en-US" sz="1600" b="1">
                <a:latin typeface="Georgia Pro" panose="02040502050405020303" pitchFamily="18" charset="0"/>
              </a:rPr>
            </a:br>
            <a:br>
              <a:rPr lang="ar-AE" sz="1600">
                <a:latin typeface="Georgia Pro" panose="02040502050405020303" pitchFamily="18" charset="0"/>
              </a:rPr>
            </a:br>
            <a:endParaRPr lang="en-US" sz="1600">
              <a:latin typeface="Georgia Pro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B8B41-845D-34A9-A688-71A68577C7B9}"/>
              </a:ext>
            </a:extLst>
          </p:cNvPr>
          <p:cNvSpPr txBox="1"/>
          <p:nvPr/>
        </p:nvSpPr>
        <p:spPr>
          <a:xfrm>
            <a:off x="820480" y="3054495"/>
            <a:ext cx="4740348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>
                <a:latin typeface="Georgia Pro" panose="02040502050405020303" pitchFamily="18" charset="0"/>
              </a:rPr>
              <a:t>Why:</a:t>
            </a:r>
            <a:br>
              <a:rPr lang="en-US">
                <a:latin typeface="Georgia Pro" panose="02040502050405020303" pitchFamily="18" charset="0"/>
              </a:rPr>
            </a:br>
            <a:r>
              <a:rPr lang="en-US" i="1">
                <a:latin typeface="Georgia Pro" panose="02040502050405020303" pitchFamily="18" charset="0"/>
              </a:rPr>
              <a:t>Meta-learners translate heterogeneous clinical responses into patient-specific causal effects.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FCCFCD-1973-CB01-54AD-D116BFC83397}"/>
              </a:ext>
            </a:extLst>
          </p:cNvPr>
          <p:cNvSpPr txBox="1"/>
          <p:nvPr/>
        </p:nvSpPr>
        <p:spPr>
          <a:xfrm>
            <a:off x="820480" y="2408164"/>
            <a:ext cx="4368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Georgia Pro" panose="02040502050405020303" pitchFamily="18" charset="0"/>
              </a:rPr>
              <a:t>Causal Meta-Learners (S, T, X) with Tree-based models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131493-9C16-D1C9-71B9-D328E711CA15}"/>
                  </a:ext>
                </a:extLst>
              </p:cNvPr>
              <p:cNvSpPr txBox="1"/>
              <p:nvPr/>
            </p:nvSpPr>
            <p:spPr>
              <a:xfrm>
                <a:off x="5835505" y="2244060"/>
                <a:ext cx="6356496" cy="2554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>
                    <a:latin typeface="Georgia Pro" panose="02040502050405020303" pitchFamily="18" charset="0"/>
                  </a:rPr>
                  <a:t>Definition</a:t>
                </a:r>
              </a:p>
              <a:p>
                <a:r>
                  <a:rPr lang="en-US" sz="1600" b="1">
                    <a:latin typeface="Georgia Pro" panose="02040502050405020303" pitchFamily="18" charset="0"/>
                  </a:rPr>
                  <a:t>Meta-learners</a:t>
                </a:r>
                <a:r>
                  <a:rPr lang="en-US" sz="1600">
                    <a:latin typeface="Georgia Pro" panose="02040502050405020303" pitchFamily="18" charset="0"/>
                  </a:rPr>
                  <a:t> are flexible strategies that estimate individualized treatment effects by modeling potential outcomes under each treatment condition.</a:t>
                </a:r>
              </a:p>
              <a:p>
                <a:endParaRPr lang="en-US" sz="1600" b="1">
                  <a:latin typeface="Georgia Pro" panose="02040502050405020303" pitchFamily="18" charset="0"/>
                </a:endParaRPr>
              </a:p>
              <a:p>
                <a:r>
                  <a:rPr lang="en-US" sz="1600" b="1">
                    <a:latin typeface="Georgia Pro" panose="02040502050405020303" pitchFamily="18" charset="0"/>
                  </a:rPr>
                  <a:t>Core formulation</a:t>
                </a:r>
              </a:p>
              <a:p>
                <a:r>
                  <a:rPr lang="en-US" sz="1600">
                    <a:latin typeface="Georgia Pro" panose="02040502050405020303" pitchFamily="18" charset="0"/>
                  </a:rPr>
                  <a:t>Potential outcome models: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sz="1600">
                  <a:latin typeface="Georgia Pro" panose="02040502050405020303" pitchFamily="18" charset="0"/>
                </a:endParaRPr>
              </a:p>
              <a:p>
                <a:r>
                  <a:rPr lang="en-US" sz="1600">
                    <a:latin typeface="Georgia Pro" panose="02040502050405020303" pitchFamily="18" charset="0"/>
                  </a:rPr>
                  <a:t>Individual treatment effect: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𝜏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sz="1600">
                  <a:latin typeface="Georgia Pro" panose="02040502050405020303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131493-9C16-D1C9-71B9-D328E711C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505" y="2244060"/>
                <a:ext cx="6356496" cy="2554545"/>
              </a:xfrm>
              <a:prstGeom prst="rect">
                <a:avLst/>
              </a:prstGeom>
              <a:blipFill>
                <a:blip r:embed="rId2"/>
                <a:stretch>
                  <a:fillRect l="-479" t="-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9804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C0B5-4134-A107-DFCE-0CFAEE712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FAB7E-E237-C3CA-4667-BDA82642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481" y="712381"/>
            <a:ext cx="6356496" cy="770552"/>
          </a:xfrm>
        </p:spPr>
        <p:txBody>
          <a:bodyPr/>
          <a:lstStyle/>
          <a:p>
            <a:r>
              <a:rPr lang="en-US" sz="4000" b="1">
                <a:latin typeface="Georgia Pro" panose="02040502050405020303" pitchFamily="18" charset="0"/>
              </a:rPr>
              <a:t>Key Methodology </a:t>
            </a:r>
            <a:r>
              <a:rPr lang="en-US" sz="3000" b="1">
                <a:latin typeface="Georgia Pro" panose="02040502050405020303" pitchFamily="18" charset="0"/>
              </a:rPr>
              <a:t>(4/5)</a:t>
            </a:r>
            <a:br>
              <a:rPr lang="en-US" sz="1600" b="1">
                <a:latin typeface="Georgia Pro" panose="02040502050405020303" pitchFamily="18" charset="0"/>
              </a:rPr>
            </a:br>
            <a:br>
              <a:rPr lang="en-US" sz="1600" b="1">
                <a:latin typeface="Georgia Pro" panose="02040502050405020303" pitchFamily="18" charset="0"/>
              </a:rPr>
            </a:br>
            <a:br>
              <a:rPr lang="en-US" sz="1600" b="1">
                <a:latin typeface="Georgia Pro" panose="02040502050405020303" pitchFamily="18" charset="0"/>
              </a:rPr>
            </a:br>
            <a:br>
              <a:rPr lang="en-US" sz="1600" b="1">
                <a:latin typeface="Georgia Pro" panose="02040502050405020303" pitchFamily="18" charset="0"/>
              </a:rPr>
            </a:br>
            <a:br>
              <a:rPr lang="ar-AE" sz="1600">
                <a:latin typeface="Georgia Pro" panose="02040502050405020303" pitchFamily="18" charset="0"/>
              </a:rPr>
            </a:br>
            <a:endParaRPr lang="en-US" sz="1600">
              <a:latin typeface="Georgia Pro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9A27B0-F990-3020-48D0-C90BBB074F5E}"/>
              </a:ext>
            </a:extLst>
          </p:cNvPr>
          <p:cNvSpPr txBox="1"/>
          <p:nvPr/>
        </p:nvSpPr>
        <p:spPr>
          <a:xfrm>
            <a:off x="820480" y="3054495"/>
            <a:ext cx="4740348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>
                <a:latin typeface="Georgia Pro" panose="02040502050405020303" pitchFamily="18" charset="0"/>
              </a:rPr>
              <a:t>Why:</a:t>
            </a:r>
            <a:br>
              <a:rPr lang="en-US">
                <a:latin typeface="Georgia Pro" panose="02040502050405020303" pitchFamily="18" charset="0"/>
              </a:rPr>
            </a:br>
            <a:r>
              <a:rPr lang="en-US" i="1">
                <a:latin typeface="Georgia Pro" panose="02040502050405020303" pitchFamily="18" charset="0"/>
              </a:rPr>
              <a:t>Doubly robust learning protects causal estimates against residual confounding and model error.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66DED2-FBF8-3836-E3AB-884D4D7C3DC6}"/>
              </a:ext>
            </a:extLst>
          </p:cNvPr>
          <p:cNvSpPr txBox="1"/>
          <p:nvPr/>
        </p:nvSpPr>
        <p:spPr>
          <a:xfrm>
            <a:off x="820480" y="2685163"/>
            <a:ext cx="4368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Georgia Pro" panose="02040502050405020303" pitchFamily="18" charset="0"/>
              </a:rPr>
              <a:t>Doubly Robust / R-Learner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AA4CA6F-1B9C-A0FD-27AF-FF5311A74D81}"/>
                  </a:ext>
                </a:extLst>
              </p:cNvPr>
              <p:cNvSpPr txBox="1"/>
              <p:nvPr/>
            </p:nvSpPr>
            <p:spPr>
              <a:xfrm>
                <a:off x="5975499" y="2244060"/>
                <a:ext cx="6216502" cy="26730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>
                    <a:latin typeface="Georgia Pro" panose="02040502050405020303" pitchFamily="18" charset="0"/>
                  </a:rPr>
                  <a:t>Definition</a:t>
                </a:r>
              </a:p>
              <a:p>
                <a:r>
                  <a:rPr lang="en-US" sz="1600">
                    <a:latin typeface="Georgia Pro" panose="02040502050405020303" pitchFamily="18" charset="0"/>
                  </a:rPr>
                  <a:t>The </a:t>
                </a:r>
                <a:r>
                  <a:rPr lang="en-US" sz="1600" b="1">
                    <a:latin typeface="Georgia Pro" panose="02040502050405020303" pitchFamily="18" charset="0"/>
                  </a:rPr>
                  <a:t>R-learner</a:t>
                </a:r>
                <a:r>
                  <a:rPr lang="en-US" sz="1600">
                    <a:latin typeface="Georgia Pro" panose="02040502050405020303" pitchFamily="18" charset="0"/>
                  </a:rPr>
                  <a:t> isolates treatment effect heterogeneity by residualizing both the outcome and the treatment assignment, making it robust to model misspecification.</a:t>
                </a:r>
              </a:p>
              <a:p>
                <a:endParaRPr lang="en-US" sz="1600">
                  <a:latin typeface="Georgia Pro" panose="02040502050405020303" pitchFamily="18" charset="0"/>
                </a:endParaRPr>
              </a:p>
              <a:p>
                <a:r>
                  <a:rPr lang="en-US" sz="1600" b="1">
                    <a:latin typeface="Georgia Pro" panose="02040502050405020303" pitchFamily="18" charset="0"/>
                  </a:rPr>
                  <a:t>Core objective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sz="16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/>
                          </m:func>
                        </m:e>
                        <m:lim>
                          <m:r>
                            <a:rPr lang="ar-AE" sz="160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d>
                            <m:d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lim>
                      </m:limLow>
                      <m:r>
                        <m:rPr>
                          <m:nor/>
                        </m:rPr>
                        <a:rPr lang="ar-AE" sz="1600" i="1">
                          <a:latin typeface="Georgia Pro" panose="02040502050405020303" pitchFamily="18" charset="0"/>
                        </a:rPr>
                        <m:t>  </m:t>
                      </m:r>
                      <m:r>
                        <a:rPr lang="ar-AE" sz="1600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ar-AE" sz="1600" smtClean="0"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  <m:d>
                            <m:d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ar-AE" sz="1600" i="1">
                          <a:latin typeface="Cambria Math" panose="02040503050406030204" pitchFamily="18" charset="0"/>
                        </a:rPr>
                        <m:t>𝜏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sSup>
                        <m:sSup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160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ar-AE" sz="1600" b="0">
                  <a:latin typeface="Georgia Pro" panose="02040502050405020303" pitchFamily="18" charset="0"/>
                </a:endParaRPr>
              </a:p>
              <a:p>
                <a:r>
                  <a:rPr lang="en-US" sz="1600">
                    <a:latin typeface="Georgia Pro" panose="02040502050405020303" pitchFamily="18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1600">
                    <a:latin typeface="Georgia Pro" panose="02040502050405020303" pitchFamily="18" charset="0"/>
                  </a:rPr>
                  <a:t>is the outcome regression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1600">
                    <a:latin typeface="Georgia Pro" panose="02040502050405020303" pitchFamily="18" charset="0"/>
                  </a:rPr>
                  <a:t>is the propensity score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AA4CA6F-1B9C-A0FD-27AF-FF5311A74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5499" y="2244060"/>
                <a:ext cx="6216502" cy="2673039"/>
              </a:xfrm>
              <a:prstGeom prst="rect">
                <a:avLst/>
              </a:prstGeom>
              <a:blipFill>
                <a:blip r:embed="rId2"/>
                <a:stretch>
                  <a:fillRect l="-490" t="-683" b="-1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0677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47A60-05E2-51DA-BA83-6A1DCA1DF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E619B-7118-524B-930E-70F57295D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481" y="712381"/>
            <a:ext cx="6356496" cy="770552"/>
          </a:xfrm>
        </p:spPr>
        <p:txBody>
          <a:bodyPr/>
          <a:lstStyle/>
          <a:p>
            <a:r>
              <a:rPr lang="en-US" sz="4000" b="1">
                <a:latin typeface="Georgia Pro" panose="02040502050405020303" pitchFamily="18" charset="0"/>
              </a:rPr>
              <a:t>Key Methodology </a:t>
            </a:r>
            <a:r>
              <a:rPr lang="en-US" sz="3000" b="1">
                <a:latin typeface="Georgia Pro" panose="02040502050405020303" pitchFamily="18" charset="0"/>
              </a:rPr>
              <a:t>(5/5)</a:t>
            </a:r>
            <a:br>
              <a:rPr lang="en-US" sz="3000" b="1">
                <a:latin typeface="Georgia Pro" panose="02040502050405020303" pitchFamily="18" charset="0"/>
              </a:rPr>
            </a:br>
            <a:br>
              <a:rPr lang="en-US" sz="3000" b="1">
                <a:latin typeface="Georgia Pro" panose="02040502050405020303" pitchFamily="18" charset="0"/>
              </a:rPr>
            </a:br>
            <a:br>
              <a:rPr lang="en-US" sz="1600" b="1">
                <a:latin typeface="Georgia Pro" panose="02040502050405020303" pitchFamily="18" charset="0"/>
              </a:rPr>
            </a:br>
            <a:br>
              <a:rPr lang="en-US" sz="1600" b="1">
                <a:latin typeface="Georgia Pro" panose="02040502050405020303" pitchFamily="18" charset="0"/>
              </a:rPr>
            </a:br>
            <a:br>
              <a:rPr lang="ar-AE" sz="1600">
                <a:latin typeface="Georgia Pro" panose="02040502050405020303" pitchFamily="18" charset="0"/>
              </a:rPr>
            </a:br>
            <a:endParaRPr lang="en-US" sz="1600">
              <a:latin typeface="Georgia Pro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4F378-9204-9C0E-BCD0-3201510B488F}"/>
              </a:ext>
            </a:extLst>
          </p:cNvPr>
          <p:cNvSpPr txBox="1"/>
          <p:nvPr/>
        </p:nvSpPr>
        <p:spPr>
          <a:xfrm>
            <a:off x="820480" y="3054495"/>
            <a:ext cx="4740348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>
                <a:latin typeface="Georgia Pro" panose="02040502050405020303" pitchFamily="18" charset="0"/>
              </a:rPr>
              <a:t>Why:</a:t>
            </a:r>
            <a:br>
              <a:rPr lang="en-US">
                <a:latin typeface="Georgia Pro" panose="02040502050405020303" pitchFamily="18" charset="0"/>
              </a:rPr>
            </a:br>
            <a:r>
              <a:rPr lang="en-US" i="1">
                <a:latin typeface="Georgia Pro" panose="02040502050405020303" pitchFamily="18" charset="0"/>
              </a:rPr>
              <a:t>Cross-fitted R-loss ensures that the selected model best estimates causal effects, not just predictions.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726FFD-8117-3EFC-1B14-094F74CC745C}"/>
              </a:ext>
            </a:extLst>
          </p:cNvPr>
          <p:cNvSpPr txBox="1"/>
          <p:nvPr/>
        </p:nvSpPr>
        <p:spPr>
          <a:xfrm>
            <a:off x="820480" y="2408164"/>
            <a:ext cx="4368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Georgia Pro" panose="02040502050405020303" pitchFamily="18" charset="0"/>
              </a:rPr>
              <a:t>Cross-Fitting + R-Loss Model Selection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43B728-1FCD-2A39-2D73-C059DAC7002B}"/>
                  </a:ext>
                </a:extLst>
              </p:cNvPr>
              <p:cNvSpPr txBox="1"/>
              <p:nvPr/>
            </p:nvSpPr>
            <p:spPr>
              <a:xfrm>
                <a:off x="6096000" y="2715651"/>
                <a:ext cx="6216502" cy="1878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>
                    <a:latin typeface="Georgia Pro" panose="02040502050405020303" pitchFamily="18" charset="0"/>
                  </a:rPr>
                  <a:t>Definition</a:t>
                </a:r>
              </a:p>
              <a:p>
                <a:r>
                  <a:rPr lang="en-US" sz="1600" b="1">
                    <a:latin typeface="Georgia Pro" panose="02040502050405020303" pitchFamily="18" charset="0"/>
                  </a:rPr>
                  <a:t>Cross-fitting</a:t>
                </a:r>
                <a:r>
                  <a:rPr lang="en-US" sz="1600">
                    <a:latin typeface="Georgia Pro" panose="02040502050405020303" pitchFamily="18" charset="0"/>
                  </a:rPr>
                  <a:t> separates nuisance estimation from treatment effect estimation, while </a:t>
                </a:r>
                <a:r>
                  <a:rPr lang="en-US" sz="1600" b="1">
                    <a:latin typeface="Georgia Pro" panose="02040502050405020303" pitchFamily="18" charset="0"/>
                  </a:rPr>
                  <a:t>R-loss</a:t>
                </a:r>
                <a:r>
                  <a:rPr lang="en-US" sz="1600">
                    <a:latin typeface="Georgia Pro" panose="02040502050405020303" pitchFamily="18" charset="0"/>
                  </a:rPr>
                  <a:t> evaluates treatment effect quality without observing counterfactuals.</a:t>
                </a:r>
              </a:p>
              <a:p>
                <a:endParaRPr lang="en-US" sz="1600">
                  <a:latin typeface="Georgia Pro" panose="02040502050405020303" pitchFamily="18" charset="0"/>
                </a:endParaRPr>
              </a:p>
              <a:p>
                <a:r>
                  <a:rPr lang="en-US" sz="1600" b="1">
                    <a:latin typeface="Georgia Pro" panose="02040502050405020303" pitchFamily="18" charset="0"/>
                  </a:rPr>
                  <a:t>Core formulation (R-loss)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  <m:d>
                            <m:d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acc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sSup>
                        <m:sSup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160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ar-AE" sz="1600">
                  <a:latin typeface="Georgia Pro" panose="02040502050405020303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43B728-1FCD-2A39-2D73-C059DAC70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715651"/>
                <a:ext cx="6216502" cy="1878015"/>
              </a:xfrm>
              <a:prstGeom prst="rect">
                <a:avLst/>
              </a:prstGeom>
              <a:blipFill>
                <a:blip r:embed="rId2"/>
                <a:stretch>
                  <a:fillRect l="-490" t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4309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79443-4C96-B887-0059-DE2A00C52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83" y="793761"/>
            <a:ext cx="10290000" cy="763600"/>
          </a:xfrm>
        </p:spPr>
        <p:txBody>
          <a:bodyPr/>
          <a:lstStyle/>
          <a:p>
            <a:r>
              <a:rPr lang="en-US" sz="4000" b="1">
                <a:latin typeface="Georgia Pro" panose="02040502050405020303" pitchFamily="18" charset="0"/>
              </a:rPr>
              <a:t>Causal Models </a:t>
            </a:r>
            <a:r>
              <a:rPr lang="en-US" sz="3000" b="1" i="1">
                <a:latin typeface="Georgia Pro" panose="02040502050405020303" pitchFamily="18" charset="0"/>
              </a:rPr>
              <a:t>(1/2)</a:t>
            </a:r>
            <a:br>
              <a:rPr lang="en-US" sz="3000">
                <a:latin typeface="Georgia Pro" panose="02040502050405020303" pitchFamily="18" charset="0"/>
              </a:rPr>
            </a:br>
            <a:endParaRPr lang="en-US" sz="3000">
              <a:latin typeface="Georgia Pro" panose="020405020504050203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719F3E-3993-CFB0-405F-A4BECAEAA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89" y="1482934"/>
            <a:ext cx="3562705" cy="21414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BA0B69-465A-E87E-3CD9-60ACE577C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486" y="1482933"/>
            <a:ext cx="4254403" cy="21414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D5E96A-7C59-D1CA-0B42-12E947B68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588" y="4089264"/>
            <a:ext cx="5558057" cy="24109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4F4461-A404-F7DE-034E-81D6AC2970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3064" y="4089264"/>
            <a:ext cx="4357903" cy="24109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625DEF-4E85-1BEC-F565-8A20D58208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9" y="1482933"/>
            <a:ext cx="3870653" cy="21414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84B554-F3C1-3883-C857-C97EEE05C226}"/>
              </a:ext>
            </a:extLst>
          </p:cNvPr>
          <p:cNvSpPr txBox="1"/>
          <p:nvPr/>
        </p:nvSpPr>
        <p:spPr>
          <a:xfrm>
            <a:off x="2057400" y="3672139"/>
            <a:ext cx="838908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>
                <a:latin typeface="Georgia Pro" panose="02040502050405020303" pitchFamily="18" charset="0"/>
              </a:rPr>
              <a:t>S-learner gives the most accurate individualized treatment effects</a:t>
            </a:r>
          </a:p>
        </p:txBody>
      </p:sp>
    </p:spTree>
    <p:extLst>
      <p:ext uri="{BB962C8B-B14F-4D97-AF65-F5344CB8AC3E}">
        <p14:creationId xmlns:p14="http://schemas.microsoft.com/office/powerpoint/2010/main" val="3376833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BE458-DEE8-FB1B-3138-CC0949C3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DCA63-7961-F154-0C21-83CC03DF5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83" y="793761"/>
            <a:ext cx="10290000" cy="763600"/>
          </a:xfrm>
        </p:spPr>
        <p:txBody>
          <a:bodyPr/>
          <a:lstStyle/>
          <a:p>
            <a:r>
              <a:rPr lang="en-US" sz="4000" b="1">
                <a:latin typeface="Georgia Pro" panose="02040502050405020303" pitchFamily="18" charset="0"/>
              </a:rPr>
              <a:t>Causal Models </a:t>
            </a:r>
            <a:r>
              <a:rPr lang="en-US" sz="3000" b="1" i="1">
                <a:latin typeface="Georgia Pro" panose="02040502050405020303" pitchFamily="18" charset="0"/>
              </a:rPr>
              <a:t>(2/2)</a:t>
            </a:r>
            <a:br>
              <a:rPr lang="en-US" sz="3000" i="1">
                <a:latin typeface="Georgia Pro" panose="02040502050405020303" pitchFamily="18" charset="0"/>
              </a:rPr>
            </a:br>
            <a:endParaRPr lang="en-US" sz="3000" i="1">
              <a:latin typeface="Georgia Pro" panose="020405020504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D500CE-B2EF-0ECB-155D-79F95001461C}"/>
              </a:ext>
            </a:extLst>
          </p:cNvPr>
          <p:cNvSpPr txBox="1"/>
          <p:nvPr/>
        </p:nvSpPr>
        <p:spPr>
          <a:xfrm>
            <a:off x="6815469" y="2551836"/>
            <a:ext cx="4954773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Georgia Pro" panose="02040502050405020303" pitchFamily="18" charset="0"/>
                <a:cs typeface="Times New Roman" panose="02020603050405020304" pitchFamily="18" charset="0"/>
              </a:rPr>
              <a:t>Model accuracy is balanced across treatment arms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Georgia Pro" panose="02040502050405020303" pitchFamily="18" charset="0"/>
                <a:cs typeface="Times New Roman" panose="02020603050405020304" pitchFamily="18" charset="0"/>
              </a:rPr>
              <a:t>Predictions are clinically reasonable</a:t>
            </a:r>
            <a:endParaRPr lang="en-US">
              <a:latin typeface="Georgia Pro" panose="02040502050405020303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>
                <a:latin typeface="Georgia Pro" panose="02040502050405020303" pitchFamily="18" charset="0"/>
                <a:cs typeface="Times New Roman" panose="02020603050405020304" pitchFamily="18" charset="0"/>
              </a:rPr>
              <a:t>Pain &amp; function: ~0.05</a:t>
            </a:r>
          </a:p>
          <a:p>
            <a:pPr lvl="1"/>
            <a:r>
              <a:rPr lang="en-US">
                <a:latin typeface="Georgia Pro" panose="02040502050405020303" pitchFamily="18" charset="0"/>
                <a:cs typeface="Times New Roman" panose="02020603050405020304" pitchFamily="18" charset="0"/>
              </a:rPr>
              <a:t>Rehab time: ~1 week</a:t>
            </a:r>
          </a:p>
          <a:p>
            <a:pPr lvl="1"/>
            <a:r>
              <a:rPr lang="en-US">
                <a:latin typeface="Georgia Pro" panose="02040502050405020303" pitchFamily="18" charset="0"/>
                <a:cs typeface="Times New Roman" panose="02020603050405020304" pitchFamily="18" charset="0"/>
              </a:rPr>
              <a:t>Cost: ~$25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098389C-7DCB-D32B-EE51-F1CD03935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22627"/>
              </p:ext>
            </p:extLst>
          </p:nvPr>
        </p:nvGraphicFramePr>
        <p:xfrm>
          <a:off x="727683" y="1653957"/>
          <a:ext cx="5832605" cy="3550085"/>
        </p:xfrm>
        <a:graphic>
          <a:graphicData uri="http://schemas.openxmlformats.org/drawingml/2006/table">
            <a:tbl>
              <a:tblPr/>
              <a:tblGrid>
                <a:gridCol w="1154280">
                  <a:extLst>
                    <a:ext uri="{9D8B030D-6E8A-4147-A177-3AD203B41FA5}">
                      <a16:colId xmlns:a16="http://schemas.microsoft.com/office/drawing/2014/main" val="568796255"/>
                    </a:ext>
                  </a:extLst>
                </a:gridCol>
                <a:gridCol w="1143496">
                  <a:extLst>
                    <a:ext uri="{9D8B030D-6E8A-4147-A177-3AD203B41FA5}">
                      <a16:colId xmlns:a16="http://schemas.microsoft.com/office/drawing/2014/main" val="1780787437"/>
                    </a:ext>
                  </a:extLst>
                </a:gridCol>
                <a:gridCol w="1961211">
                  <a:extLst>
                    <a:ext uri="{9D8B030D-6E8A-4147-A177-3AD203B41FA5}">
                      <a16:colId xmlns:a16="http://schemas.microsoft.com/office/drawing/2014/main" val="1129813615"/>
                    </a:ext>
                  </a:extLst>
                </a:gridCol>
                <a:gridCol w="1573618">
                  <a:extLst>
                    <a:ext uri="{9D8B030D-6E8A-4147-A177-3AD203B41FA5}">
                      <a16:colId xmlns:a16="http://schemas.microsoft.com/office/drawing/2014/main" val="3436269658"/>
                    </a:ext>
                  </a:extLst>
                </a:gridCol>
              </a:tblGrid>
              <a:tr h="322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Outcome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Arm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MAE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RMSE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240211"/>
                  </a:ext>
                </a:extLst>
              </a:tr>
              <a:tr h="322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Y1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T=1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0.050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0.058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216783"/>
                  </a:ext>
                </a:extLst>
              </a:tr>
              <a:tr h="322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Y1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T=0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0.050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0.058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951283"/>
                  </a:ext>
                </a:extLst>
              </a:tr>
              <a:tr h="322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Y2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T=1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0.050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0.058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515325"/>
                  </a:ext>
                </a:extLst>
              </a:tr>
              <a:tr h="322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Y2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T=0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0.050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0.058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009323"/>
                  </a:ext>
                </a:extLst>
              </a:tr>
              <a:tr h="322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Y3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T=1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0.050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0.058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5047"/>
                  </a:ext>
                </a:extLst>
              </a:tr>
              <a:tr h="322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Y3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T=0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0.050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0.058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424339"/>
                  </a:ext>
                </a:extLst>
              </a:tr>
              <a:tr h="322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Y4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T=1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25.325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29.446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748609"/>
                  </a:ext>
                </a:extLst>
              </a:tr>
              <a:tr h="322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Y4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T=0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25.031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28.916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971235"/>
                  </a:ext>
                </a:extLst>
              </a:tr>
              <a:tr h="322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Y5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T=1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1.254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1.449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264565"/>
                  </a:ext>
                </a:extLst>
              </a:tr>
              <a:tr h="322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Y5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T=0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1.257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1.451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912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7044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13B4E-B121-75C0-1FBA-29BFFE0AF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35F2-93EA-1AD4-1506-CC30AEED6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061" y="634239"/>
            <a:ext cx="10290000" cy="763600"/>
          </a:xfrm>
        </p:spPr>
        <p:txBody>
          <a:bodyPr/>
          <a:lstStyle/>
          <a:p>
            <a:pPr lvl="0"/>
            <a:r>
              <a:rPr lang="en-US" sz="4000" b="1">
                <a:latin typeface="Georgia Pro" panose="02040502050405020303" pitchFamily="18" charset="0"/>
              </a:rPr>
              <a:t>Clinical Heterogeneity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9A02CB-7565-496F-D070-22544EAE8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0" y="4815018"/>
            <a:ext cx="4060329" cy="19192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F938F7-FCB2-1CB8-BE5F-41A9C00B2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653" y="4804898"/>
            <a:ext cx="3914082" cy="19293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9AFF08-1603-1F64-A830-0B501F26A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912" y="4810257"/>
            <a:ext cx="3545871" cy="19239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790E60-EB1A-A142-C352-500D4E3CDF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912" y="2606761"/>
            <a:ext cx="3545871" cy="20906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8B3EE5-7341-4DE6-665C-684FC94FA3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0652" y="2606761"/>
            <a:ext cx="3914083" cy="20906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1FE8D2C-F0C8-49A7-8E4B-B752E8B46EC3}"/>
              </a:ext>
            </a:extLst>
          </p:cNvPr>
          <p:cNvSpPr txBox="1"/>
          <p:nvPr/>
        </p:nvSpPr>
        <p:spPr>
          <a:xfrm>
            <a:off x="309060" y="1293605"/>
            <a:ext cx="11595675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Georgia Pro" panose="02040502050405020303" pitchFamily="18" charset="0"/>
              </a:rPr>
              <a:t>The same surgery leads to very different benefit–cost profiles across patients.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Georgia Pro" panose="02040502050405020303" pitchFamily="18" charset="0"/>
              </a:rPr>
              <a:t>Surgery does not benefit everyone in the same 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Georgia Pro" panose="02040502050405020303" pitchFamily="18" charset="0"/>
              </a:rPr>
              <a:t>Different baseline clinical factors drive pain relief, functional recovery, rehabilitation time, and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Georgia Pro" panose="02040502050405020303" pitchFamily="18" charset="0"/>
              </a:rPr>
              <a:t>The need for individualized, preference-aware treatment decisions.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0CB19EC-D316-F1DA-104D-008463800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636167"/>
              </p:ext>
            </p:extLst>
          </p:nvPr>
        </p:nvGraphicFramePr>
        <p:xfrm>
          <a:off x="309060" y="2606761"/>
          <a:ext cx="4060329" cy="2081331"/>
        </p:xfrm>
        <a:graphic>
          <a:graphicData uri="http://schemas.openxmlformats.org/drawingml/2006/table">
            <a:tbl>
              <a:tblPr/>
              <a:tblGrid>
                <a:gridCol w="2172135">
                  <a:extLst>
                    <a:ext uri="{9D8B030D-6E8A-4147-A177-3AD203B41FA5}">
                      <a16:colId xmlns:a16="http://schemas.microsoft.com/office/drawing/2014/main" val="2055205637"/>
                    </a:ext>
                  </a:extLst>
                </a:gridCol>
                <a:gridCol w="1888194">
                  <a:extLst>
                    <a:ext uri="{9D8B030D-6E8A-4147-A177-3AD203B41FA5}">
                      <a16:colId xmlns:a16="http://schemas.microsoft.com/office/drawing/2014/main" val="3383769135"/>
                    </a:ext>
                  </a:extLst>
                </a:gridCol>
              </a:tblGrid>
              <a:tr h="2251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latin typeface="Georgia Pro" panose="02040502050405020303" pitchFamily="18" charset="0"/>
                        </a:rPr>
                        <a:t>Outcome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latin typeface="Georgia Pro" panose="02040502050405020303" pitchFamily="18" charset="0"/>
                        </a:rPr>
                        <a:t>TE 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127783"/>
                  </a:ext>
                </a:extLst>
              </a:tr>
              <a:tr h="225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Georgia Pro" panose="02040502050405020303" pitchFamily="18" charset="0"/>
                        </a:rPr>
                        <a:t>Pain Reduction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Georgia Pro" panose="02040502050405020303" pitchFamily="18" charset="0"/>
                        </a:rPr>
                        <a:t>−0.01 to +0.53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166608"/>
                  </a:ext>
                </a:extLst>
              </a:tr>
              <a:tr h="225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Georgia Pro" panose="02040502050405020303" pitchFamily="18" charset="0"/>
                        </a:rPr>
                        <a:t>Short-term Pain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Georgia Pro" panose="02040502050405020303" pitchFamily="18" charset="0"/>
                        </a:rPr>
                        <a:t>−0.42 to -0.00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449039"/>
                  </a:ext>
                </a:extLst>
              </a:tr>
              <a:tr h="388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Georgia Pro" panose="02040502050405020303" pitchFamily="18" charset="0"/>
                        </a:rPr>
                        <a:t>Functional Improvement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Georgia Pro" panose="02040502050405020303" pitchFamily="18" charset="0"/>
                        </a:rPr>
                        <a:t>−0.01 to +0.53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044309"/>
                  </a:ext>
                </a:extLst>
              </a:tr>
              <a:tr h="388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Georgia Pro" panose="02040502050405020303" pitchFamily="18" charset="0"/>
                        </a:rPr>
                        <a:t>Cost Impact (USD)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Georgia Pro" panose="02040502050405020303" pitchFamily="18" charset="0"/>
                        </a:rPr>
                        <a:t>+$10k to +$30k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308242"/>
                  </a:ext>
                </a:extLst>
              </a:tr>
              <a:tr h="388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Georgia Pro" panose="02040502050405020303" pitchFamily="18" charset="0"/>
                        </a:rPr>
                        <a:t>Rehab Time (weeks)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Georgia Pro" panose="02040502050405020303" pitchFamily="18" charset="0"/>
                        </a:rPr>
                        <a:t>+3.2 to +8.7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997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2291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8BB1E-A17B-6EA5-8BE6-4FDE24F68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72E47-198E-6987-8D52-5DDFC0F96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360" y="708700"/>
            <a:ext cx="10290000" cy="763600"/>
          </a:xfrm>
        </p:spPr>
        <p:txBody>
          <a:bodyPr/>
          <a:lstStyle/>
          <a:p>
            <a:r>
              <a:rPr lang="en-US" sz="4000" b="1">
                <a:latin typeface="Georgia Pro" panose="02040502050405020303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9A31AD-2837-6AE4-C6B5-4F22A5618D20}"/>
              </a:ext>
            </a:extLst>
          </p:cNvPr>
          <p:cNvSpPr txBox="1"/>
          <p:nvPr/>
        </p:nvSpPr>
        <p:spPr>
          <a:xfrm>
            <a:off x="580360" y="3075057"/>
            <a:ext cx="11031279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i="1">
                <a:latin typeface="Georgia Pro" panose="02040502050405020303" pitchFamily="18" charset="0"/>
              </a:rPr>
              <a:t>The</a:t>
            </a:r>
            <a:r>
              <a:rPr lang="en-US" sz="2000" b="1" i="1">
                <a:latin typeface="Georgia Pro" panose="02040502050405020303" pitchFamily="18" charset="0"/>
              </a:rPr>
              <a:t> S-learner with </a:t>
            </a:r>
            <a:r>
              <a:rPr lang="en-US" sz="2000" b="1" i="1" err="1">
                <a:latin typeface="Georgia Pro" panose="02040502050405020303" pitchFamily="18" charset="0"/>
              </a:rPr>
              <a:t>XGBoost</a:t>
            </a:r>
            <a:r>
              <a:rPr lang="en-US" sz="2000" b="1" i="1">
                <a:latin typeface="Georgia Pro" panose="02040502050405020303" pitchFamily="18" charset="0"/>
              </a:rPr>
              <a:t> Model </a:t>
            </a:r>
            <a:r>
              <a:rPr lang="en-US" sz="2000" i="1">
                <a:latin typeface="Georgia Pro" panose="02040502050405020303" pitchFamily="18" charset="0"/>
              </a:rPr>
              <a:t>can be used to compare treatment options and select the one that best fits a patient’s condition and priorities.</a:t>
            </a:r>
          </a:p>
        </p:txBody>
      </p:sp>
    </p:spTree>
    <p:extLst>
      <p:ext uri="{BB962C8B-B14F-4D97-AF65-F5344CB8AC3E}">
        <p14:creationId xmlns:p14="http://schemas.microsoft.com/office/powerpoint/2010/main" val="2464412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4BFB-1DA4-926D-ED35-C78E82FF0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000" y="1117600"/>
            <a:ext cx="9212000" cy="1544800"/>
          </a:xfrm>
        </p:spPr>
        <p:txBody>
          <a:bodyPr wrap="square" anchor="t">
            <a:normAutofit/>
          </a:bodyPr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76191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1553</Words>
  <Application>Microsoft Office PowerPoint</Application>
  <PresentationFormat>Widescreen</PresentationFormat>
  <Paragraphs>181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Georgia Pro</vt:lpstr>
      <vt:lpstr>Karla</vt:lpstr>
      <vt:lpstr>Office Theme</vt:lpstr>
      <vt:lpstr>From Algorithm to the Clinic: Designing a Usable Clinical Decision Support (CDS) Interface and EHR Integration Strategy</vt:lpstr>
      <vt:lpstr>Roadmap (1/1)</vt:lpstr>
      <vt:lpstr>We would like to thank the authors of the papers referenced in this study.</vt:lpstr>
      <vt:lpstr>PowerPoint Presentation</vt:lpstr>
      <vt:lpstr>Model pipeline (1/1)</vt:lpstr>
      <vt:lpstr>Data exploratory and Preprocessing (1/4)</vt:lpstr>
      <vt:lpstr>Data exploratory and Preprocessing (2/4)</vt:lpstr>
      <vt:lpstr>Data exploratory and Preprocessing (3/4)</vt:lpstr>
      <vt:lpstr>Data exploratory and Preprocessing (4/4)</vt:lpstr>
      <vt:lpstr>Key Methodology (1/5)     </vt:lpstr>
      <vt:lpstr>Key Methodology (2/5)     </vt:lpstr>
      <vt:lpstr>Key Methodology (3/5)     </vt:lpstr>
      <vt:lpstr>Key Methodology (4/5)     </vt:lpstr>
      <vt:lpstr>Key Methodology (5/5)     </vt:lpstr>
      <vt:lpstr>Causal Models (1/2) </vt:lpstr>
      <vt:lpstr>Causal Models (2/2) </vt:lpstr>
      <vt:lpstr>Clinical Heterogeneity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Kneeshaw, Connor J</dc:creator>
  <cp:lastModifiedBy>Nguyen, Luong Thanh Ha</cp:lastModifiedBy>
  <cp:revision>1</cp:revision>
  <dcterms:created xsi:type="dcterms:W3CDTF">2026-02-06T21:08:08Z</dcterms:created>
  <dcterms:modified xsi:type="dcterms:W3CDTF">2026-02-07T09:37:57Z</dcterms:modified>
</cp:coreProperties>
</file>