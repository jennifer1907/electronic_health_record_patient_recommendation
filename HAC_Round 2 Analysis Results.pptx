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89" r:id="rId6"/>
    <p:sldId id="272" r:id="rId7"/>
    <p:sldId id="290" r:id="rId8"/>
    <p:sldId id="287" r:id="rId9"/>
    <p:sldId id="288" r:id="rId10"/>
    <p:sldId id="291" r:id="rId11"/>
    <p:sldId id="292" r:id="rId12"/>
    <p:sldId id="293" r:id="rId13"/>
    <p:sldId id="294" r:id="rId14"/>
    <p:sldId id="295" r:id="rId15"/>
    <p:sldId id="284" r:id="rId16"/>
    <p:sldId id="297" r:id="rId17"/>
    <p:sldId id="282" r:id="rId18"/>
    <p:sldId id="296" r:id="rId19"/>
    <p:sldId id="283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581067-C24A-5D0E-1B43-E62C7E1A91AB}" v="11" dt="2026-02-08T06:07:04.387"/>
    <p1510:client id="{1CA3690A-8D56-4939-93F8-2FCF2CAE0B04}" v="2" dt="2026-02-08T09:32:18.506"/>
    <p1510:client id="{31AA35EE-5BEE-4EEE-9CBE-41ED7F804AAA}" v="786" dt="2026-02-08T04:44:45.616"/>
    <p1510:client id="{E7BBADB7-01F3-4E76-BEC0-2B02C388145A}" v="1755" dt="2026-02-08T08:50:15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1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, Luong Thanh Ha" userId="38331e7b-24cc-4b44-8a0f-c265163ba481" providerId="ADAL" clId="{9F8B4555-951F-4E5E-8F67-B9717EB29CB4}"/>
    <pc:docChg chg="undo custSel addSld modSld">
      <pc:chgData name="Nguyen, Luong Thanh Ha" userId="38331e7b-24cc-4b44-8a0f-c265163ba481" providerId="ADAL" clId="{9F8B4555-951F-4E5E-8F67-B9717EB29CB4}" dt="2026-02-08T09:32:39.290" v="21" actId="1076"/>
      <pc:docMkLst>
        <pc:docMk/>
      </pc:docMkLst>
      <pc:sldChg chg="addSp delSp modSp mod">
        <pc:chgData name="Nguyen, Luong Thanh Ha" userId="38331e7b-24cc-4b44-8a0f-c265163ba481" providerId="ADAL" clId="{9F8B4555-951F-4E5E-8F67-B9717EB29CB4}" dt="2026-02-08T09:27:10.743" v="6" actId="20577"/>
        <pc:sldMkLst>
          <pc:docMk/>
          <pc:sldMk cId="3107044158" sldId="284"/>
        </pc:sldMkLst>
        <pc:spChg chg="mod">
          <ac:chgData name="Nguyen, Luong Thanh Ha" userId="38331e7b-24cc-4b44-8a0f-c265163ba481" providerId="ADAL" clId="{9F8B4555-951F-4E5E-8F67-B9717EB29CB4}" dt="2026-02-08T09:27:10.743" v="6" actId="20577"/>
          <ac:spMkLst>
            <pc:docMk/>
            <pc:sldMk cId="3107044158" sldId="284"/>
            <ac:spMk id="2" creationId="{3DEDCA63-7961-F154-0C21-83CC03DF5A45}"/>
          </ac:spMkLst>
        </pc:spChg>
        <pc:picChg chg="add mod">
          <ac:chgData name="Nguyen, Luong Thanh Ha" userId="38331e7b-24cc-4b44-8a0f-c265163ba481" providerId="ADAL" clId="{9F8B4555-951F-4E5E-8F67-B9717EB29CB4}" dt="2026-02-08T09:26:58.753" v="4" actId="14100"/>
          <ac:picMkLst>
            <pc:docMk/>
            <pc:sldMk cId="3107044158" sldId="284"/>
            <ac:picMk id="4" creationId="{B158AB84-870A-9DF8-2830-2CDCE57F4B3D}"/>
          </ac:picMkLst>
        </pc:picChg>
        <pc:picChg chg="del">
          <ac:chgData name="Nguyen, Luong Thanh Ha" userId="38331e7b-24cc-4b44-8a0f-c265163ba481" providerId="ADAL" clId="{9F8B4555-951F-4E5E-8F67-B9717EB29CB4}" dt="2026-02-08T09:26:48.177" v="0" actId="478"/>
          <ac:picMkLst>
            <pc:docMk/>
            <pc:sldMk cId="3107044158" sldId="284"/>
            <ac:picMk id="5" creationId="{DD052648-685F-4845-DBE4-5B1BF787E7DF}"/>
          </ac:picMkLst>
        </pc:picChg>
      </pc:sldChg>
      <pc:sldChg chg="addSp delSp modSp add mod modClrScheme modAnim chgLayout">
        <pc:chgData name="Nguyen, Luong Thanh Ha" userId="38331e7b-24cc-4b44-8a0f-c265163ba481" providerId="ADAL" clId="{9F8B4555-951F-4E5E-8F67-B9717EB29CB4}" dt="2026-02-08T09:32:39.290" v="21" actId="1076"/>
        <pc:sldMkLst>
          <pc:docMk/>
          <pc:sldMk cId="2756997930" sldId="297"/>
        </pc:sldMkLst>
        <pc:spChg chg="mod">
          <ac:chgData name="Nguyen, Luong Thanh Ha" userId="38331e7b-24cc-4b44-8a0f-c265163ba481" providerId="ADAL" clId="{9F8B4555-951F-4E5E-8F67-B9717EB29CB4}" dt="2026-02-08T09:32:33.359" v="18" actId="1076"/>
          <ac:spMkLst>
            <pc:docMk/>
            <pc:sldMk cId="2756997930" sldId="297"/>
            <ac:spMk id="2" creationId="{0225B5E3-2AC0-B307-A9B1-D846444F4E70}"/>
          </ac:spMkLst>
        </pc:spChg>
        <pc:picChg chg="add mod">
          <ac:chgData name="Nguyen, Luong Thanh Ha" userId="38331e7b-24cc-4b44-8a0f-c265163ba481" providerId="ADAL" clId="{9F8B4555-951F-4E5E-8F67-B9717EB29CB4}" dt="2026-02-08T09:32:39.290" v="21" actId="1076"/>
          <ac:picMkLst>
            <pc:docMk/>
            <pc:sldMk cId="2756997930" sldId="297"/>
            <ac:picMk id="3" creationId="{7B1A0452-6C69-4E89-2A02-D72650B606F1}"/>
          </ac:picMkLst>
        </pc:picChg>
        <pc:picChg chg="del mod">
          <ac:chgData name="Nguyen, Luong Thanh Ha" userId="38331e7b-24cc-4b44-8a0f-c265163ba481" providerId="ADAL" clId="{9F8B4555-951F-4E5E-8F67-B9717EB29CB4}" dt="2026-02-08T09:27:18.444" v="11" actId="478"/>
          <ac:picMkLst>
            <pc:docMk/>
            <pc:sldMk cId="2756997930" sldId="297"/>
            <ac:picMk id="4" creationId="{156971CF-02BB-6A67-3B79-159607D4462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FD5940-D59F-41D1-B5DF-D22EB93E4636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168E07-3EEF-49C0-B916-DB1DC26497A8}" type="pres">
      <dgm:prSet presAssocID="{19FD5940-D59F-41D1-B5DF-D22EB93E4636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D8C33ABD-9932-465E-BB0A-1998115B1047}" type="presOf" srcId="{19FD5940-D59F-41D1-B5DF-D22EB93E4636}" destId="{C7168E07-3EEF-49C0-B916-DB1DC26497A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FD5940-D59F-41D1-B5DF-D22EB93E4636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E516D2-1CDE-4264-BB4F-45BFEA344030}">
      <dgm:prSet/>
      <dgm:spPr/>
      <dgm:t>
        <a:bodyPr/>
        <a:lstStyle/>
        <a:p>
          <a:r>
            <a:rPr lang="en-US" b="1" dirty="0">
              <a:latin typeface="Georgia Pro" panose="02040502050405020303" pitchFamily="18" charset="0"/>
            </a:rPr>
            <a:t>Research Question </a:t>
          </a:r>
          <a:r>
            <a:rPr lang="en-US" dirty="0">
              <a:latin typeface="Georgia Pro" panose="02040502050405020303" pitchFamily="18" charset="0"/>
            </a:rPr>
            <a:t>– </a:t>
          </a:r>
          <a:r>
            <a:rPr lang="en-US" i="1" dirty="0">
              <a:solidFill>
                <a:srgbClr val="FF0000"/>
              </a:solidFill>
              <a:latin typeface="Georgia Pro" panose="02040502050405020303" pitchFamily="18" charset="0"/>
            </a:rPr>
            <a:t>Why are we doing this?</a:t>
          </a:r>
          <a:endParaRPr lang="en-US" dirty="0">
            <a:solidFill>
              <a:srgbClr val="FF0000"/>
            </a:solidFill>
            <a:latin typeface="Georgia Pro" panose="02040502050405020303" pitchFamily="18" charset="0"/>
          </a:endParaRPr>
        </a:p>
      </dgm:t>
    </dgm:pt>
    <dgm:pt modelId="{D9A02595-E69F-450C-B363-6ADDBD52BBCF}" type="parTrans" cxnId="{A16DD9A7-DC56-4B20-9CA8-DC57143887AE}">
      <dgm:prSet/>
      <dgm:spPr/>
      <dgm:t>
        <a:bodyPr/>
        <a:lstStyle/>
        <a:p>
          <a:endParaRPr lang="en-US"/>
        </a:p>
      </dgm:t>
    </dgm:pt>
    <dgm:pt modelId="{99CC984E-3652-4688-B0B0-90EF8982B55D}" type="sibTrans" cxnId="{A16DD9A7-DC56-4B20-9CA8-DC57143887AE}">
      <dgm:prSet/>
      <dgm:spPr/>
      <dgm:t>
        <a:bodyPr/>
        <a:lstStyle/>
        <a:p>
          <a:endParaRPr lang="en-US"/>
        </a:p>
      </dgm:t>
    </dgm:pt>
    <dgm:pt modelId="{0F061F79-FEDA-4B8D-A161-A7E88C4FDABD}">
      <dgm:prSet/>
      <dgm:spPr/>
      <dgm:t>
        <a:bodyPr/>
        <a:lstStyle/>
        <a:p>
          <a:r>
            <a:rPr lang="en-US" b="1" dirty="0">
              <a:latin typeface="Georgia Pro" panose="02040502050405020303" pitchFamily="18" charset="0"/>
            </a:rPr>
            <a:t>Conclusions</a:t>
          </a:r>
        </a:p>
      </dgm:t>
    </dgm:pt>
    <dgm:pt modelId="{6864C31E-4934-4192-81C5-774CE829115F}" type="parTrans" cxnId="{1B914B88-AEAA-46A8-8A3E-4E5007C5AF24}">
      <dgm:prSet/>
      <dgm:spPr/>
      <dgm:t>
        <a:bodyPr/>
        <a:lstStyle/>
        <a:p>
          <a:endParaRPr lang="en-US"/>
        </a:p>
      </dgm:t>
    </dgm:pt>
    <dgm:pt modelId="{C4CC3CD5-5898-416C-8330-AF64629A8F80}" type="sibTrans" cxnId="{1B914B88-AEAA-46A8-8A3E-4E5007C5AF24}">
      <dgm:prSet/>
      <dgm:spPr/>
      <dgm:t>
        <a:bodyPr/>
        <a:lstStyle/>
        <a:p>
          <a:endParaRPr lang="en-US"/>
        </a:p>
      </dgm:t>
    </dgm:pt>
    <dgm:pt modelId="{7645DCE2-FAAB-432E-B89E-96CF76B982B8}">
      <dgm:prSet/>
      <dgm:spPr/>
      <dgm:t>
        <a:bodyPr/>
        <a:lstStyle/>
        <a:p>
          <a:r>
            <a:rPr lang="en-US" b="1" i="0" dirty="0">
              <a:solidFill>
                <a:schemeClr val="bg1"/>
              </a:solidFill>
              <a:latin typeface="Georgia Pro" panose="02040502050405020303" pitchFamily="18" charset="0"/>
            </a:rPr>
            <a:t>Data Exploratory </a:t>
          </a:r>
          <a:r>
            <a:rPr lang="en-US" i="1" dirty="0">
              <a:solidFill>
                <a:srgbClr val="FF0000"/>
              </a:solidFill>
              <a:latin typeface="Georgia Pro" panose="02040502050405020303" pitchFamily="18" charset="0"/>
            </a:rPr>
            <a:t>– EDA drives design</a:t>
          </a:r>
        </a:p>
      </dgm:t>
    </dgm:pt>
    <dgm:pt modelId="{9A4CF4BC-6EDB-45E6-A372-8512AAC068D7}" type="parTrans" cxnId="{8DED43CB-6AE1-49BF-B766-07C0D4667073}">
      <dgm:prSet/>
      <dgm:spPr/>
      <dgm:t>
        <a:bodyPr/>
        <a:lstStyle/>
        <a:p>
          <a:endParaRPr lang="en-US"/>
        </a:p>
      </dgm:t>
    </dgm:pt>
    <dgm:pt modelId="{9A0C6673-1994-48B4-9DBC-69CC1599EA94}" type="sibTrans" cxnId="{8DED43CB-6AE1-49BF-B766-07C0D4667073}">
      <dgm:prSet/>
      <dgm:spPr/>
      <dgm:t>
        <a:bodyPr/>
        <a:lstStyle/>
        <a:p>
          <a:endParaRPr lang="en-US"/>
        </a:p>
      </dgm:t>
    </dgm:pt>
    <dgm:pt modelId="{671C08F2-0012-4A8E-94C3-ADF85FC4805C}">
      <dgm:prSet/>
      <dgm:spPr/>
      <dgm:t>
        <a:bodyPr/>
        <a:lstStyle/>
        <a:p>
          <a:r>
            <a:rPr lang="en-US" b="1" dirty="0">
              <a:latin typeface="Georgia Pro" panose="02040502050405020303" pitchFamily="18" charset="0"/>
            </a:rPr>
            <a:t>Key methodology </a:t>
          </a:r>
          <a:r>
            <a:rPr lang="en-US" dirty="0">
              <a:latin typeface="Georgia Pro" panose="02040502050405020303" pitchFamily="18" charset="0"/>
            </a:rPr>
            <a:t>– </a:t>
          </a:r>
          <a:r>
            <a:rPr lang="en-US" i="1" dirty="0">
              <a:solidFill>
                <a:srgbClr val="FF0000"/>
              </a:solidFill>
            </a:rPr>
            <a:t>How pipeline supports doctor’s decision?</a:t>
          </a:r>
          <a:endParaRPr lang="en-US" i="1" dirty="0">
            <a:solidFill>
              <a:srgbClr val="FF0000"/>
            </a:solidFill>
            <a:latin typeface="Georgia Pro" panose="02040502050405020303" pitchFamily="18" charset="0"/>
          </a:endParaRPr>
        </a:p>
      </dgm:t>
    </dgm:pt>
    <dgm:pt modelId="{E0D8D252-A99A-4C51-A2E4-F75949B96B14}" type="parTrans" cxnId="{B41A108D-EBB1-4BA4-9904-550AFE7E4D3B}">
      <dgm:prSet/>
      <dgm:spPr/>
      <dgm:t>
        <a:bodyPr/>
        <a:lstStyle/>
        <a:p>
          <a:endParaRPr lang="en-US"/>
        </a:p>
      </dgm:t>
    </dgm:pt>
    <dgm:pt modelId="{7EE22272-1EA9-43DD-AEE8-E305C651CB88}" type="sibTrans" cxnId="{B41A108D-EBB1-4BA4-9904-550AFE7E4D3B}">
      <dgm:prSet/>
      <dgm:spPr/>
      <dgm:t>
        <a:bodyPr/>
        <a:lstStyle/>
        <a:p>
          <a:endParaRPr lang="en-US"/>
        </a:p>
      </dgm:t>
    </dgm:pt>
    <dgm:pt modelId="{E7ED51FB-6EE5-47F7-95E4-F889F2CC2D47}">
      <dgm:prSet/>
      <dgm:spPr/>
      <dgm:t>
        <a:bodyPr/>
        <a:lstStyle/>
        <a:p>
          <a:r>
            <a:rPr lang="en-US" b="1" dirty="0">
              <a:latin typeface="Georgia Pro" panose="02040502050405020303" pitchFamily="18" charset="0"/>
            </a:rPr>
            <a:t>Clinical Usage </a:t>
          </a:r>
          <a:r>
            <a:rPr lang="en-US" dirty="0">
              <a:latin typeface="Georgia Pro" panose="02040502050405020303" pitchFamily="18" charset="0"/>
            </a:rPr>
            <a:t>– </a:t>
          </a:r>
          <a:r>
            <a:rPr lang="en-US" i="1" dirty="0">
              <a:solidFill>
                <a:srgbClr val="FF0000"/>
              </a:solidFill>
              <a:latin typeface="Georgia Pro" panose="02040502050405020303" pitchFamily="18" charset="0"/>
            </a:rPr>
            <a:t>How does this fit into real clinical practice?</a:t>
          </a:r>
        </a:p>
      </dgm:t>
    </dgm:pt>
    <dgm:pt modelId="{383F1836-7B4D-4229-AEBF-4B3E300CA07F}" type="parTrans" cxnId="{B5CEEB30-273D-4761-90FE-8190AC2BA388}">
      <dgm:prSet/>
      <dgm:spPr/>
      <dgm:t>
        <a:bodyPr/>
        <a:lstStyle/>
        <a:p>
          <a:endParaRPr lang="en-US"/>
        </a:p>
      </dgm:t>
    </dgm:pt>
    <dgm:pt modelId="{B77DE182-20C9-424C-9C21-C9A1BFBAFC00}" type="sibTrans" cxnId="{B5CEEB30-273D-4761-90FE-8190AC2BA388}">
      <dgm:prSet/>
      <dgm:spPr/>
      <dgm:t>
        <a:bodyPr/>
        <a:lstStyle/>
        <a:p>
          <a:endParaRPr lang="en-US"/>
        </a:p>
      </dgm:t>
    </dgm:pt>
    <dgm:pt modelId="{431E9D10-55D7-413E-95BD-0C0012521ED5}">
      <dgm:prSet/>
      <dgm:spPr/>
      <dgm:t>
        <a:bodyPr/>
        <a:lstStyle/>
        <a:p>
          <a:r>
            <a:rPr lang="en-US" b="1" dirty="0">
              <a:latin typeface="Georgia Pro" panose="02040502050405020303" pitchFamily="18" charset="0"/>
            </a:rPr>
            <a:t>Prototype </a:t>
          </a:r>
          <a:r>
            <a:rPr lang="en-US" dirty="0">
              <a:latin typeface="Georgia Pro" panose="02040502050405020303" pitchFamily="18" charset="0"/>
            </a:rPr>
            <a:t>– </a:t>
          </a:r>
          <a:r>
            <a:rPr lang="en-US" i="1" dirty="0">
              <a:solidFill>
                <a:srgbClr val="FF0000"/>
              </a:solidFill>
              <a:latin typeface="Georgia Pro" panose="02040502050405020303" pitchFamily="18" charset="0"/>
            </a:rPr>
            <a:t>How CDS look like?</a:t>
          </a:r>
          <a:endParaRPr lang="en-US" dirty="0">
            <a:solidFill>
              <a:srgbClr val="FF0000"/>
            </a:solidFill>
            <a:latin typeface="Georgia Pro" panose="02040502050405020303" pitchFamily="18" charset="0"/>
          </a:endParaRPr>
        </a:p>
      </dgm:t>
    </dgm:pt>
    <dgm:pt modelId="{EA6F3283-4AF9-4F96-A4F3-124C155402F5}" type="parTrans" cxnId="{43645E7A-79AA-49FF-8C85-3CBD44C1718F}">
      <dgm:prSet/>
      <dgm:spPr/>
      <dgm:t>
        <a:bodyPr/>
        <a:lstStyle/>
        <a:p>
          <a:endParaRPr lang="en-US"/>
        </a:p>
      </dgm:t>
    </dgm:pt>
    <dgm:pt modelId="{F3EE7223-DA69-4642-892D-F6AE35AFD4DF}" type="sibTrans" cxnId="{43645E7A-79AA-49FF-8C85-3CBD44C1718F}">
      <dgm:prSet/>
      <dgm:spPr/>
      <dgm:t>
        <a:bodyPr/>
        <a:lstStyle/>
        <a:p>
          <a:endParaRPr lang="en-US"/>
        </a:p>
      </dgm:t>
    </dgm:pt>
    <dgm:pt modelId="{8492776F-CA0C-4B9E-90AB-5D0EF732B009}">
      <dgm:prSet/>
      <dgm:spPr/>
      <dgm:t>
        <a:bodyPr/>
        <a:lstStyle/>
        <a:p>
          <a:r>
            <a:rPr lang="en-US" b="1" dirty="0">
              <a:latin typeface="Georgia Pro" panose="02040502050405020303" pitchFamily="18" charset="0"/>
            </a:rPr>
            <a:t>Decision Framework </a:t>
          </a:r>
          <a:r>
            <a:rPr lang="en-US" dirty="0">
              <a:latin typeface="Georgia Pro" panose="02040502050405020303" pitchFamily="18" charset="0"/>
            </a:rPr>
            <a:t>– </a:t>
          </a:r>
          <a:r>
            <a:rPr lang="en-US" i="1" dirty="0">
              <a:solidFill>
                <a:srgbClr val="FF0000"/>
              </a:solidFill>
              <a:latin typeface="Georgia Pro" panose="02040502050405020303" pitchFamily="18" charset="0"/>
            </a:rPr>
            <a:t>How we provide recommendations</a:t>
          </a:r>
        </a:p>
      </dgm:t>
    </dgm:pt>
    <dgm:pt modelId="{7C62DD7B-9CD4-40E0-A4FB-1FEB92896BF2}" type="parTrans" cxnId="{EEEF2E84-1A57-48C8-AAE1-490EB6AF1954}">
      <dgm:prSet/>
      <dgm:spPr/>
      <dgm:t>
        <a:bodyPr/>
        <a:lstStyle/>
        <a:p>
          <a:endParaRPr lang="en-US"/>
        </a:p>
      </dgm:t>
    </dgm:pt>
    <dgm:pt modelId="{91BF26F0-8485-4375-B344-754F44A08862}" type="sibTrans" cxnId="{EEEF2E84-1A57-48C8-AAE1-490EB6AF1954}">
      <dgm:prSet/>
      <dgm:spPr/>
      <dgm:t>
        <a:bodyPr/>
        <a:lstStyle/>
        <a:p>
          <a:endParaRPr lang="en-US"/>
        </a:p>
      </dgm:t>
    </dgm:pt>
    <dgm:pt modelId="{C7168E07-3EEF-49C0-B916-DB1DC26497A8}" type="pres">
      <dgm:prSet presAssocID="{19FD5940-D59F-41D1-B5DF-D22EB93E4636}" presName="Name0" presStyleCnt="0">
        <dgm:presLayoutVars>
          <dgm:dir/>
          <dgm:animLvl val="lvl"/>
          <dgm:resizeHandles val="exact"/>
        </dgm:presLayoutVars>
      </dgm:prSet>
      <dgm:spPr/>
    </dgm:pt>
    <dgm:pt modelId="{F76ADB89-6C6F-4A92-BBB6-1E1261001768}" type="pres">
      <dgm:prSet presAssocID="{0F061F79-FEDA-4B8D-A161-A7E88C4FDABD}" presName="boxAndChildren" presStyleCnt="0"/>
      <dgm:spPr/>
    </dgm:pt>
    <dgm:pt modelId="{4FF1ADBC-0A07-4BD8-BF57-270189EC2A76}" type="pres">
      <dgm:prSet presAssocID="{0F061F79-FEDA-4B8D-A161-A7E88C4FDABD}" presName="parentTextBox" presStyleLbl="node1" presStyleIdx="0" presStyleCnt="7"/>
      <dgm:spPr/>
    </dgm:pt>
    <dgm:pt modelId="{CAB47C63-6C71-4405-8EF1-973F17BA6BE6}" type="pres">
      <dgm:prSet presAssocID="{B77DE182-20C9-424C-9C21-C9A1BFBAFC00}" presName="sp" presStyleCnt="0"/>
      <dgm:spPr/>
    </dgm:pt>
    <dgm:pt modelId="{025A5467-0760-43C3-9641-4CF1852F827B}" type="pres">
      <dgm:prSet presAssocID="{E7ED51FB-6EE5-47F7-95E4-F889F2CC2D47}" presName="arrowAndChildren" presStyleCnt="0"/>
      <dgm:spPr/>
    </dgm:pt>
    <dgm:pt modelId="{82D1F7A2-54E4-4DCA-9514-78312A329D2B}" type="pres">
      <dgm:prSet presAssocID="{E7ED51FB-6EE5-47F7-95E4-F889F2CC2D47}" presName="parentTextArrow" presStyleLbl="node1" presStyleIdx="1" presStyleCnt="7"/>
      <dgm:spPr/>
    </dgm:pt>
    <dgm:pt modelId="{C85D4E0B-6CAF-45D2-B3D1-831268035859}" type="pres">
      <dgm:prSet presAssocID="{F3EE7223-DA69-4642-892D-F6AE35AFD4DF}" presName="sp" presStyleCnt="0"/>
      <dgm:spPr/>
    </dgm:pt>
    <dgm:pt modelId="{54903242-06B9-4E9D-9792-D954075DE9AD}" type="pres">
      <dgm:prSet presAssocID="{431E9D10-55D7-413E-95BD-0C0012521ED5}" presName="arrowAndChildren" presStyleCnt="0"/>
      <dgm:spPr/>
    </dgm:pt>
    <dgm:pt modelId="{8F5567EE-F9E3-4954-B28C-4D999ED359BD}" type="pres">
      <dgm:prSet presAssocID="{431E9D10-55D7-413E-95BD-0C0012521ED5}" presName="parentTextArrow" presStyleLbl="node1" presStyleIdx="2" presStyleCnt="7"/>
      <dgm:spPr/>
    </dgm:pt>
    <dgm:pt modelId="{8F8B6976-0194-4668-A6FC-982B41A61CD5}" type="pres">
      <dgm:prSet presAssocID="{7EE22272-1EA9-43DD-AEE8-E305C651CB88}" presName="sp" presStyleCnt="0"/>
      <dgm:spPr/>
    </dgm:pt>
    <dgm:pt modelId="{01FF54FA-83CF-407E-BD60-8782D3456D46}" type="pres">
      <dgm:prSet presAssocID="{671C08F2-0012-4A8E-94C3-ADF85FC4805C}" presName="arrowAndChildren" presStyleCnt="0"/>
      <dgm:spPr/>
    </dgm:pt>
    <dgm:pt modelId="{CF4F9B24-D0E1-4CE3-ADDB-B78BF92D4302}" type="pres">
      <dgm:prSet presAssocID="{671C08F2-0012-4A8E-94C3-ADF85FC4805C}" presName="parentTextArrow" presStyleLbl="node1" presStyleIdx="3" presStyleCnt="7"/>
      <dgm:spPr/>
    </dgm:pt>
    <dgm:pt modelId="{84D400E1-D06B-4B22-B185-06BE4D2B1C27}" type="pres">
      <dgm:prSet presAssocID="{91BF26F0-8485-4375-B344-754F44A08862}" presName="sp" presStyleCnt="0"/>
      <dgm:spPr/>
    </dgm:pt>
    <dgm:pt modelId="{D797CB5D-5383-4F70-B021-BE401A7D977A}" type="pres">
      <dgm:prSet presAssocID="{8492776F-CA0C-4B9E-90AB-5D0EF732B009}" presName="arrowAndChildren" presStyleCnt="0"/>
      <dgm:spPr/>
    </dgm:pt>
    <dgm:pt modelId="{C716F317-9813-463B-95A7-EED25E8675A2}" type="pres">
      <dgm:prSet presAssocID="{8492776F-CA0C-4B9E-90AB-5D0EF732B009}" presName="parentTextArrow" presStyleLbl="node1" presStyleIdx="4" presStyleCnt="7"/>
      <dgm:spPr/>
    </dgm:pt>
    <dgm:pt modelId="{C1B41FDE-DCFF-424F-8AAD-025265AC0F25}" type="pres">
      <dgm:prSet presAssocID="{9A0C6673-1994-48B4-9DBC-69CC1599EA94}" presName="sp" presStyleCnt="0"/>
      <dgm:spPr/>
    </dgm:pt>
    <dgm:pt modelId="{06AE7651-F2D9-4586-AB07-B41B8BC15218}" type="pres">
      <dgm:prSet presAssocID="{7645DCE2-FAAB-432E-B89E-96CF76B982B8}" presName="arrowAndChildren" presStyleCnt="0"/>
      <dgm:spPr/>
    </dgm:pt>
    <dgm:pt modelId="{3B68B958-D8FA-4A90-9490-F14950707B4E}" type="pres">
      <dgm:prSet presAssocID="{7645DCE2-FAAB-432E-B89E-96CF76B982B8}" presName="parentTextArrow" presStyleLbl="node1" presStyleIdx="5" presStyleCnt="7"/>
      <dgm:spPr/>
    </dgm:pt>
    <dgm:pt modelId="{5555D8F8-CEA3-41D4-AC21-E2A9D2B1603F}" type="pres">
      <dgm:prSet presAssocID="{99CC984E-3652-4688-B0B0-90EF8982B55D}" presName="sp" presStyleCnt="0"/>
      <dgm:spPr/>
    </dgm:pt>
    <dgm:pt modelId="{CA719FF2-E191-48CD-A416-C36EF92DD3AA}" type="pres">
      <dgm:prSet presAssocID="{AFE516D2-1CDE-4264-BB4F-45BFEA344030}" presName="arrowAndChildren" presStyleCnt="0"/>
      <dgm:spPr/>
    </dgm:pt>
    <dgm:pt modelId="{CCB1CE9C-8863-4DEC-810E-241FD3920CAA}" type="pres">
      <dgm:prSet presAssocID="{AFE516D2-1CDE-4264-BB4F-45BFEA344030}" presName="parentTextArrow" presStyleLbl="node1" presStyleIdx="6" presStyleCnt="7" custLinFactNeighborX="-152" custLinFactNeighborY="-21678"/>
      <dgm:spPr/>
    </dgm:pt>
  </dgm:ptLst>
  <dgm:cxnLst>
    <dgm:cxn modelId="{1D37851E-E888-4BF6-AF29-122672D312EE}" type="presOf" srcId="{431E9D10-55D7-413E-95BD-0C0012521ED5}" destId="{8F5567EE-F9E3-4954-B28C-4D999ED359BD}" srcOrd="0" destOrd="0" presId="urn:microsoft.com/office/officeart/2005/8/layout/process4"/>
    <dgm:cxn modelId="{4D58241F-47FF-4D7D-9DE1-DE3613195AEB}" type="presOf" srcId="{671C08F2-0012-4A8E-94C3-ADF85FC4805C}" destId="{CF4F9B24-D0E1-4CE3-ADDB-B78BF92D4302}" srcOrd="0" destOrd="0" presId="urn:microsoft.com/office/officeart/2005/8/layout/process4"/>
    <dgm:cxn modelId="{B5CEEB30-273D-4761-90FE-8190AC2BA388}" srcId="{19FD5940-D59F-41D1-B5DF-D22EB93E4636}" destId="{E7ED51FB-6EE5-47F7-95E4-F889F2CC2D47}" srcOrd="5" destOrd="0" parTransId="{383F1836-7B4D-4229-AEBF-4B3E300CA07F}" sibTransId="{B77DE182-20C9-424C-9C21-C9A1BFBAFC00}"/>
    <dgm:cxn modelId="{22305132-3E0B-4106-BDB4-910ED124D6FB}" type="presOf" srcId="{8492776F-CA0C-4B9E-90AB-5D0EF732B009}" destId="{C716F317-9813-463B-95A7-EED25E8675A2}" srcOrd="0" destOrd="0" presId="urn:microsoft.com/office/officeart/2005/8/layout/process4"/>
    <dgm:cxn modelId="{218AD442-5DC5-4003-8073-EFAD0794C8DF}" type="presOf" srcId="{E7ED51FB-6EE5-47F7-95E4-F889F2CC2D47}" destId="{82D1F7A2-54E4-4DCA-9514-78312A329D2B}" srcOrd="0" destOrd="0" presId="urn:microsoft.com/office/officeart/2005/8/layout/process4"/>
    <dgm:cxn modelId="{7FC33C76-64D3-49EC-B707-582B51469641}" type="presOf" srcId="{AFE516D2-1CDE-4264-BB4F-45BFEA344030}" destId="{CCB1CE9C-8863-4DEC-810E-241FD3920CAA}" srcOrd="0" destOrd="0" presId="urn:microsoft.com/office/officeart/2005/8/layout/process4"/>
    <dgm:cxn modelId="{43645E7A-79AA-49FF-8C85-3CBD44C1718F}" srcId="{19FD5940-D59F-41D1-B5DF-D22EB93E4636}" destId="{431E9D10-55D7-413E-95BD-0C0012521ED5}" srcOrd="4" destOrd="0" parTransId="{EA6F3283-4AF9-4F96-A4F3-124C155402F5}" sibTransId="{F3EE7223-DA69-4642-892D-F6AE35AFD4DF}"/>
    <dgm:cxn modelId="{EEEF2E84-1A57-48C8-AAE1-490EB6AF1954}" srcId="{19FD5940-D59F-41D1-B5DF-D22EB93E4636}" destId="{8492776F-CA0C-4B9E-90AB-5D0EF732B009}" srcOrd="2" destOrd="0" parTransId="{7C62DD7B-9CD4-40E0-A4FB-1FEB92896BF2}" sibTransId="{91BF26F0-8485-4375-B344-754F44A08862}"/>
    <dgm:cxn modelId="{1B914B88-AEAA-46A8-8A3E-4E5007C5AF24}" srcId="{19FD5940-D59F-41D1-B5DF-D22EB93E4636}" destId="{0F061F79-FEDA-4B8D-A161-A7E88C4FDABD}" srcOrd="6" destOrd="0" parTransId="{6864C31E-4934-4192-81C5-774CE829115F}" sibTransId="{C4CC3CD5-5898-416C-8330-AF64629A8F80}"/>
    <dgm:cxn modelId="{B41A108D-EBB1-4BA4-9904-550AFE7E4D3B}" srcId="{19FD5940-D59F-41D1-B5DF-D22EB93E4636}" destId="{671C08F2-0012-4A8E-94C3-ADF85FC4805C}" srcOrd="3" destOrd="0" parTransId="{E0D8D252-A99A-4C51-A2E4-F75949B96B14}" sibTransId="{7EE22272-1EA9-43DD-AEE8-E305C651CB88}"/>
    <dgm:cxn modelId="{ADADBAA6-9F39-4778-A1E7-62C32A8050B5}" type="presOf" srcId="{0F061F79-FEDA-4B8D-A161-A7E88C4FDABD}" destId="{4FF1ADBC-0A07-4BD8-BF57-270189EC2A76}" srcOrd="0" destOrd="0" presId="urn:microsoft.com/office/officeart/2005/8/layout/process4"/>
    <dgm:cxn modelId="{A16DD9A7-DC56-4B20-9CA8-DC57143887AE}" srcId="{19FD5940-D59F-41D1-B5DF-D22EB93E4636}" destId="{AFE516D2-1CDE-4264-BB4F-45BFEA344030}" srcOrd="0" destOrd="0" parTransId="{D9A02595-E69F-450C-B363-6ADDBD52BBCF}" sibTransId="{99CC984E-3652-4688-B0B0-90EF8982B55D}"/>
    <dgm:cxn modelId="{D8C33ABD-9932-465E-BB0A-1998115B1047}" type="presOf" srcId="{19FD5940-D59F-41D1-B5DF-D22EB93E4636}" destId="{C7168E07-3EEF-49C0-B916-DB1DC26497A8}" srcOrd="0" destOrd="0" presId="urn:microsoft.com/office/officeart/2005/8/layout/process4"/>
    <dgm:cxn modelId="{8DED43CB-6AE1-49BF-B766-07C0D4667073}" srcId="{19FD5940-D59F-41D1-B5DF-D22EB93E4636}" destId="{7645DCE2-FAAB-432E-B89E-96CF76B982B8}" srcOrd="1" destOrd="0" parTransId="{9A4CF4BC-6EDB-45E6-A372-8512AAC068D7}" sibTransId="{9A0C6673-1994-48B4-9DBC-69CC1599EA94}"/>
    <dgm:cxn modelId="{040B41D3-A344-4848-B4C5-F1B8F9CF3E38}" type="presOf" srcId="{7645DCE2-FAAB-432E-B89E-96CF76B982B8}" destId="{3B68B958-D8FA-4A90-9490-F14950707B4E}" srcOrd="0" destOrd="0" presId="urn:microsoft.com/office/officeart/2005/8/layout/process4"/>
    <dgm:cxn modelId="{20ADFF22-76E6-4CEE-9F62-EB19EE432DA2}" type="presParOf" srcId="{C7168E07-3EEF-49C0-B916-DB1DC26497A8}" destId="{F76ADB89-6C6F-4A92-BBB6-1E1261001768}" srcOrd="0" destOrd="0" presId="urn:microsoft.com/office/officeart/2005/8/layout/process4"/>
    <dgm:cxn modelId="{F849A0E8-A8C7-4708-9E52-686F1BF7BAF9}" type="presParOf" srcId="{F76ADB89-6C6F-4A92-BBB6-1E1261001768}" destId="{4FF1ADBC-0A07-4BD8-BF57-270189EC2A76}" srcOrd="0" destOrd="0" presId="urn:microsoft.com/office/officeart/2005/8/layout/process4"/>
    <dgm:cxn modelId="{8FCFEC3E-FC6C-4C6D-9893-BD1E4BCA21C6}" type="presParOf" srcId="{C7168E07-3EEF-49C0-B916-DB1DC26497A8}" destId="{CAB47C63-6C71-4405-8EF1-973F17BA6BE6}" srcOrd="1" destOrd="0" presId="urn:microsoft.com/office/officeart/2005/8/layout/process4"/>
    <dgm:cxn modelId="{0CFD5849-7207-4100-AF49-A68B397739A1}" type="presParOf" srcId="{C7168E07-3EEF-49C0-B916-DB1DC26497A8}" destId="{025A5467-0760-43C3-9641-4CF1852F827B}" srcOrd="2" destOrd="0" presId="urn:microsoft.com/office/officeart/2005/8/layout/process4"/>
    <dgm:cxn modelId="{B7062F4D-9E78-4A88-8358-C5FE9A7F523B}" type="presParOf" srcId="{025A5467-0760-43C3-9641-4CF1852F827B}" destId="{82D1F7A2-54E4-4DCA-9514-78312A329D2B}" srcOrd="0" destOrd="0" presId="urn:microsoft.com/office/officeart/2005/8/layout/process4"/>
    <dgm:cxn modelId="{9D30D276-9B74-45E3-A043-845E1D4D42F9}" type="presParOf" srcId="{C7168E07-3EEF-49C0-B916-DB1DC26497A8}" destId="{C85D4E0B-6CAF-45D2-B3D1-831268035859}" srcOrd="3" destOrd="0" presId="urn:microsoft.com/office/officeart/2005/8/layout/process4"/>
    <dgm:cxn modelId="{5CE9B2C4-5BEA-487F-8BB1-2ABF926E47F1}" type="presParOf" srcId="{C7168E07-3EEF-49C0-B916-DB1DC26497A8}" destId="{54903242-06B9-4E9D-9792-D954075DE9AD}" srcOrd="4" destOrd="0" presId="urn:microsoft.com/office/officeart/2005/8/layout/process4"/>
    <dgm:cxn modelId="{CCD75DE0-082A-467B-8FB6-4C019DEC2C68}" type="presParOf" srcId="{54903242-06B9-4E9D-9792-D954075DE9AD}" destId="{8F5567EE-F9E3-4954-B28C-4D999ED359BD}" srcOrd="0" destOrd="0" presId="urn:microsoft.com/office/officeart/2005/8/layout/process4"/>
    <dgm:cxn modelId="{646C0F63-8017-46F9-A9A3-57F42DE332A7}" type="presParOf" srcId="{C7168E07-3EEF-49C0-B916-DB1DC26497A8}" destId="{8F8B6976-0194-4668-A6FC-982B41A61CD5}" srcOrd="5" destOrd="0" presId="urn:microsoft.com/office/officeart/2005/8/layout/process4"/>
    <dgm:cxn modelId="{A7ABA902-8CFE-4099-ABFD-E3161EB85BDC}" type="presParOf" srcId="{C7168E07-3EEF-49C0-B916-DB1DC26497A8}" destId="{01FF54FA-83CF-407E-BD60-8782D3456D46}" srcOrd="6" destOrd="0" presId="urn:microsoft.com/office/officeart/2005/8/layout/process4"/>
    <dgm:cxn modelId="{1A9A3561-C048-47CD-A4EA-0E2F3CEBFACB}" type="presParOf" srcId="{01FF54FA-83CF-407E-BD60-8782D3456D46}" destId="{CF4F9B24-D0E1-4CE3-ADDB-B78BF92D4302}" srcOrd="0" destOrd="0" presId="urn:microsoft.com/office/officeart/2005/8/layout/process4"/>
    <dgm:cxn modelId="{B8A38F0F-EC0B-46B0-A78D-84AB46C70356}" type="presParOf" srcId="{C7168E07-3EEF-49C0-B916-DB1DC26497A8}" destId="{84D400E1-D06B-4B22-B185-06BE4D2B1C27}" srcOrd="7" destOrd="0" presId="urn:microsoft.com/office/officeart/2005/8/layout/process4"/>
    <dgm:cxn modelId="{74CBAC71-9E21-44DB-9B61-762986DB0E69}" type="presParOf" srcId="{C7168E07-3EEF-49C0-B916-DB1DC26497A8}" destId="{D797CB5D-5383-4F70-B021-BE401A7D977A}" srcOrd="8" destOrd="0" presId="urn:microsoft.com/office/officeart/2005/8/layout/process4"/>
    <dgm:cxn modelId="{2054ED15-244C-48E3-971A-EDA2231FD2D4}" type="presParOf" srcId="{D797CB5D-5383-4F70-B021-BE401A7D977A}" destId="{C716F317-9813-463B-95A7-EED25E8675A2}" srcOrd="0" destOrd="0" presId="urn:microsoft.com/office/officeart/2005/8/layout/process4"/>
    <dgm:cxn modelId="{ABEAAAD5-166C-4DE2-B33E-690C00D2D930}" type="presParOf" srcId="{C7168E07-3EEF-49C0-B916-DB1DC26497A8}" destId="{C1B41FDE-DCFF-424F-8AAD-025265AC0F25}" srcOrd="9" destOrd="0" presId="urn:microsoft.com/office/officeart/2005/8/layout/process4"/>
    <dgm:cxn modelId="{3FDC2E08-D3C5-4B37-BE68-DA5B9935744A}" type="presParOf" srcId="{C7168E07-3EEF-49C0-B916-DB1DC26497A8}" destId="{06AE7651-F2D9-4586-AB07-B41B8BC15218}" srcOrd="10" destOrd="0" presId="urn:microsoft.com/office/officeart/2005/8/layout/process4"/>
    <dgm:cxn modelId="{8585804B-3B18-4FAB-BDF7-4DF16B5F925C}" type="presParOf" srcId="{06AE7651-F2D9-4586-AB07-B41B8BC15218}" destId="{3B68B958-D8FA-4A90-9490-F14950707B4E}" srcOrd="0" destOrd="0" presId="urn:microsoft.com/office/officeart/2005/8/layout/process4"/>
    <dgm:cxn modelId="{2755BEC6-0797-49C7-8B70-502D79B29225}" type="presParOf" srcId="{C7168E07-3EEF-49C0-B916-DB1DC26497A8}" destId="{5555D8F8-CEA3-41D4-AC21-E2A9D2B1603F}" srcOrd="11" destOrd="0" presId="urn:microsoft.com/office/officeart/2005/8/layout/process4"/>
    <dgm:cxn modelId="{5BD089D3-9F58-4A44-9193-A4602C56F71E}" type="presParOf" srcId="{C7168E07-3EEF-49C0-B916-DB1DC26497A8}" destId="{CA719FF2-E191-48CD-A416-C36EF92DD3AA}" srcOrd="12" destOrd="0" presId="urn:microsoft.com/office/officeart/2005/8/layout/process4"/>
    <dgm:cxn modelId="{F785BC67-DEE9-4BF4-9B39-004CFD926BDE}" type="presParOf" srcId="{CA719FF2-E191-48CD-A416-C36EF92DD3AA}" destId="{CCB1CE9C-8863-4DEC-810E-241FD3920CA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4D74590-8BED-4B74-9E91-6C1457C0D5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CE4C85-FC35-4E0A-B694-13B4BE5CA84A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buNone/>
          </a:pPr>
          <a:r>
            <a:rPr lang="en-US" sz="2000" b="1" dirty="0">
              <a:solidFill>
                <a:sysClr val="windowText" lastClr="000000"/>
              </a:solidFill>
              <a:latin typeface="Georgia Pro" panose="02040502050405020303" pitchFamily="18" charset="0"/>
            </a:rPr>
            <a:t>Estimate Treatment Effects</a:t>
          </a:r>
          <a:endParaRPr lang="en-US" sz="2000" dirty="0">
            <a:solidFill>
              <a:sysClr val="windowText" lastClr="000000"/>
            </a:solidFill>
            <a:latin typeface="Georgia Pro" panose="02040502050405020303" pitchFamily="18" charset="0"/>
          </a:endParaRPr>
        </a:p>
      </dgm:t>
    </dgm:pt>
    <dgm:pt modelId="{A5222DC4-33E7-4CEF-ACC2-D9A15614D851}" type="parTrans" cxnId="{E4AC72AB-69E7-484A-BC53-8525B2D03BB7}">
      <dgm:prSet/>
      <dgm:spPr/>
      <dgm:t>
        <a:bodyPr/>
        <a:lstStyle/>
        <a:p>
          <a:endParaRPr lang="en-US"/>
        </a:p>
      </dgm:t>
    </dgm:pt>
    <dgm:pt modelId="{682E2F03-71CA-4E60-A064-2B000439E220}" type="sibTrans" cxnId="{E4AC72AB-69E7-484A-BC53-8525B2D03BB7}">
      <dgm:prSet/>
      <dgm:spPr>
        <a:solidFill>
          <a:schemeClr val="bg1">
            <a:lumMod val="75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E9A253A7-3000-41D7-8509-6B5E8B9140A8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buNone/>
          </a:pPr>
          <a:r>
            <a:rPr lang="en-US" sz="2000" dirty="0">
              <a:solidFill>
                <a:sysClr val="windowText" lastClr="000000"/>
              </a:solidFill>
              <a:latin typeface="Georgia Pro" panose="02040502050405020303" pitchFamily="18" charset="0"/>
            </a:rPr>
            <a:t>Patient-specific outcomes for Surgery vs Conservative</a:t>
          </a:r>
        </a:p>
      </dgm:t>
    </dgm:pt>
    <dgm:pt modelId="{5608BA46-C768-4602-8FC5-4E3C54EB33D0}" type="parTrans" cxnId="{3E12C978-D5FC-473A-83C6-D6427908CC30}">
      <dgm:prSet/>
      <dgm:spPr/>
      <dgm:t>
        <a:bodyPr/>
        <a:lstStyle/>
        <a:p>
          <a:endParaRPr lang="en-US"/>
        </a:p>
      </dgm:t>
    </dgm:pt>
    <dgm:pt modelId="{57E57647-46D3-4ADA-A152-319F8A10E6BF}" type="sibTrans" cxnId="{3E12C978-D5FC-473A-83C6-D6427908CC30}">
      <dgm:prSet/>
      <dgm:spPr/>
      <dgm:t>
        <a:bodyPr/>
        <a:lstStyle/>
        <a:p>
          <a:endParaRPr lang="en-US"/>
        </a:p>
      </dgm:t>
    </dgm:pt>
    <dgm:pt modelId="{2C355B91-EF0F-4046-9E2B-94645C8A655F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000" b="1" dirty="0">
              <a:solidFill>
                <a:sysClr val="windowText" lastClr="000000"/>
              </a:solidFill>
              <a:latin typeface="Georgia Pro" panose="02040502050405020303" pitchFamily="18" charset="0"/>
            </a:rPr>
            <a:t>Apply Patient Preferences</a:t>
          </a:r>
          <a:endParaRPr lang="en-US" sz="2000" dirty="0">
            <a:solidFill>
              <a:sysClr val="windowText" lastClr="000000"/>
            </a:solidFill>
            <a:latin typeface="Georgia Pro" panose="02040502050405020303" pitchFamily="18" charset="0"/>
          </a:endParaRPr>
        </a:p>
      </dgm:t>
    </dgm:pt>
    <dgm:pt modelId="{AE454879-7404-4C3A-A180-589D1461FA9C}" type="parTrans" cxnId="{B797C861-3659-4246-BCA4-01BF64AFD618}">
      <dgm:prSet/>
      <dgm:spPr/>
      <dgm:t>
        <a:bodyPr/>
        <a:lstStyle/>
        <a:p>
          <a:endParaRPr lang="en-US"/>
        </a:p>
      </dgm:t>
    </dgm:pt>
    <dgm:pt modelId="{48970E9E-DC74-436A-A5F4-433F3FC95B52}" type="sibTrans" cxnId="{B797C861-3659-4246-BCA4-01BF64AFD618}">
      <dgm:prSet/>
      <dgm:spPr>
        <a:solidFill>
          <a:schemeClr val="bg1">
            <a:lumMod val="75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09BED9AB-994E-4C25-9CFD-FEE635B13E67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000" dirty="0">
              <a:solidFill>
                <a:sysClr val="windowText" lastClr="000000"/>
              </a:solidFill>
              <a:latin typeface="Georgia Pro" panose="02040502050405020303" pitchFamily="18" charset="0"/>
            </a:rPr>
            <a:t>Weight outcomes using WP1–WP5</a:t>
          </a:r>
        </a:p>
      </dgm:t>
    </dgm:pt>
    <dgm:pt modelId="{0B931878-81D0-46A1-8043-A3C8A16429DB}" type="parTrans" cxnId="{35287B0F-80E5-406C-B563-1849993E5674}">
      <dgm:prSet/>
      <dgm:spPr/>
      <dgm:t>
        <a:bodyPr/>
        <a:lstStyle/>
        <a:p>
          <a:endParaRPr lang="en-US"/>
        </a:p>
      </dgm:t>
    </dgm:pt>
    <dgm:pt modelId="{264D542F-7882-4E3C-8D41-B7AEBBB2BBB7}" type="sibTrans" cxnId="{35287B0F-80E5-406C-B563-1849993E5674}">
      <dgm:prSet/>
      <dgm:spPr/>
      <dgm:t>
        <a:bodyPr/>
        <a:lstStyle/>
        <a:p>
          <a:endParaRPr lang="en-US"/>
        </a:p>
      </dgm:t>
    </dgm:pt>
    <dgm:pt modelId="{7D8FAFFA-7DD3-42B0-9A15-EA318738BE3F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buNone/>
          </a:pPr>
          <a:r>
            <a:rPr lang="en-US" sz="2000" b="1" dirty="0">
              <a:solidFill>
                <a:sysClr val="windowText" lastClr="000000"/>
              </a:solidFill>
              <a:latin typeface="Georgia Pro" panose="02040502050405020303" pitchFamily="18" charset="0"/>
            </a:rPr>
            <a:t>Compute Utility Difference</a:t>
          </a:r>
          <a:endParaRPr lang="en-US" sz="2000" dirty="0">
            <a:solidFill>
              <a:sysClr val="windowText" lastClr="000000"/>
            </a:solidFill>
            <a:latin typeface="Georgia Pro" panose="02040502050405020303" pitchFamily="18" charset="0"/>
          </a:endParaRPr>
        </a:p>
      </dgm:t>
    </dgm:pt>
    <dgm:pt modelId="{EE3EB154-6D50-4D24-9C5C-FB5634DC20F5}" type="parTrans" cxnId="{0B34D830-190F-4D91-AC1C-A673D2908FA7}">
      <dgm:prSet/>
      <dgm:spPr/>
      <dgm:t>
        <a:bodyPr/>
        <a:lstStyle/>
        <a:p>
          <a:endParaRPr lang="en-US"/>
        </a:p>
      </dgm:t>
    </dgm:pt>
    <dgm:pt modelId="{8C55996A-E6BA-43CA-B78A-5AB437311D4A}" type="sibTrans" cxnId="{0B34D830-190F-4D91-AC1C-A673D2908FA7}">
      <dgm:prSet/>
      <dgm:spPr/>
      <dgm:t>
        <a:bodyPr/>
        <a:lstStyle/>
        <a:p>
          <a:endParaRPr lang="en-US"/>
        </a:p>
      </dgm:t>
    </dgm:pt>
    <dgm:pt modelId="{9FB94214-9339-491B-9995-B96324168FAC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buNone/>
          </a:pPr>
          <a:r>
            <a:rPr lang="el-GR" sz="2000" dirty="0">
              <a:solidFill>
                <a:sysClr val="windowText" lastClr="000000"/>
              </a:solidFill>
              <a:latin typeface="Georgia Pro" panose="02040502050405020303" pitchFamily="18" charset="0"/>
            </a:rPr>
            <a:t>Δ</a:t>
          </a:r>
          <a:r>
            <a:rPr lang="en-US" sz="2000" dirty="0">
              <a:solidFill>
                <a:sysClr val="windowText" lastClr="000000"/>
              </a:solidFill>
              <a:latin typeface="Georgia Pro" panose="02040502050405020303" pitchFamily="18" charset="0"/>
            </a:rPr>
            <a:t>U = Surgery − Conservative</a:t>
          </a:r>
        </a:p>
      </dgm:t>
    </dgm:pt>
    <dgm:pt modelId="{0357410C-8F51-4C74-9BE6-80037219214D}" type="parTrans" cxnId="{7ECB0C82-6548-4151-84F4-03E2440BFF69}">
      <dgm:prSet/>
      <dgm:spPr/>
      <dgm:t>
        <a:bodyPr/>
        <a:lstStyle/>
        <a:p>
          <a:endParaRPr lang="en-US"/>
        </a:p>
      </dgm:t>
    </dgm:pt>
    <dgm:pt modelId="{8988427D-3F46-4610-B94D-692B1050C479}" type="sibTrans" cxnId="{7ECB0C82-6548-4151-84F4-03E2440BFF69}">
      <dgm:prSet/>
      <dgm:spPr/>
      <dgm:t>
        <a:bodyPr/>
        <a:lstStyle/>
        <a:p>
          <a:endParaRPr lang="en-US"/>
        </a:p>
      </dgm:t>
    </dgm:pt>
    <dgm:pt modelId="{58C520CF-AF62-4CA2-8F8D-118C2D0D222E}">
      <dgm:prSet custT="1"/>
      <dgm:spPr>
        <a:solidFill>
          <a:srgbClr val="E97132">
            <a:lumMod val="20000"/>
            <a:lumOff val="8000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Text" lastClr="000000"/>
              </a:solidFill>
              <a:latin typeface="Georgia Pro" panose="02040502050405020303" pitchFamily="18" charset="0"/>
              <a:ea typeface="+mn-ea"/>
              <a:cs typeface="+mn-cs"/>
            </a:rPr>
            <a:t>Decision Rule</a:t>
          </a:r>
        </a:p>
      </dgm:t>
    </dgm:pt>
    <dgm:pt modelId="{CFA5767B-6430-49A4-8E13-122A93DA7C70}" type="parTrans" cxnId="{ED702FDE-B622-48DA-AF76-2F556A571B54}">
      <dgm:prSet/>
      <dgm:spPr/>
      <dgm:t>
        <a:bodyPr/>
        <a:lstStyle/>
        <a:p>
          <a:endParaRPr lang="en-US"/>
        </a:p>
      </dgm:t>
    </dgm:pt>
    <dgm:pt modelId="{CF682B79-3461-4733-8711-C9F84019B5AD}" type="sibTrans" cxnId="{ED702FDE-B622-48DA-AF76-2F556A571B54}">
      <dgm:prSet/>
      <dgm:spPr/>
      <dgm:t>
        <a:bodyPr/>
        <a:lstStyle/>
        <a:p>
          <a:endParaRPr lang="en-US"/>
        </a:p>
      </dgm:t>
    </dgm:pt>
    <dgm:pt modelId="{E2CFE2FE-1640-4AE4-B939-C90A5CF003E9}">
      <dgm:prSet custT="1"/>
      <dgm:spPr>
        <a:solidFill>
          <a:prstClr val="white">
            <a:lumMod val="95000"/>
          </a:prst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Text" lastClr="000000"/>
              </a:solidFill>
              <a:latin typeface="Georgia Pro" panose="02040502050405020303" pitchFamily="18" charset="0"/>
              <a:ea typeface="+mn-ea"/>
              <a:cs typeface="+mn-cs"/>
            </a:rPr>
            <a:t>Sensitivity Check</a:t>
          </a:r>
        </a:p>
      </dgm:t>
    </dgm:pt>
    <dgm:pt modelId="{F1108BBD-F7ED-4DEF-A78C-9BC9F9A3C7D8}" type="parTrans" cxnId="{C0FC94A0-EA1C-4F13-8C8F-3179D8F736C3}">
      <dgm:prSet/>
      <dgm:spPr/>
      <dgm:t>
        <a:bodyPr/>
        <a:lstStyle/>
        <a:p>
          <a:endParaRPr lang="en-US"/>
        </a:p>
      </dgm:t>
    </dgm:pt>
    <dgm:pt modelId="{A158CD92-A709-4694-A0D2-4BC1BCBC9C35}" type="sibTrans" cxnId="{C0FC94A0-EA1C-4F13-8C8F-3179D8F736C3}">
      <dgm:prSet/>
      <dgm:spPr/>
      <dgm:t>
        <a:bodyPr/>
        <a:lstStyle/>
        <a:p>
          <a:endParaRPr lang="en-US"/>
        </a:p>
      </dgm:t>
    </dgm:pt>
    <dgm:pt modelId="{1B269DC4-5F50-4269-9989-CE7594691ED7}">
      <dgm:prSet custT="1"/>
      <dgm:spPr>
        <a:solidFill>
          <a:srgbClr val="E97132">
            <a:lumMod val="20000"/>
            <a:lumOff val="8000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Text" lastClr="000000"/>
              </a:solidFill>
              <a:latin typeface="Georgia Pro" panose="02040502050405020303" pitchFamily="18" charset="0"/>
              <a:ea typeface="+mn-ea"/>
              <a:cs typeface="+mn-cs"/>
            </a:rPr>
            <a:t>Recommend | Borderline | Trade-offs | Defer to SDM</a:t>
          </a:r>
        </a:p>
      </dgm:t>
    </dgm:pt>
    <dgm:pt modelId="{4F46ED3D-2640-4083-8937-A76632B30FAA}" type="parTrans" cxnId="{12B1D194-7E25-4027-AA2E-4267EE61295F}">
      <dgm:prSet/>
      <dgm:spPr/>
      <dgm:t>
        <a:bodyPr/>
        <a:lstStyle/>
        <a:p>
          <a:endParaRPr lang="en-US"/>
        </a:p>
      </dgm:t>
    </dgm:pt>
    <dgm:pt modelId="{57A53197-50C4-4A1B-94E1-525F002469C8}" type="sibTrans" cxnId="{12B1D194-7E25-4027-AA2E-4267EE61295F}">
      <dgm:prSet/>
      <dgm:spPr/>
      <dgm:t>
        <a:bodyPr/>
        <a:lstStyle/>
        <a:p>
          <a:endParaRPr lang="en-US"/>
        </a:p>
      </dgm:t>
    </dgm:pt>
    <dgm:pt modelId="{426AD9CB-6318-4B31-81C6-29BD985D75FA}">
      <dgm:prSet custT="1"/>
      <dgm:spPr>
        <a:solidFill>
          <a:prstClr val="white">
            <a:lumMod val="95000"/>
          </a:prst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Text" lastClr="000000"/>
              </a:solidFill>
              <a:latin typeface="Georgia Pro" panose="02040502050405020303" pitchFamily="18" charset="0"/>
              <a:ea typeface="+mn-ea"/>
              <a:cs typeface="+mn-cs"/>
            </a:rPr>
            <a:t>Flag preference-sensitive cases</a:t>
          </a:r>
        </a:p>
      </dgm:t>
    </dgm:pt>
    <dgm:pt modelId="{5090BF35-CE4D-41DE-B7F7-AFD946360C33}" type="parTrans" cxnId="{F73486CC-8D0B-4D74-9A94-BB88CAFAA0E3}">
      <dgm:prSet/>
      <dgm:spPr/>
      <dgm:t>
        <a:bodyPr/>
        <a:lstStyle/>
        <a:p>
          <a:endParaRPr lang="en-US"/>
        </a:p>
      </dgm:t>
    </dgm:pt>
    <dgm:pt modelId="{AC60E77C-CC4B-4279-8167-12EC4725CE63}" type="sibTrans" cxnId="{F73486CC-8D0B-4D74-9A94-BB88CAFAA0E3}">
      <dgm:prSet/>
      <dgm:spPr/>
      <dgm:t>
        <a:bodyPr/>
        <a:lstStyle/>
        <a:p>
          <a:endParaRPr lang="en-US"/>
        </a:p>
      </dgm:t>
    </dgm:pt>
    <dgm:pt modelId="{0102CE3C-73B4-458E-8B0D-F98558A59A9A}" type="pres">
      <dgm:prSet presAssocID="{14D74590-8BED-4B74-9E91-6C1457C0D551}" presName="outerComposite" presStyleCnt="0">
        <dgm:presLayoutVars>
          <dgm:chMax val="5"/>
          <dgm:dir/>
          <dgm:resizeHandles val="exact"/>
        </dgm:presLayoutVars>
      </dgm:prSet>
      <dgm:spPr/>
    </dgm:pt>
    <dgm:pt modelId="{030A8AA3-E7F9-40CC-B220-4912E4E210C8}" type="pres">
      <dgm:prSet presAssocID="{14D74590-8BED-4B74-9E91-6C1457C0D551}" presName="dummyMaxCanvas" presStyleCnt="0">
        <dgm:presLayoutVars/>
      </dgm:prSet>
      <dgm:spPr/>
    </dgm:pt>
    <dgm:pt modelId="{51B5E503-21A5-4E11-86CD-38F6B0DEE115}" type="pres">
      <dgm:prSet presAssocID="{14D74590-8BED-4B74-9E91-6C1457C0D551}" presName="FiveNodes_1" presStyleLbl="node1" presStyleIdx="0" presStyleCnt="5">
        <dgm:presLayoutVars>
          <dgm:bulletEnabled val="1"/>
        </dgm:presLayoutVars>
      </dgm:prSet>
      <dgm:spPr/>
    </dgm:pt>
    <dgm:pt modelId="{FE564971-3385-4603-B84E-839AF75C9E1A}" type="pres">
      <dgm:prSet presAssocID="{14D74590-8BED-4B74-9E91-6C1457C0D551}" presName="FiveNodes_2" presStyleLbl="node1" presStyleIdx="1" presStyleCnt="5">
        <dgm:presLayoutVars>
          <dgm:bulletEnabled val="1"/>
        </dgm:presLayoutVars>
      </dgm:prSet>
      <dgm:spPr/>
    </dgm:pt>
    <dgm:pt modelId="{FA1A677B-9E7F-48AB-9169-07468681FAFD}" type="pres">
      <dgm:prSet presAssocID="{14D74590-8BED-4B74-9E91-6C1457C0D551}" presName="FiveNodes_3" presStyleLbl="node1" presStyleIdx="2" presStyleCnt="5">
        <dgm:presLayoutVars>
          <dgm:bulletEnabled val="1"/>
        </dgm:presLayoutVars>
      </dgm:prSet>
      <dgm:spPr/>
    </dgm:pt>
    <dgm:pt modelId="{15DFD649-AB15-42B8-98E8-28692BB48963}" type="pres">
      <dgm:prSet presAssocID="{14D74590-8BED-4B74-9E91-6C1457C0D551}" presName="FiveNodes_4" presStyleLbl="node1" presStyleIdx="3" presStyleCnt="5">
        <dgm:presLayoutVars>
          <dgm:bulletEnabled val="1"/>
        </dgm:presLayoutVars>
      </dgm:prSet>
      <dgm:spPr>
        <a:xfrm>
          <a:off x="1864602" y="3071479"/>
          <a:ext cx="8323151" cy="898969"/>
        </a:xfrm>
        <a:prstGeom prst="roundRect">
          <a:avLst>
            <a:gd name="adj" fmla="val 10000"/>
          </a:avLst>
        </a:prstGeom>
      </dgm:spPr>
    </dgm:pt>
    <dgm:pt modelId="{5CBFBF7C-DB0C-4894-898C-7BAE93C7731D}" type="pres">
      <dgm:prSet presAssocID="{14D74590-8BED-4B74-9E91-6C1457C0D551}" presName="FiveNodes_5" presStyleLbl="node1" presStyleIdx="4" presStyleCnt="5">
        <dgm:presLayoutVars>
          <dgm:bulletEnabled val="1"/>
        </dgm:presLayoutVars>
      </dgm:prSet>
      <dgm:spPr>
        <a:xfrm>
          <a:off x="2486136" y="4095305"/>
          <a:ext cx="8323151" cy="898969"/>
        </a:xfrm>
        <a:prstGeom prst="roundRect">
          <a:avLst>
            <a:gd name="adj" fmla="val 10000"/>
          </a:avLst>
        </a:prstGeom>
      </dgm:spPr>
    </dgm:pt>
    <dgm:pt modelId="{CC3A43E2-B0E4-4C24-9637-6CACC3CFF638}" type="pres">
      <dgm:prSet presAssocID="{14D74590-8BED-4B74-9E91-6C1457C0D551}" presName="FiveConn_1-2" presStyleLbl="fgAccFollowNode1" presStyleIdx="0" presStyleCnt="4">
        <dgm:presLayoutVars>
          <dgm:bulletEnabled val="1"/>
        </dgm:presLayoutVars>
      </dgm:prSet>
      <dgm:spPr/>
    </dgm:pt>
    <dgm:pt modelId="{01F17F7B-C10B-4DCA-BE48-9B382C4F7AF7}" type="pres">
      <dgm:prSet presAssocID="{14D74590-8BED-4B74-9E91-6C1457C0D551}" presName="FiveConn_2-3" presStyleLbl="fgAccFollowNode1" presStyleIdx="1" presStyleCnt="4">
        <dgm:presLayoutVars>
          <dgm:bulletEnabled val="1"/>
        </dgm:presLayoutVars>
      </dgm:prSet>
      <dgm:spPr/>
    </dgm:pt>
    <dgm:pt modelId="{DA7AC63E-C05E-4A5C-942E-AC266F878B63}" type="pres">
      <dgm:prSet presAssocID="{14D74590-8BED-4B74-9E91-6C1457C0D551}" presName="FiveConn_3-4" presStyleLbl="fgAccFollowNode1" presStyleIdx="2" presStyleCnt="4">
        <dgm:presLayoutVars>
          <dgm:bulletEnabled val="1"/>
        </dgm:presLayoutVars>
      </dgm:prSet>
      <dgm:spPr/>
    </dgm:pt>
    <dgm:pt modelId="{4C3A977A-FF93-40A9-9F7C-58A524009745}" type="pres">
      <dgm:prSet presAssocID="{14D74590-8BED-4B74-9E91-6C1457C0D551}" presName="FiveConn_4-5" presStyleLbl="fgAccFollowNode1" presStyleIdx="3" presStyleCnt="4">
        <dgm:presLayoutVars>
          <dgm:bulletEnabled val="1"/>
        </dgm:presLayoutVars>
      </dgm:prSet>
      <dgm:spPr/>
    </dgm:pt>
    <dgm:pt modelId="{8575686A-A448-4BD2-8611-E403C156A5C5}" type="pres">
      <dgm:prSet presAssocID="{14D74590-8BED-4B74-9E91-6C1457C0D551}" presName="FiveNodes_1_text" presStyleLbl="node1" presStyleIdx="4" presStyleCnt="5">
        <dgm:presLayoutVars>
          <dgm:bulletEnabled val="1"/>
        </dgm:presLayoutVars>
      </dgm:prSet>
      <dgm:spPr/>
    </dgm:pt>
    <dgm:pt modelId="{D62A9381-E8B0-4FC6-A8ED-3524B36DB4E3}" type="pres">
      <dgm:prSet presAssocID="{14D74590-8BED-4B74-9E91-6C1457C0D551}" presName="FiveNodes_2_text" presStyleLbl="node1" presStyleIdx="4" presStyleCnt="5">
        <dgm:presLayoutVars>
          <dgm:bulletEnabled val="1"/>
        </dgm:presLayoutVars>
      </dgm:prSet>
      <dgm:spPr/>
    </dgm:pt>
    <dgm:pt modelId="{4A0DDD12-1680-4173-8B20-C2BD6BAE675E}" type="pres">
      <dgm:prSet presAssocID="{14D74590-8BED-4B74-9E91-6C1457C0D551}" presName="FiveNodes_3_text" presStyleLbl="node1" presStyleIdx="4" presStyleCnt="5">
        <dgm:presLayoutVars>
          <dgm:bulletEnabled val="1"/>
        </dgm:presLayoutVars>
      </dgm:prSet>
      <dgm:spPr/>
    </dgm:pt>
    <dgm:pt modelId="{B257E456-C3F6-4EBA-9D5A-0813EFAC48C0}" type="pres">
      <dgm:prSet presAssocID="{14D74590-8BED-4B74-9E91-6C1457C0D551}" presName="FiveNodes_4_text" presStyleLbl="node1" presStyleIdx="4" presStyleCnt="5">
        <dgm:presLayoutVars>
          <dgm:bulletEnabled val="1"/>
        </dgm:presLayoutVars>
      </dgm:prSet>
      <dgm:spPr/>
    </dgm:pt>
    <dgm:pt modelId="{8B9CE4F9-7556-4E60-8214-FB0EE0887DE9}" type="pres">
      <dgm:prSet presAssocID="{14D74590-8BED-4B74-9E91-6C1457C0D55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059C306-049D-4916-8600-F29B34E5EF27}" type="presOf" srcId="{426AD9CB-6318-4B31-81C6-29BD985D75FA}" destId="{8B9CE4F9-7556-4E60-8214-FB0EE0887DE9}" srcOrd="1" destOrd="1" presId="urn:microsoft.com/office/officeart/2005/8/layout/vProcess5"/>
    <dgm:cxn modelId="{CE64300F-6D0F-4DD4-87F2-9D1F4FBABD4B}" type="presOf" srcId="{14D74590-8BED-4B74-9E91-6C1457C0D551}" destId="{0102CE3C-73B4-458E-8B0D-F98558A59A9A}" srcOrd="0" destOrd="0" presId="urn:microsoft.com/office/officeart/2005/8/layout/vProcess5"/>
    <dgm:cxn modelId="{35287B0F-80E5-406C-B563-1849993E5674}" srcId="{2C355B91-EF0F-4046-9E2B-94645C8A655F}" destId="{09BED9AB-994E-4C25-9CFD-FEE635B13E67}" srcOrd="0" destOrd="0" parTransId="{0B931878-81D0-46A1-8043-A3C8A16429DB}" sibTransId="{264D542F-7882-4E3C-8D41-B7AEBBB2BBB7}"/>
    <dgm:cxn modelId="{E2441819-3653-4EB4-8D88-BE5B28DC2541}" type="presOf" srcId="{E9A253A7-3000-41D7-8509-6B5E8B9140A8}" destId="{51B5E503-21A5-4E11-86CD-38F6B0DEE115}" srcOrd="0" destOrd="1" presId="urn:microsoft.com/office/officeart/2005/8/layout/vProcess5"/>
    <dgm:cxn modelId="{506F8922-61B0-4EFF-817C-DBDC6653A45F}" type="presOf" srcId="{48970E9E-DC74-436A-A5F4-433F3FC95B52}" destId="{01F17F7B-C10B-4DCA-BE48-9B382C4F7AF7}" srcOrd="0" destOrd="0" presId="urn:microsoft.com/office/officeart/2005/8/layout/vProcess5"/>
    <dgm:cxn modelId="{0B34D830-190F-4D91-AC1C-A673D2908FA7}" srcId="{14D74590-8BED-4B74-9E91-6C1457C0D551}" destId="{7D8FAFFA-7DD3-42B0-9A15-EA318738BE3F}" srcOrd="2" destOrd="0" parTransId="{EE3EB154-6D50-4D24-9C5C-FB5634DC20F5}" sibTransId="{8C55996A-E6BA-43CA-B78A-5AB437311D4A}"/>
    <dgm:cxn modelId="{3FB5AA35-0884-4E0B-96B1-EA957D0488F9}" type="presOf" srcId="{1B269DC4-5F50-4269-9989-CE7594691ED7}" destId="{15DFD649-AB15-42B8-98E8-28692BB48963}" srcOrd="0" destOrd="1" presId="urn:microsoft.com/office/officeart/2005/8/layout/vProcess5"/>
    <dgm:cxn modelId="{014C3E3C-F3CB-48F6-9B3B-2FCEDEE85F4B}" type="presOf" srcId="{2C355B91-EF0F-4046-9E2B-94645C8A655F}" destId="{FE564971-3385-4603-B84E-839AF75C9E1A}" srcOrd="0" destOrd="0" presId="urn:microsoft.com/office/officeart/2005/8/layout/vProcess5"/>
    <dgm:cxn modelId="{F79ECA3F-1D74-4470-BDB0-84DCECEEAA95}" type="presOf" srcId="{E2CFE2FE-1640-4AE4-B939-C90A5CF003E9}" destId="{8B9CE4F9-7556-4E60-8214-FB0EE0887DE9}" srcOrd="1" destOrd="0" presId="urn:microsoft.com/office/officeart/2005/8/layout/vProcess5"/>
    <dgm:cxn modelId="{037F275E-CA0C-4E55-A134-A88F744DC485}" type="presOf" srcId="{682E2F03-71CA-4E60-A064-2B000439E220}" destId="{CC3A43E2-B0E4-4C24-9637-6CACC3CFF638}" srcOrd="0" destOrd="0" presId="urn:microsoft.com/office/officeart/2005/8/layout/vProcess5"/>
    <dgm:cxn modelId="{B797C861-3659-4246-BCA4-01BF64AFD618}" srcId="{14D74590-8BED-4B74-9E91-6C1457C0D551}" destId="{2C355B91-EF0F-4046-9E2B-94645C8A655F}" srcOrd="1" destOrd="0" parTransId="{AE454879-7404-4C3A-A180-589D1461FA9C}" sibTransId="{48970E9E-DC74-436A-A5F4-433F3FC95B52}"/>
    <dgm:cxn modelId="{79ED3648-8BA3-4FED-A8C0-6CDDA9D2B510}" type="presOf" srcId="{05CE4C85-FC35-4E0A-B694-13B4BE5CA84A}" destId="{8575686A-A448-4BD2-8611-E403C156A5C5}" srcOrd="1" destOrd="0" presId="urn:microsoft.com/office/officeart/2005/8/layout/vProcess5"/>
    <dgm:cxn modelId="{30A6BD6C-AC61-4AC2-AA42-969A8444E417}" type="presOf" srcId="{9FB94214-9339-491B-9995-B96324168FAC}" destId="{FA1A677B-9E7F-48AB-9169-07468681FAFD}" srcOrd="0" destOrd="1" presId="urn:microsoft.com/office/officeart/2005/8/layout/vProcess5"/>
    <dgm:cxn modelId="{3E12C978-D5FC-473A-83C6-D6427908CC30}" srcId="{05CE4C85-FC35-4E0A-B694-13B4BE5CA84A}" destId="{E9A253A7-3000-41D7-8509-6B5E8B9140A8}" srcOrd="0" destOrd="0" parTransId="{5608BA46-C768-4602-8FC5-4E3C54EB33D0}" sibTransId="{57E57647-46D3-4ADA-A152-319F8A10E6BF}"/>
    <dgm:cxn modelId="{A74FA27F-0D78-4523-AFB4-031AF7804902}" type="presOf" srcId="{58C520CF-AF62-4CA2-8F8D-118C2D0D222E}" destId="{15DFD649-AB15-42B8-98E8-28692BB48963}" srcOrd="0" destOrd="0" presId="urn:microsoft.com/office/officeart/2005/8/layout/vProcess5"/>
    <dgm:cxn modelId="{089C0C81-5081-4CC1-8EDC-9ACE8BE015A2}" type="presOf" srcId="{8C55996A-E6BA-43CA-B78A-5AB437311D4A}" destId="{DA7AC63E-C05E-4A5C-942E-AC266F878B63}" srcOrd="0" destOrd="0" presId="urn:microsoft.com/office/officeart/2005/8/layout/vProcess5"/>
    <dgm:cxn modelId="{0FA57481-EF6D-4491-9370-969958ECBBAD}" type="presOf" srcId="{426AD9CB-6318-4B31-81C6-29BD985D75FA}" destId="{5CBFBF7C-DB0C-4894-898C-7BAE93C7731D}" srcOrd="0" destOrd="1" presId="urn:microsoft.com/office/officeart/2005/8/layout/vProcess5"/>
    <dgm:cxn modelId="{7ECB0C82-6548-4151-84F4-03E2440BFF69}" srcId="{7D8FAFFA-7DD3-42B0-9A15-EA318738BE3F}" destId="{9FB94214-9339-491B-9995-B96324168FAC}" srcOrd="0" destOrd="0" parTransId="{0357410C-8F51-4C74-9BE6-80037219214D}" sibTransId="{8988427D-3F46-4610-B94D-692B1050C479}"/>
    <dgm:cxn modelId="{964D6E84-BDDD-4031-9A22-2761E72F90CC}" type="presOf" srcId="{E9A253A7-3000-41D7-8509-6B5E8B9140A8}" destId="{8575686A-A448-4BD2-8611-E403C156A5C5}" srcOrd="1" destOrd="1" presId="urn:microsoft.com/office/officeart/2005/8/layout/vProcess5"/>
    <dgm:cxn modelId="{12B1D194-7E25-4027-AA2E-4267EE61295F}" srcId="{58C520CF-AF62-4CA2-8F8D-118C2D0D222E}" destId="{1B269DC4-5F50-4269-9989-CE7594691ED7}" srcOrd="0" destOrd="0" parTransId="{4F46ED3D-2640-4083-8937-A76632B30FAA}" sibTransId="{57A53197-50C4-4A1B-94E1-525F002469C8}"/>
    <dgm:cxn modelId="{4D3CE494-F4E1-4929-AF72-874E773A32A7}" type="presOf" srcId="{2C355B91-EF0F-4046-9E2B-94645C8A655F}" destId="{D62A9381-E8B0-4FC6-A8ED-3524B36DB4E3}" srcOrd="1" destOrd="0" presId="urn:microsoft.com/office/officeart/2005/8/layout/vProcess5"/>
    <dgm:cxn modelId="{C0FC94A0-EA1C-4F13-8C8F-3179D8F736C3}" srcId="{14D74590-8BED-4B74-9E91-6C1457C0D551}" destId="{E2CFE2FE-1640-4AE4-B939-C90A5CF003E9}" srcOrd="4" destOrd="0" parTransId="{F1108BBD-F7ED-4DEF-A78C-9BC9F9A3C7D8}" sibTransId="{A158CD92-A709-4694-A0D2-4BC1BCBC9C35}"/>
    <dgm:cxn modelId="{4EDB29A1-EC53-4261-AB06-A23D93E2743C}" type="presOf" srcId="{9FB94214-9339-491B-9995-B96324168FAC}" destId="{4A0DDD12-1680-4173-8B20-C2BD6BAE675E}" srcOrd="1" destOrd="1" presId="urn:microsoft.com/office/officeart/2005/8/layout/vProcess5"/>
    <dgm:cxn modelId="{E4AC72AB-69E7-484A-BC53-8525B2D03BB7}" srcId="{14D74590-8BED-4B74-9E91-6C1457C0D551}" destId="{05CE4C85-FC35-4E0A-B694-13B4BE5CA84A}" srcOrd="0" destOrd="0" parTransId="{A5222DC4-33E7-4CEF-ACC2-D9A15614D851}" sibTransId="{682E2F03-71CA-4E60-A064-2B000439E220}"/>
    <dgm:cxn modelId="{429BC1B5-9AFC-4A78-B4C7-34858AFD5F8B}" type="presOf" srcId="{7D8FAFFA-7DD3-42B0-9A15-EA318738BE3F}" destId="{4A0DDD12-1680-4173-8B20-C2BD6BAE675E}" srcOrd="1" destOrd="0" presId="urn:microsoft.com/office/officeart/2005/8/layout/vProcess5"/>
    <dgm:cxn modelId="{CF9E3BB9-25D1-4D2C-A89C-C61D4A295048}" type="presOf" srcId="{09BED9AB-994E-4C25-9CFD-FEE635B13E67}" destId="{D62A9381-E8B0-4FC6-A8ED-3524B36DB4E3}" srcOrd="1" destOrd="1" presId="urn:microsoft.com/office/officeart/2005/8/layout/vProcess5"/>
    <dgm:cxn modelId="{7C9F4FBF-B7B6-44C2-AC4B-211C5D3328FB}" type="presOf" srcId="{CF682B79-3461-4733-8711-C9F84019B5AD}" destId="{4C3A977A-FF93-40A9-9F7C-58A524009745}" srcOrd="0" destOrd="0" presId="urn:microsoft.com/office/officeart/2005/8/layout/vProcess5"/>
    <dgm:cxn modelId="{F73486CC-8D0B-4D74-9A94-BB88CAFAA0E3}" srcId="{E2CFE2FE-1640-4AE4-B939-C90A5CF003E9}" destId="{426AD9CB-6318-4B31-81C6-29BD985D75FA}" srcOrd="0" destOrd="0" parTransId="{5090BF35-CE4D-41DE-B7F7-AFD946360C33}" sibTransId="{AC60E77C-CC4B-4279-8167-12EC4725CE63}"/>
    <dgm:cxn modelId="{324CD0CC-A7A1-445A-96D3-BF4CA29B0824}" type="presOf" srcId="{05CE4C85-FC35-4E0A-B694-13B4BE5CA84A}" destId="{51B5E503-21A5-4E11-86CD-38F6B0DEE115}" srcOrd="0" destOrd="0" presId="urn:microsoft.com/office/officeart/2005/8/layout/vProcess5"/>
    <dgm:cxn modelId="{9B8813D8-C3BB-4CEB-ABFB-C8835446ED7E}" type="presOf" srcId="{7D8FAFFA-7DD3-42B0-9A15-EA318738BE3F}" destId="{FA1A677B-9E7F-48AB-9169-07468681FAFD}" srcOrd="0" destOrd="0" presId="urn:microsoft.com/office/officeart/2005/8/layout/vProcess5"/>
    <dgm:cxn modelId="{A1B2E1DD-0A16-4916-8A11-F8B393338639}" type="presOf" srcId="{09BED9AB-994E-4C25-9CFD-FEE635B13E67}" destId="{FE564971-3385-4603-B84E-839AF75C9E1A}" srcOrd="0" destOrd="1" presId="urn:microsoft.com/office/officeart/2005/8/layout/vProcess5"/>
    <dgm:cxn modelId="{ED702FDE-B622-48DA-AF76-2F556A571B54}" srcId="{14D74590-8BED-4B74-9E91-6C1457C0D551}" destId="{58C520CF-AF62-4CA2-8F8D-118C2D0D222E}" srcOrd="3" destOrd="0" parTransId="{CFA5767B-6430-49A4-8E13-122A93DA7C70}" sibTransId="{CF682B79-3461-4733-8711-C9F84019B5AD}"/>
    <dgm:cxn modelId="{8E8A00E2-0D3F-4280-806D-6309F622DCDB}" type="presOf" srcId="{58C520CF-AF62-4CA2-8F8D-118C2D0D222E}" destId="{B257E456-C3F6-4EBA-9D5A-0813EFAC48C0}" srcOrd="1" destOrd="0" presId="urn:microsoft.com/office/officeart/2005/8/layout/vProcess5"/>
    <dgm:cxn modelId="{5584E1E2-0F65-4181-B8E2-952CF8044CF8}" type="presOf" srcId="{1B269DC4-5F50-4269-9989-CE7594691ED7}" destId="{B257E456-C3F6-4EBA-9D5A-0813EFAC48C0}" srcOrd="1" destOrd="1" presId="urn:microsoft.com/office/officeart/2005/8/layout/vProcess5"/>
    <dgm:cxn modelId="{34E9B1F5-4711-4913-A16A-329092950AD7}" type="presOf" srcId="{E2CFE2FE-1640-4AE4-B939-C90A5CF003E9}" destId="{5CBFBF7C-DB0C-4894-898C-7BAE93C7731D}" srcOrd="0" destOrd="0" presId="urn:microsoft.com/office/officeart/2005/8/layout/vProcess5"/>
    <dgm:cxn modelId="{304D60E6-DB48-4B5D-BA91-66888BE9FBC3}" type="presParOf" srcId="{0102CE3C-73B4-458E-8B0D-F98558A59A9A}" destId="{030A8AA3-E7F9-40CC-B220-4912E4E210C8}" srcOrd="0" destOrd="0" presId="urn:microsoft.com/office/officeart/2005/8/layout/vProcess5"/>
    <dgm:cxn modelId="{B21218B5-048F-4687-AA5A-A9FC3F77018E}" type="presParOf" srcId="{0102CE3C-73B4-458E-8B0D-F98558A59A9A}" destId="{51B5E503-21A5-4E11-86CD-38F6B0DEE115}" srcOrd="1" destOrd="0" presId="urn:microsoft.com/office/officeart/2005/8/layout/vProcess5"/>
    <dgm:cxn modelId="{82B14789-3ABB-47A6-B729-660339BFE397}" type="presParOf" srcId="{0102CE3C-73B4-458E-8B0D-F98558A59A9A}" destId="{FE564971-3385-4603-B84E-839AF75C9E1A}" srcOrd="2" destOrd="0" presId="urn:microsoft.com/office/officeart/2005/8/layout/vProcess5"/>
    <dgm:cxn modelId="{81CC5AC7-3FB5-428D-AAB4-E3D3C324D6BB}" type="presParOf" srcId="{0102CE3C-73B4-458E-8B0D-F98558A59A9A}" destId="{FA1A677B-9E7F-48AB-9169-07468681FAFD}" srcOrd="3" destOrd="0" presId="urn:microsoft.com/office/officeart/2005/8/layout/vProcess5"/>
    <dgm:cxn modelId="{37FC0C3E-F20E-4B75-9E30-41B39F287C29}" type="presParOf" srcId="{0102CE3C-73B4-458E-8B0D-F98558A59A9A}" destId="{15DFD649-AB15-42B8-98E8-28692BB48963}" srcOrd="4" destOrd="0" presId="urn:microsoft.com/office/officeart/2005/8/layout/vProcess5"/>
    <dgm:cxn modelId="{9DFA974C-FD24-4D9B-8A64-53569AF7FF3F}" type="presParOf" srcId="{0102CE3C-73B4-458E-8B0D-F98558A59A9A}" destId="{5CBFBF7C-DB0C-4894-898C-7BAE93C7731D}" srcOrd="5" destOrd="0" presId="urn:microsoft.com/office/officeart/2005/8/layout/vProcess5"/>
    <dgm:cxn modelId="{E2C8B899-8D43-4A8F-92EE-1A3E971CF50A}" type="presParOf" srcId="{0102CE3C-73B4-458E-8B0D-F98558A59A9A}" destId="{CC3A43E2-B0E4-4C24-9637-6CACC3CFF638}" srcOrd="6" destOrd="0" presId="urn:microsoft.com/office/officeart/2005/8/layout/vProcess5"/>
    <dgm:cxn modelId="{9F7B1B05-3D86-472C-B1AB-21D0EACB87E8}" type="presParOf" srcId="{0102CE3C-73B4-458E-8B0D-F98558A59A9A}" destId="{01F17F7B-C10B-4DCA-BE48-9B382C4F7AF7}" srcOrd="7" destOrd="0" presId="urn:microsoft.com/office/officeart/2005/8/layout/vProcess5"/>
    <dgm:cxn modelId="{7D694116-51E9-4914-8ABB-EC3DFE4C2603}" type="presParOf" srcId="{0102CE3C-73B4-458E-8B0D-F98558A59A9A}" destId="{DA7AC63E-C05E-4A5C-942E-AC266F878B63}" srcOrd="8" destOrd="0" presId="urn:microsoft.com/office/officeart/2005/8/layout/vProcess5"/>
    <dgm:cxn modelId="{4A0559A3-EA27-4C85-A44E-D92237681417}" type="presParOf" srcId="{0102CE3C-73B4-458E-8B0D-F98558A59A9A}" destId="{4C3A977A-FF93-40A9-9F7C-58A524009745}" srcOrd="9" destOrd="0" presId="urn:microsoft.com/office/officeart/2005/8/layout/vProcess5"/>
    <dgm:cxn modelId="{75FD001B-19B9-4AB0-BF75-12AF6D766D26}" type="presParOf" srcId="{0102CE3C-73B4-458E-8B0D-F98558A59A9A}" destId="{8575686A-A448-4BD2-8611-E403C156A5C5}" srcOrd="10" destOrd="0" presId="urn:microsoft.com/office/officeart/2005/8/layout/vProcess5"/>
    <dgm:cxn modelId="{48F28605-4544-47E7-B410-D97A6CD77A9D}" type="presParOf" srcId="{0102CE3C-73B4-458E-8B0D-F98558A59A9A}" destId="{D62A9381-E8B0-4FC6-A8ED-3524B36DB4E3}" srcOrd="11" destOrd="0" presId="urn:microsoft.com/office/officeart/2005/8/layout/vProcess5"/>
    <dgm:cxn modelId="{2D76C33F-4BC2-47EB-ACEE-B7C6BA2DD19A}" type="presParOf" srcId="{0102CE3C-73B4-458E-8B0D-F98558A59A9A}" destId="{4A0DDD12-1680-4173-8B20-C2BD6BAE675E}" srcOrd="12" destOrd="0" presId="urn:microsoft.com/office/officeart/2005/8/layout/vProcess5"/>
    <dgm:cxn modelId="{6065E592-5784-4A69-8E31-311F205D4026}" type="presParOf" srcId="{0102CE3C-73B4-458E-8B0D-F98558A59A9A}" destId="{B257E456-C3F6-4EBA-9D5A-0813EFAC48C0}" srcOrd="13" destOrd="0" presId="urn:microsoft.com/office/officeart/2005/8/layout/vProcess5"/>
    <dgm:cxn modelId="{4B795112-F50B-4D89-BC18-72C0EFBFF755}" type="presParOf" srcId="{0102CE3C-73B4-458E-8B0D-F98558A59A9A}" destId="{8B9CE4F9-7556-4E60-8214-FB0EE0887DE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1ADBC-0A07-4BD8-BF57-270189EC2A76}">
      <dsp:nvSpPr>
        <dsp:cNvPr id="0" name=""/>
        <dsp:cNvSpPr/>
      </dsp:nvSpPr>
      <dsp:spPr>
        <a:xfrm>
          <a:off x="0" y="4870078"/>
          <a:ext cx="8365436" cy="532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Georgia Pro" panose="02040502050405020303" pitchFamily="18" charset="0"/>
            </a:rPr>
            <a:t>Conclusions</a:t>
          </a:r>
        </a:p>
      </dsp:txBody>
      <dsp:txXfrm>
        <a:off x="0" y="4870078"/>
        <a:ext cx="8365436" cy="532930"/>
      </dsp:txXfrm>
    </dsp:sp>
    <dsp:sp modelId="{82D1F7A2-54E4-4DCA-9514-78312A329D2B}">
      <dsp:nvSpPr>
        <dsp:cNvPr id="0" name=""/>
        <dsp:cNvSpPr/>
      </dsp:nvSpPr>
      <dsp:spPr>
        <a:xfrm rot="10800000">
          <a:off x="0" y="4058425"/>
          <a:ext cx="8365436" cy="8196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Georgia Pro" panose="02040502050405020303" pitchFamily="18" charset="0"/>
            </a:rPr>
            <a:t>Clinical Usage </a:t>
          </a:r>
          <a:r>
            <a:rPr lang="en-US" sz="1800" kern="1200" dirty="0">
              <a:latin typeface="Georgia Pro" panose="02040502050405020303" pitchFamily="18" charset="0"/>
            </a:rPr>
            <a:t>– </a:t>
          </a:r>
          <a:r>
            <a:rPr lang="en-US" sz="1800" i="1" kern="1200" dirty="0">
              <a:solidFill>
                <a:srgbClr val="FF0000"/>
              </a:solidFill>
              <a:latin typeface="Georgia Pro" panose="02040502050405020303" pitchFamily="18" charset="0"/>
            </a:rPr>
            <a:t>How does this fit into real clinical practice?</a:t>
          </a:r>
        </a:p>
      </dsp:txBody>
      <dsp:txXfrm rot="10800000">
        <a:off x="0" y="4058425"/>
        <a:ext cx="8365436" cy="532581"/>
      </dsp:txXfrm>
    </dsp:sp>
    <dsp:sp modelId="{8F5567EE-F9E3-4954-B28C-4D999ED359BD}">
      <dsp:nvSpPr>
        <dsp:cNvPr id="0" name=""/>
        <dsp:cNvSpPr/>
      </dsp:nvSpPr>
      <dsp:spPr>
        <a:xfrm rot="10800000">
          <a:off x="0" y="3246773"/>
          <a:ext cx="8365436" cy="8196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Georgia Pro" panose="02040502050405020303" pitchFamily="18" charset="0"/>
            </a:rPr>
            <a:t>Prototype </a:t>
          </a:r>
          <a:r>
            <a:rPr lang="en-US" sz="1800" kern="1200" dirty="0">
              <a:latin typeface="Georgia Pro" panose="02040502050405020303" pitchFamily="18" charset="0"/>
            </a:rPr>
            <a:t>– </a:t>
          </a:r>
          <a:r>
            <a:rPr lang="en-US" sz="1800" i="1" kern="1200" dirty="0">
              <a:solidFill>
                <a:srgbClr val="FF0000"/>
              </a:solidFill>
              <a:latin typeface="Georgia Pro" panose="02040502050405020303" pitchFamily="18" charset="0"/>
            </a:rPr>
            <a:t>How CDS look like?</a:t>
          </a:r>
          <a:endParaRPr lang="en-US" sz="1800" kern="1200" dirty="0">
            <a:solidFill>
              <a:srgbClr val="FF0000"/>
            </a:solidFill>
            <a:latin typeface="Georgia Pro" panose="02040502050405020303" pitchFamily="18" charset="0"/>
          </a:endParaRPr>
        </a:p>
      </dsp:txBody>
      <dsp:txXfrm rot="10800000">
        <a:off x="0" y="3246773"/>
        <a:ext cx="8365436" cy="532581"/>
      </dsp:txXfrm>
    </dsp:sp>
    <dsp:sp modelId="{CF4F9B24-D0E1-4CE3-ADDB-B78BF92D4302}">
      <dsp:nvSpPr>
        <dsp:cNvPr id="0" name=""/>
        <dsp:cNvSpPr/>
      </dsp:nvSpPr>
      <dsp:spPr>
        <a:xfrm rot="10800000">
          <a:off x="0" y="2435120"/>
          <a:ext cx="8365436" cy="8196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Georgia Pro" panose="02040502050405020303" pitchFamily="18" charset="0"/>
            </a:rPr>
            <a:t>Key methodology </a:t>
          </a:r>
          <a:r>
            <a:rPr lang="en-US" sz="1800" kern="1200" dirty="0">
              <a:latin typeface="Georgia Pro" panose="02040502050405020303" pitchFamily="18" charset="0"/>
            </a:rPr>
            <a:t>– </a:t>
          </a:r>
          <a:r>
            <a:rPr lang="en-US" sz="1800" i="1" kern="1200" dirty="0">
              <a:solidFill>
                <a:srgbClr val="FF0000"/>
              </a:solidFill>
            </a:rPr>
            <a:t>How pipeline supports doctor’s decision?</a:t>
          </a:r>
          <a:endParaRPr lang="en-US" sz="1800" i="1" kern="1200" dirty="0">
            <a:solidFill>
              <a:srgbClr val="FF0000"/>
            </a:solidFill>
            <a:latin typeface="Georgia Pro" panose="02040502050405020303" pitchFamily="18" charset="0"/>
          </a:endParaRPr>
        </a:p>
      </dsp:txBody>
      <dsp:txXfrm rot="10800000">
        <a:off x="0" y="2435120"/>
        <a:ext cx="8365436" cy="532581"/>
      </dsp:txXfrm>
    </dsp:sp>
    <dsp:sp modelId="{C716F317-9813-463B-95A7-EED25E8675A2}">
      <dsp:nvSpPr>
        <dsp:cNvPr id="0" name=""/>
        <dsp:cNvSpPr/>
      </dsp:nvSpPr>
      <dsp:spPr>
        <a:xfrm rot="10800000">
          <a:off x="0" y="1623468"/>
          <a:ext cx="8365436" cy="8196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Georgia Pro" panose="02040502050405020303" pitchFamily="18" charset="0"/>
            </a:rPr>
            <a:t>Decision Framework </a:t>
          </a:r>
          <a:r>
            <a:rPr lang="en-US" sz="1800" kern="1200" dirty="0">
              <a:latin typeface="Georgia Pro" panose="02040502050405020303" pitchFamily="18" charset="0"/>
            </a:rPr>
            <a:t>– </a:t>
          </a:r>
          <a:r>
            <a:rPr lang="en-US" sz="1800" i="1" kern="1200" dirty="0">
              <a:solidFill>
                <a:srgbClr val="FF0000"/>
              </a:solidFill>
              <a:latin typeface="Georgia Pro" panose="02040502050405020303" pitchFamily="18" charset="0"/>
            </a:rPr>
            <a:t>How we provide recommendations</a:t>
          </a:r>
        </a:p>
      </dsp:txBody>
      <dsp:txXfrm rot="10800000">
        <a:off x="0" y="1623468"/>
        <a:ext cx="8365436" cy="532581"/>
      </dsp:txXfrm>
    </dsp:sp>
    <dsp:sp modelId="{3B68B958-D8FA-4A90-9490-F14950707B4E}">
      <dsp:nvSpPr>
        <dsp:cNvPr id="0" name=""/>
        <dsp:cNvSpPr/>
      </dsp:nvSpPr>
      <dsp:spPr>
        <a:xfrm rot="10800000">
          <a:off x="0" y="811816"/>
          <a:ext cx="8365436" cy="8196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chemeClr val="bg1"/>
              </a:solidFill>
              <a:latin typeface="Georgia Pro" panose="02040502050405020303" pitchFamily="18" charset="0"/>
            </a:rPr>
            <a:t>Data Exploratory </a:t>
          </a:r>
          <a:r>
            <a:rPr lang="en-US" sz="1800" i="1" kern="1200" dirty="0">
              <a:solidFill>
                <a:srgbClr val="FF0000"/>
              </a:solidFill>
              <a:latin typeface="Georgia Pro" panose="02040502050405020303" pitchFamily="18" charset="0"/>
            </a:rPr>
            <a:t>– EDA drives design</a:t>
          </a:r>
        </a:p>
      </dsp:txBody>
      <dsp:txXfrm rot="10800000">
        <a:off x="0" y="811816"/>
        <a:ext cx="8365436" cy="532581"/>
      </dsp:txXfrm>
    </dsp:sp>
    <dsp:sp modelId="{CCB1CE9C-8863-4DEC-810E-241FD3920CAA}">
      <dsp:nvSpPr>
        <dsp:cNvPr id="0" name=""/>
        <dsp:cNvSpPr/>
      </dsp:nvSpPr>
      <dsp:spPr>
        <a:xfrm rot="10800000">
          <a:off x="0" y="0"/>
          <a:ext cx="8365436" cy="8196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Georgia Pro" panose="02040502050405020303" pitchFamily="18" charset="0"/>
            </a:rPr>
            <a:t>Research Question </a:t>
          </a:r>
          <a:r>
            <a:rPr lang="en-US" sz="1800" kern="1200" dirty="0">
              <a:latin typeface="Georgia Pro" panose="02040502050405020303" pitchFamily="18" charset="0"/>
            </a:rPr>
            <a:t>– </a:t>
          </a:r>
          <a:r>
            <a:rPr lang="en-US" sz="1800" i="1" kern="1200" dirty="0">
              <a:solidFill>
                <a:srgbClr val="FF0000"/>
              </a:solidFill>
              <a:latin typeface="Georgia Pro" panose="02040502050405020303" pitchFamily="18" charset="0"/>
            </a:rPr>
            <a:t>Why are we doing this?</a:t>
          </a:r>
          <a:endParaRPr lang="en-US" sz="1800" kern="1200" dirty="0">
            <a:solidFill>
              <a:srgbClr val="FF0000"/>
            </a:solidFill>
            <a:latin typeface="Georgia Pro" panose="02040502050405020303" pitchFamily="18" charset="0"/>
          </a:endParaRPr>
        </a:p>
      </dsp:txBody>
      <dsp:txXfrm rot="10800000">
        <a:off x="0" y="0"/>
        <a:ext cx="8365436" cy="5325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B5E503-21A5-4E11-86CD-38F6B0DEE115}">
      <dsp:nvSpPr>
        <dsp:cNvPr id="0" name=""/>
        <dsp:cNvSpPr/>
      </dsp:nvSpPr>
      <dsp:spPr>
        <a:xfrm>
          <a:off x="0" y="0"/>
          <a:ext cx="8323151" cy="898969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Text" lastClr="000000"/>
              </a:solidFill>
              <a:latin typeface="Georgia Pro" panose="02040502050405020303" pitchFamily="18" charset="0"/>
            </a:rPr>
            <a:t>Estimate Treatment Effects</a:t>
          </a:r>
          <a:endParaRPr lang="en-US" sz="2000" kern="1200" dirty="0">
            <a:solidFill>
              <a:sysClr val="windowText" lastClr="000000"/>
            </a:solidFill>
            <a:latin typeface="Georgia Pro" panose="020405020504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>
              <a:solidFill>
                <a:sysClr val="windowText" lastClr="000000"/>
              </a:solidFill>
              <a:latin typeface="Georgia Pro" panose="02040502050405020303" pitchFamily="18" charset="0"/>
            </a:rPr>
            <a:t>Patient-specific outcomes for Surgery vs Conservative</a:t>
          </a:r>
        </a:p>
      </dsp:txBody>
      <dsp:txXfrm>
        <a:off x="26330" y="26330"/>
        <a:ext cx="7247913" cy="846309"/>
      </dsp:txXfrm>
    </dsp:sp>
    <dsp:sp modelId="{FE564971-3385-4603-B84E-839AF75C9E1A}">
      <dsp:nvSpPr>
        <dsp:cNvPr id="0" name=""/>
        <dsp:cNvSpPr/>
      </dsp:nvSpPr>
      <dsp:spPr>
        <a:xfrm>
          <a:off x="621534" y="1023826"/>
          <a:ext cx="8323151" cy="898969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Text" lastClr="000000"/>
              </a:solidFill>
              <a:latin typeface="Georgia Pro" panose="02040502050405020303" pitchFamily="18" charset="0"/>
            </a:rPr>
            <a:t>Apply Patient Preferences</a:t>
          </a:r>
          <a:endParaRPr lang="en-US" sz="2000" kern="1200" dirty="0">
            <a:solidFill>
              <a:sysClr val="windowText" lastClr="000000"/>
            </a:solidFill>
            <a:latin typeface="Georgia Pro" panose="020405020504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>
              <a:solidFill>
                <a:sysClr val="windowText" lastClr="000000"/>
              </a:solidFill>
              <a:latin typeface="Georgia Pro" panose="02040502050405020303" pitchFamily="18" charset="0"/>
            </a:rPr>
            <a:t>Weight outcomes using WP1–WP5</a:t>
          </a:r>
        </a:p>
      </dsp:txBody>
      <dsp:txXfrm>
        <a:off x="647864" y="1050156"/>
        <a:ext cx="7064627" cy="846309"/>
      </dsp:txXfrm>
    </dsp:sp>
    <dsp:sp modelId="{FA1A677B-9E7F-48AB-9169-07468681FAFD}">
      <dsp:nvSpPr>
        <dsp:cNvPr id="0" name=""/>
        <dsp:cNvSpPr/>
      </dsp:nvSpPr>
      <dsp:spPr>
        <a:xfrm>
          <a:off x="1243068" y="2047652"/>
          <a:ext cx="8323151" cy="898969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Text" lastClr="000000"/>
              </a:solidFill>
              <a:latin typeface="Georgia Pro" panose="02040502050405020303" pitchFamily="18" charset="0"/>
            </a:rPr>
            <a:t>Compute Utility Difference</a:t>
          </a:r>
          <a:endParaRPr lang="en-US" sz="2000" kern="1200" dirty="0">
            <a:solidFill>
              <a:sysClr val="windowText" lastClr="000000"/>
            </a:solidFill>
            <a:latin typeface="Georgia Pro" panose="020405020504050203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2000" kern="1200" dirty="0">
              <a:solidFill>
                <a:sysClr val="windowText" lastClr="000000"/>
              </a:solidFill>
              <a:latin typeface="Georgia Pro" panose="02040502050405020303" pitchFamily="18" charset="0"/>
            </a:rPr>
            <a:t>Δ</a:t>
          </a:r>
          <a:r>
            <a:rPr lang="en-US" sz="2000" kern="1200" dirty="0">
              <a:solidFill>
                <a:sysClr val="windowText" lastClr="000000"/>
              </a:solidFill>
              <a:latin typeface="Georgia Pro" panose="02040502050405020303" pitchFamily="18" charset="0"/>
            </a:rPr>
            <a:t>U = Surgery − Conservative</a:t>
          </a:r>
        </a:p>
      </dsp:txBody>
      <dsp:txXfrm>
        <a:off x="1269398" y="2073982"/>
        <a:ext cx="7064627" cy="846309"/>
      </dsp:txXfrm>
    </dsp:sp>
    <dsp:sp modelId="{15DFD649-AB15-42B8-98E8-28692BB48963}">
      <dsp:nvSpPr>
        <dsp:cNvPr id="0" name=""/>
        <dsp:cNvSpPr/>
      </dsp:nvSpPr>
      <dsp:spPr>
        <a:xfrm>
          <a:off x="1864602" y="3071479"/>
          <a:ext cx="8323151" cy="898969"/>
        </a:xfrm>
        <a:prstGeom prst="roundRect">
          <a:avLst>
            <a:gd name="adj" fmla="val 10000"/>
          </a:avLst>
        </a:prstGeom>
        <a:solidFill>
          <a:srgbClr val="E97132">
            <a:lumMod val="20000"/>
            <a:lumOff val="8000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Text" lastClr="000000"/>
              </a:solidFill>
              <a:latin typeface="Georgia Pro" panose="02040502050405020303" pitchFamily="18" charset="0"/>
              <a:ea typeface="+mn-ea"/>
              <a:cs typeface="+mn-cs"/>
            </a:rPr>
            <a:t>Decision Rule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Text" lastClr="000000"/>
              </a:solidFill>
              <a:latin typeface="Georgia Pro" panose="02040502050405020303" pitchFamily="18" charset="0"/>
              <a:ea typeface="+mn-ea"/>
              <a:cs typeface="+mn-cs"/>
            </a:rPr>
            <a:t>Recommend | Borderline | Trade-offs | Defer to SDM</a:t>
          </a:r>
        </a:p>
      </dsp:txBody>
      <dsp:txXfrm>
        <a:off x="1890932" y="3097809"/>
        <a:ext cx="7064627" cy="846309"/>
      </dsp:txXfrm>
    </dsp:sp>
    <dsp:sp modelId="{5CBFBF7C-DB0C-4894-898C-7BAE93C7731D}">
      <dsp:nvSpPr>
        <dsp:cNvPr id="0" name=""/>
        <dsp:cNvSpPr/>
      </dsp:nvSpPr>
      <dsp:spPr>
        <a:xfrm>
          <a:off x="2486136" y="4095305"/>
          <a:ext cx="8323151" cy="898969"/>
        </a:xfrm>
        <a:prstGeom prst="roundRect">
          <a:avLst>
            <a:gd name="adj" fmla="val 10000"/>
          </a:avLst>
        </a:prstGeom>
        <a:solidFill>
          <a:prstClr val="white">
            <a:lumMod val="95000"/>
          </a:prst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Text" lastClr="000000"/>
              </a:solidFill>
              <a:latin typeface="Georgia Pro" panose="02040502050405020303" pitchFamily="18" charset="0"/>
              <a:ea typeface="+mn-ea"/>
              <a:cs typeface="+mn-cs"/>
            </a:rPr>
            <a:t>Sensitivity Check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Text" lastClr="000000"/>
              </a:solidFill>
              <a:latin typeface="Georgia Pro" panose="02040502050405020303" pitchFamily="18" charset="0"/>
              <a:ea typeface="+mn-ea"/>
              <a:cs typeface="+mn-cs"/>
            </a:rPr>
            <a:t>Flag preference-sensitive cases</a:t>
          </a:r>
        </a:p>
      </dsp:txBody>
      <dsp:txXfrm>
        <a:off x="2512466" y="4121635"/>
        <a:ext cx="7064627" cy="846309"/>
      </dsp:txXfrm>
    </dsp:sp>
    <dsp:sp modelId="{CC3A43E2-B0E4-4C24-9637-6CACC3CFF638}">
      <dsp:nvSpPr>
        <dsp:cNvPr id="0" name=""/>
        <dsp:cNvSpPr/>
      </dsp:nvSpPr>
      <dsp:spPr>
        <a:xfrm>
          <a:off x="7738821" y="656747"/>
          <a:ext cx="584330" cy="584330"/>
        </a:xfrm>
        <a:prstGeom prst="downArrow">
          <a:avLst>
            <a:gd name="adj1" fmla="val 55000"/>
            <a:gd name="adj2" fmla="val 45000"/>
          </a:avLst>
        </a:prstGeom>
        <a:solidFill>
          <a:schemeClr val="bg1">
            <a:lumMod val="75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870295" y="656747"/>
        <a:ext cx="321382" cy="439708"/>
      </dsp:txXfrm>
    </dsp:sp>
    <dsp:sp modelId="{01F17F7B-C10B-4DCA-BE48-9B382C4F7AF7}">
      <dsp:nvSpPr>
        <dsp:cNvPr id="0" name=""/>
        <dsp:cNvSpPr/>
      </dsp:nvSpPr>
      <dsp:spPr>
        <a:xfrm>
          <a:off x="8360355" y="1680573"/>
          <a:ext cx="584330" cy="584330"/>
        </a:xfrm>
        <a:prstGeom prst="downArrow">
          <a:avLst>
            <a:gd name="adj1" fmla="val 55000"/>
            <a:gd name="adj2" fmla="val 45000"/>
          </a:avLst>
        </a:prstGeom>
        <a:solidFill>
          <a:schemeClr val="bg1">
            <a:lumMod val="75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491829" y="1680573"/>
        <a:ext cx="321382" cy="439708"/>
      </dsp:txXfrm>
    </dsp:sp>
    <dsp:sp modelId="{DA7AC63E-C05E-4A5C-942E-AC266F878B63}">
      <dsp:nvSpPr>
        <dsp:cNvPr id="0" name=""/>
        <dsp:cNvSpPr/>
      </dsp:nvSpPr>
      <dsp:spPr>
        <a:xfrm>
          <a:off x="8981889" y="2689417"/>
          <a:ext cx="584330" cy="58433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9113363" y="2689417"/>
        <a:ext cx="321382" cy="439708"/>
      </dsp:txXfrm>
    </dsp:sp>
    <dsp:sp modelId="{4C3A977A-FF93-40A9-9F7C-58A524009745}">
      <dsp:nvSpPr>
        <dsp:cNvPr id="0" name=""/>
        <dsp:cNvSpPr/>
      </dsp:nvSpPr>
      <dsp:spPr>
        <a:xfrm>
          <a:off x="9603423" y="3723232"/>
          <a:ext cx="584330" cy="58433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9734897" y="3723232"/>
        <a:ext cx="321382" cy="4397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flaticon.com/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www.freepik.com/" TargetMode="External"/><Relationship Id="rId9" Type="http://schemas.openxmlformats.org/officeDocument/2006/relationships/image" Target="../media/image8.pn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67867" y="3621151"/>
            <a:ext cx="5334000" cy="30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7400" y="246567"/>
            <a:ext cx="4349933" cy="33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551" y="-584015"/>
            <a:ext cx="3213100" cy="31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9214367" y="274833"/>
            <a:ext cx="5786600" cy="4148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1255733" y="3661934"/>
            <a:ext cx="2311667" cy="526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271100" y="1937000"/>
            <a:ext cx="9650000" cy="2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53500" y="4355800"/>
            <a:ext cx="8085200" cy="5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946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1_Section 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888600" y="3213060"/>
            <a:ext cx="64148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390967" y="4221160"/>
            <a:ext cx="3410400" cy="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4446400" y="1396497"/>
            <a:ext cx="3299200" cy="18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883291">
            <a:off x="-531471" y="2215192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085" y="218257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46">
            <a:off x="1255734" y="3661933"/>
            <a:ext cx="2311668" cy="526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42301" y="4292402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38835" y="812956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46">
            <a:off x="8506234" y="-2467834"/>
            <a:ext cx="2311668" cy="5263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8937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950967" y="1583467"/>
            <a:ext cx="10290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9357867" y="-2359233"/>
            <a:ext cx="2311667" cy="526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857450" y="2259649"/>
            <a:ext cx="4717967" cy="270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40967" y="3628533"/>
            <a:ext cx="2221533" cy="2151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2928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1044467" y="4541101"/>
            <a:ext cx="4742000" cy="12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2"/>
          </p:nvPr>
        </p:nvSpPr>
        <p:spPr>
          <a:xfrm>
            <a:off x="6405497" y="4541101"/>
            <a:ext cx="4742000" cy="12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 idx="3"/>
          </p:nvPr>
        </p:nvSpPr>
        <p:spPr>
          <a:xfrm>
            <a:off x="1044664" y="3992567"/>
            <a:ext cx="4742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title" idx="4"/>
          </p:nvPr>
        </p:nvSpPr>
        <p:spPr>
          <a:xfrm>
            <a:off x="6405483" y="3992567"/>
            <a:ext cx="4742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5178500" y="4166400"/>
            <a:ext cx="2922800" cy="6654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650512">
            <a:off x="-789933" y="1975667"/>
            <a:ext cx="2307167" cy="2130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498519">
            <a:off x="-2064548" y="517434"/>
            <a:ext cx="4041711" cy="289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10300434" y="798000"/>
            <a:ext cx="2841533" cy="220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296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597377">
            <a:off x="-1853032" y="1030391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708700" y="-2328833"/>
            <a:ext cx="1928067" cy="438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7867" y="-444233"/>
            <a:ext cx="2307167" cy="21306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989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5630167" y="2071133"/>
            <a:ext cx="5395200" cy="8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5630167" y="2952176"/>
            <a:ext cx="5395200" cy="1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883291">
            <a:off x="9332663" y="-257575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6001" y="5314251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5251" y="-224343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01" y="-1175144"/>
            <a:ext cx="3182432" cy="5841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1308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3346800" y="1905000"/>
            <a:ext cx="5498400" cy="30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pic>
        <p:nvPicPr>
          <p:cNvPr id="56" name="Google Shape;5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6455401" y="-2439044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665181">
            <a:off x="4933" y="-828867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50">
            <a:off x="750795" y="1693397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940574">
            <a:off x="9528296" y="4301559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8916334" y="4676833"/>
            <a:ext cx="1857733" cy="1799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193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3578200" y="2044436"/>
            <a:ext cx="50356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3578000" y="3138533"/>
            <a:ext cx="5036000" cy="19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905281">
            <a:off x="2447033" y="-3055267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">
            <a:off x="825133" y="-1978133"/>
            <a:ext cx="5081267" cy="3643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282886">
            <a:off x="1053671" y="3315294"/>
            <a:ext cx="2365660" cy="5386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9671300" y="4742091"/>
            <a:ext cx="3339133" cy="191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4511836">
            <a:off x="9806553" y="3211698"/>
            <a:ext cx="2263304" cy="21917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642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950967" y="3231433"/>
            <a:ext cx="3433200" cy="2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6979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Big numb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2351633" y="2164833"/>
            <a:ext cx="7488800" cy="18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2351633" y="4153512"/>
            <a:ext cx="7488800" cy="6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pic>
        <p:nvPicPr>
          <p:cNvPr id="74" name="Google Shape;7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6561834" y="-424367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5701" y="3952201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30805">
            <a:off x="9884031" y="1520865"/>
            <a:ext cx="2096005" cy="5084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159600" y="4315402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4325216" y="-609615"/>
            <a:ext cx="3163905" cy="24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8">
            <a:off x="8875993" y="3099164"/>
            <a:ext cx="2669944" cy="6079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0162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430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2" hasCustomPrompt="1"/>
          </p:nvPr>
        </p:nvSpPr>
        <p:spPr>
          <a:xfrm>
            <a:off x="1336433" y="1573407"/>
            <a:ext cx="25820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3"/>
          </p:nvPr>
        </p:nvSpPr>
        <p:spPr>
          <a:xfrm>
            <a:off x="950967" y="2434664"/>
            <a:ext cx="33532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950967" y="2909575"/>
            <a:ext cx="33532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4" hasCustomPrompt="1"/>
          </p:nvPr>
        </p:nvSpPr>
        <p:spPr>
          <a:xfrm>
            <a:off x="4804915" y="1573407"/>
            <a:ext cx="25820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5"/>
          </p:nvPr>
        </p:nvSpPr>
        <p:spPr>
          <a:xfrm>
            <a:off x="4419449" y="2434664"/>
            <a:ext cx="33532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6"/>
          </p:nvPr>
        </p:nvSpPr>
        <p:spPr>
          <a:xfrm>
            <a:off x="4419453" y="2909575"/>
            <a:ext cx="33532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7" hasCustomPrompt="1"/>
          </p:nvPr>
        </p:nvSpPr>
        <p:spPr>
          <a:xfrm>
            <a:off x="8273400" y="1573407"/>
            <a:ext cx="25820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8"/>
          </p:nvPr>
        </p:nvSpPr>
        <p:spPr>
          <a:xfrm>
            <a:off x="7887933" y="2434665"/>
            <a:ext cx="33532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9"/>
          </p:nvPr>
        </p:nvSpPr>
        <p:spPr>
          <a:xfrm>
            <a:off x="7887939" y="2909576"/>
            <a:ext cx="33532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3" hasCustomPrompt="1"/>
          </p:nvPr>
        </p:nvSpPr>
        <p:spPr>
          <a:xfrm>
            <a:off x="3070667" y="3948339"/>
            <a:ext cx="25820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4"/>
          </p:nvPr>
        </p:nvSpPr>
        <p:spPr>
          <a:xfrm>
            <a:off x="2685165" y="4815745"/>
            <a:ext cx="335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5"/>
          </p:nvPr>
        </p:nvSpPr>
        <p:spPr>
          <a:xfrm>
            <a:off x="2685151" y="5290657"/>
            <a:ext cx="33532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6" hasCustomPrompt="1"/>
          </p:nvPr>
        </p:nvSpPr>
        <p:spPr>
          <a:xfrm>
            <a:off x="6539045" y="3948339"/>
            <a:ext cx="25824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17"/>
          </p:nvPr>
        </p:nvSpPr>
        <p:spPr>
          <a:xfrm>
            <a:off x="6153520" y="4815745"/>
            <a:ext cx="335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8"/>
          </p:nvPr>
        </p:nvSpPr>
        <p:spPr>
          <a:xfrm>
            <a:off x="6153516" y="5290657"/>
            <a:ext cx="33532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95882" flipH="1">
            <a:off x="-210933" y="-946022"/>
            <a:ext cx="2096000" cy="508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142567" y="4742369"/>
            <a:ext cx="1582867" cy="2050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99011">
            <a:off x="10966314" y="1068214"/>
            <a:ext cx="2519972" cy="5737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8840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 preserve="1">
  <p:cSld name="Table of contents 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730933" y="4897601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30805">
            <a:off x="9884031" y="1520865"/>
            <a:ext cx="2096005" cy="5084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-637033" y="5260802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-908318" y="-1266449"/>
            <a:ext cx="3163905" cy="24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 idx="2" hasCustomPrompt="1"/>
          </p:nvPr>
        </p:nvSpPr>
        <p:spPr>
          <a:xfrm>
            <a:off x="2607853" y="1541600"/>
            <a:ext cx="32628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3"/>
          </p:nvPr>
        </p:nvSpPr>
        <p:spPr>
          <a:xfrm>
            <a:off x="2607853" y="2415573"/>
            <a:ext cx="32628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subTitle" idx="1"/>
          </p:nvPr>
        </p:nvSpPr>
        <p:spPr>
          <a:xfrm>
            <a:off x="2607853" y="2909567"/>
            <a:ext cx="32628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title" idx="4" hasCustomPrompt="1"/>
          </p:nvPr>
        </p:nvSpPr>
        <p:spPr>
          <a:xfrm>
            <a:off x="6321347" y="1541600"/>
            <a:ext cx="32628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11" name="Google Shape;111;p14"/>
          <p:cNvSpPr txBox="1">
            <a:spLocks noGrp="1"/>
          </p:cNvSpPr>
          <p:nvPr>
            <p:ph type="title" idx="5"/>
          </p:nvPr>
        </p:nvSpPr>
        <p:spPr>
          <a:xfrm>
            <a:off x="6321347" y="2415573"/>
            <a:ext cx="32628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subTitle" idx="6"/>
          </p:nvPr>
        </p:nvSpPr>
        <p:spPr>
          <a:xfrm>
            <a:off x="6321347" y="2909567"/>
            <a:ext cx="32628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title" idx="7" hasCustomPrompt="1"/>
          </p:nvPr>
        </p:nvSpPr>
        <p:spPr>
          <a:xfrm>
            <a:off x="2607853" y="3910333"/>
            <a:ext cx="32628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14" name="Google Shape;114;p14"/>
          <p:cNvSpPr txBox="1">
            <a:spLocks noGrp="1"/>
          </p:cNvSpPr>
          <p:nvPr>
            <p:ph type="title" idx="8"/>
          </p:nvPr>
        </p:nvSpPr>
        <p:spPr>
          <a:xfrm>
            <a:off x="2607853" y="4784308"/>
            <a:ext cx="32628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subTitle" idx="9"/>
          </p:nvPr>
        </p:nvSpPr>
        <p:spPr>
          <a:xfrm>
            <a:off x="2607853" y="5278300"/>
            <a:ext cx="32628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title" idx="13" hasCustomPrompt="1"/>
          </p:nvPr>
        </p:nvSpPr>
        <p:spPr>
          <a:xfrm>
            <a:off x="6321347" y="3910333"/>
            <a:ext cx="32628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17" name="Google Shape;117;p14"/>
          <p:cNvSpPr txBox="1">
            <a:spLocks noGrp="1"/>
          </p:cNvSpPr>
          <p:nvPr>
            <p:ph type="title" idx="14"/>
          </p:nvPr>
        </p:nvSpPr>
        <p:spPr>
          <a:xfrm>
            <a:off x="6321347" y="4784307"/>
            <a:ext cx="32628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subTitle" idx="15"/>
          </p:nvPr>
        </p:nvSpPr>
        <p:spPr>
          <a:xfrm>
            <a:off x="6321347" y="5278300"/>
            <a:ext cx="32628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797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 preserve="1">
  <p:cSld name="Title and text 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665181">
            <a:off x="4933" y="-828867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639250">
            <a:off x="750795" y="1693397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303801" y="-614199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2702500" y="-250999"/>
            <a:ext cx="2096000" cy="271553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6206100" y="1923953"/>
            <a:ext cx="50356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"/>
          </p:nvPr>
        </p:nvSpPr>
        <p:spPr>
          <a:xfrm>
            <a:off x="6205900" y="3037672"/>
            <a:ext cx="5036000" cy="19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511709">
            <a:off x="1655800" y="5695607"/>
            <a:ext cx="3339133" cy="191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4511836">
            <a:off x="3361687" y="2742731"/>
            <a:ext cx="2263304" cy="2191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639250">
            <a:off x="2415528" y="-1140004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-926600" y="4737102"/>
            <a:ext cx="2096000" cy="2715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9000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preserve="1">
  <p:cSld name="Section header 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>
            <a:spLocks noGrp="1"/>
          </p:cNvSpPr>
          <p:nvPr>
            <p:ph type="title"/>
          </p:nvPr>
        </p:nvSpPr>
        <p:spPr>
          <a:xfrm>
            <a:off x="2888600" y="2539960"/>
            <a:ext cx="64148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subTitle" idx="1"/>
          </p:nvPr>
        </p:nvSpPr>
        <p:spPr>
          <a:xfrm>
            <a:off x="2888600" y="3548067"/>
            <a:ext cx="5655600" cy="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2158500"/>
            <a:ext cx="1903600" cy="18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pic>
        <p:nvPicPr>
          <p:cNvPr id="134" name="Google Shape;134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883291">
            <a:off x="8451496" y="4372459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1718" y="1548890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46">
            <a:off x="10552134" y="4081033"/>
            <a:ext cx="2311668" cy="526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8369067" y="851084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597377">
            <a:off x="6167568" y="-3388943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67871" y="1304198"/>
            <a:ext cx="3222433" cy="3120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3668799">
            <a:off x="1240439" y="-2525260"/>
            <a:ext cx="2848424" cy="69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156636">
            <a:off x="3879601" y="-2109994"/>
            <a:ext cx="2669944" cy="6079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643364" flipH="1">
            <a:off x="3937135" y="3438003"/>
            <a:ext cx="2669944" cy="60790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9306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 preserve="1">
  <p:cSld name="Section header 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>
            <a:spLocks noGrp="1"/>
          </p:cNvSpPr>
          <p:nvPr>
            <p:ph type="title"/>
          </p:nvPr>
        </p:nvSpPr>
        <p:spPr>
          <a:xfrm>
            <a:off x="5636333" y="3334933"/>
            <a:ext cx="56048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45" name="Google Shape;145;p17"/>
          <p:cNvSpPr txBox="1">
            <a:spLocks noGrp="1"/>
          </p:cNvSpPr>
          <p:nvPr>
            <p:ph type="subTitle" idx="1"/>
          </p:nvPr>
        </p:nvSpPr>
        <p:spPr>
          <a:xfrm>
            <a:off x="5636333" y="4343035"/>
            <a:ext cx="5604800" cy="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46" name="Google Shape;146;p17"/>
          <p:cNvSpPr txBox="1">
            <a:spLocks noGrp="1"/>
          </p:cNvSpPr>
          <p:nvPr>
            <p:ph type="title" idx="2" hasCustomPrompt="1"/>
          </p:nvPr>
        </p:nvSpPr>
        <p:spPr>
          <a:xfrm>
            <a:off x="6879933" y="1518367"/>
            <a:ext cx="3117600" cy="18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pic>
        <p:nvPicPr>
          <p:cNvPr id="147" name="Google Shape;14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10134819" flipH="1">
            <a:off x="4933" y="1762353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9160750" flipH="1">
            <a:off x="750795" y="-615914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 flipH="1">
            <a:off x="2303801" y="5503987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2702500" y="4691954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3288291" flipH="1">
            <a:off x="1655800" y="-455160"/>
            <a:ext cx="3339133" cy="191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288164" flipH="1">
            <a:off x="3361687" y="2222015"/>
            <a:ext cx="2263304" cy="2191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9160750" flipH="1">
            <a:off x="2415528" y="2217486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-926600" y="-296147"/>
            <a:ext cx="2096000" cy="2715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420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preserve="1">
  <p:cSld name="Title and two columns 1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>
            <a:spLocks noGrp="1"/>
          </p:cNvSpPr>
          <p:nvPr>
            <p:ph type="title"/>
          </p:nvPr>
        </p:nvSpPr>
        <p:spPr>
          <a:xfrm>
            <a:off x="950967" y="2600203"/>
            <a:ext cx="3383600" cy="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subTitle" idx="1"/>
          </p:nvPr>
        </p:nvSpPr>
        <p:spPr>
          <a:xfrm>
            <a:off x="950967" y="3064323"/>
            <a:ext cx="33836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title" idx="3"/>
          </p:nvPr>
        </p:nvSpPr>
        <p:spPr>
          <a:xfrm>
            <a:off x="7857435" y="3851367"/>
            <a:ext cx="3383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subTitle" idx="4"/>
          </p:nvPr>
        </p:nvSpPr>
        <p:spPr>
          <a:xfrm>
            <a:off x="7857433" y="4342701"/>
            <a:ext cx="33836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161" name="Google Shape;16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10312167" y="1308284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2866" y="5005317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10077216" y="-630666"/>
            <a:ext cx="3163905" cy="24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597377">
            <a:off x="8110668" y="-2931743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799990">
            <a:off x="-1313096" y="939094"/>
            <a:ext cx="2365659" cy="53862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34375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 preserve="1">
  <p:cSld name="Title and four columns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>
            <a:spLocks noGrp="1"/>
          </p:cNvSpPr>
          <p:nvPr>
            <p:ph type="title"/>
          </p:nvPr>
        </p:nvSpPr>
        <p:spPr>
          <a:xfrm>
            <a:off x="1318108" y="1662408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subTitle" idx="1"/>
          </p:nvPr>
        </p:nvSpPr>
        <p:spPr>
          <a:xfrm>
            <a:off x="1318108" y="2138456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title" idx="3"/>
          </p:nvPr>
        </p:nvSpPr>
        <p:spPr>
          <a:xfrm>
            <a:off x="1318108" y="4164516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subTitle" idx="4"/>
          </p:nvPr>
        </p:nvSpPr>
        <p:spPr>
          <a:xfrm>
            <a:off x="1318108" y="4640563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title" idx="5"/>
          </p:nvPr>
        </p:nvSpPr>
        <p:spPr>
          <a:xfrm>
            <a:off x="4496808" y="1662425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6"/>
          </p:nvPr>
        </p:nvSpPr>
        <p:spPr>
          <a:xfrm>
            <a:off x="4496808" y="2138472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546976">
            <a:off x="-647256" y="-1598092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0386000" y="-413333"/>
            <a:ext cx="2096000" cy="271553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>
            <a:spLocks noGrp="1"/>
          </p:cNvSpPr>
          <p:nvPr>
            <p:ph type="title" idx="7"/>
          </p:nvPr>
        </p:nvSpPr>
        <p:spPr>
          <a:xfrm>
            <a:off x="4497859" y="4186016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subTitle" idx="8"/>
          </p:nvPr>
        </p:nvSpPr>
        <p:spPr>
          <a:xfrm>
            <a:off x="4497859" y="4662063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178" name="Google Shape;17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180706">
            <a:off x="7180752" y="2807051"/>
            <a:ext cx="2746033" cy="6661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42776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 preserve="1">
  <p:cSld name="Title and two columns 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subTitle" idx="1"/>
          </p:nvPr>
        </p:nvSpPr>
        <p:spPr>
          <a:xfrm>
            <a:off x="970100" y="2752100"/>
            <a:ext cx="4934800" cy="27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20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subTitle" idx="2"/>
          </p:nvPr>
        </p:nvSpPr>
        <p:spPr>
          <a:xfrm>
            <a:off x="6306333" y="2752100"/>
            <a:ext cx="4934800" cy="27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931600" y="501667"/>
            <a:ext cx="2417133" cy="187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0791434" y="93900"/>
            <a:ext cx="1612567" cy="20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7">
            <a:off x="3853233" y="4369068"/>
            <a:ext cx="1695600" cy="4113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8">
            <a:off x="5956460" y="4059297"/>
            <a:ext cx="2669944" cy="6079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60544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>
  <p:cSld name="Title and text 1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>
            <a:spLocks noGrp="1"/>
          </p:cNvSpPr>
          <p:nvPr>
            <p:ph type="subTitle" idx="1"/>
          </p:nvPr>
        </p:nvSpPr>
        <p:spPr>
          <a:xfrm>
            <a:off x="1308500" y="2664944"/>
            <a:ext cx="5415600" cy="25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546976">
            <a:off x="-647256" y="-1191692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0386000" y="-413333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2708467" y="4127267"/>
            <a:ext cx="2299200" cy="557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5986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>
  <p:cSld name="Title and text 2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>
            <a:spLocks noGrp="1"/>
          </p:cNvSpPr>
          <p:nvPr>
            <p:ph type="subTitle" idx="1"/>
          </p:nvPr>
        </p:nvSpPr>
        <p:spPr>
          <a:xfrm>
            <a:off x="5372500" y="2664944"/>
            <a:ext cx="5415600" cy="25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96" name="Google Shape;19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3546976" flipH="1">
            <a:off x="10463078" y="-1191692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270933" y="-413333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7533467" y="4045933"/>
            <a:ext cx="2299200" cy="557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93003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 preserve="1">
  <p:cSld name="Title and three columns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>
            <a:spLocks noGrp="1"/>
          </p:cNvSpPr>
          <p:nvPr>
            <p:ph type="title"/>
          </p:nvPr>
        </p:nvSpPr>
        <p:spPr>
          <a:xfrm>
            <a:off x="1212533" y="3151363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01" name="Google Shape;201;p23"/>
          <p:cNvSpPr txBox="1">
            <a:spLocks noGrp="1"/>
          </p:cNvSpPr>
          <p:nvPr>
            <p:ph type="subTitle" idx="1"/>
          </p:nvPr>
        </p:nvSpPr>
        <p:spPr>
          <a:xfrm>
            <a:off x="1212533" y="3627411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3"/>
          <p:cNvSpPr txBox="1">
            <a:spLocks noGrp="1"/>
          </p:cNvSpPr>
          <p:nvPr>
            <p:ph type="title" idx="3"/>
          </p:nvPr>
        </p:nvSpPr>
        <p:spPr>
          <a:xfrm>
            <a:off x="4649467" y="3151363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04" name="Google Shape;204;p23"/>
          <p:cNvSpPr txBox="1">
            <a:spLocks noGrp="1"/>
          </p:cNvSpPr>
          <p:nvPr>
            <p:ph type="subTitle" idx="4"/>
          </p:nvPr>
        </p:nvSpPr>
        <p:spPr>
          <a:xfrm>
            <a:off x="4649467" y="3627411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3"/>
          <p:cNvSpPr txBox="1">
            <a:spLocks noGrp="1"/>
          </p:cNvSpPr>
          <p:nvPr>
            <p:ph type="title" idx="5"/>
          </p:nvPr>
        </p:nvSpPr>
        <p:spPr>
          <a:xfrm>
            <a:off x="8086400" y="3151363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06" name="Google Shape;206;p23"/>
          <p:cNvSpPr txBox="1">
            <a:spLocks noGrp="1"/>
          </p:cNvSpPr>
          <p:nvPr>
            <p:ph type="subTitle" idx="6"/>
          </p:nvPr>
        </p:nvSpPr>
        <p:spPr>
          <a:xfrm>
            <a:off x="8086401" y="3627411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07" name="Google Shape;207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546976">
            <a:off x="-647256" y="-1191692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0386000" y="-413333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2708467" y="4127267"/>
            <a:ext cx="2299200" cy="557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2675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 preserve="1">
  <p:cSld name="Title and two columns 3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931133" y="2978308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12" name="Google Shape;212;p24"/>
          <p:cNvSpPr txBox="1">
            <a:spLocks noGrp="1"/>
          </p:cNvSpPr>
          <p:nvPr>
            <p:ph type="subTitle" idx="1"/>
          </p:nvPr>
        </p:nvSpPr>
        <p:spPr>
          <a:xfrm>
            <a:off x="2931133" y="3454356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4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4"/>
          <p:cNvSpPr txBox="1">
            <a:spLocks noGrp="1"/>
          </p:cNvSpPr>
          <p:nvPr>
            <p:ph type="title" idx="3"/>
          </p:nvPr>
        </p:nvSpPr>
        <p:spPr>
          <a:xfrm>
            <a:off x="6368067" y="2978308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15" name="Google Shape;215;p24"/>
          <p:cNvSpPr txBox="1">
            <a:spLocks noGrp="1"/>
          </p:cNvSpPr>
          <p:nvPr>
            <p:ph type="subTitle" idx="4"/>
          </p:nvPr>
        </p:nvSpPr>
        <p:spPr>
          <a:xfrm>
            <a:off x="6368067" y="3454356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16" name="Google Shape;21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546976">
            <a:off x="-647256" y="-1191692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4487367" y="599280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23684" y="4178934"/>
            <a:ext cx="2212033" cy="20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8611223">
            <a:off x="3526133" y="5989167"/>
            <a:ext cx="3780200" cy="2710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8">
            <a:off x="10094727" y="-2320169"/>
            <a:ext cx="2669944" cy="607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-413283" y="4178934"/>
            <a:ext cx="2212033" cy="2042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71047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 preserve="1">
  <p:cSld name="Title and two columns 4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>
            <a:spLocks noGrp="1"/>
          </p:cNvSpPr>
          <p:nvPr>
            <p:ph type="title"/>
          </p:nvPr>
        </p:nvSpPr>
        <p:spPr>
          <a:xfrm>
            <a:off x="2931133" y="3557763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subTitle" idx="1"/>
          </p:nvPr>
        </p:nvSpPr>
        <p:spPr>
          <a:xfrm>
            <a:off x="2931133" y="4033811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5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5"/>
          <p:cNvSpPr txBox="1">
            <a:spLocks noGrp="1"/>
          </p:cNvSpPr>
          <p:nvPr>
            <p:ph type="title" idx="3"/>
          </p:nvPr>
        </p:nvSpPr>
        <p:spPr>
          <a:xfrm>
            <a:off x="6368067" y="3557763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27" name="Google Shape;227;p25"/>
          <p:cNvSpPr txBox="1">
            <a:spLocks noGrp="1"/>
          </p:cNvSpPr>
          <p:nvPr>
            <p:ph type="subTitle" idx="4"/>
          </p:nvPr>
        </p:nvSpPr>
        <p:spPr>
          <a:xfrm>
            <a:off x="6368067" y="4033811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28" name="Google Shape;22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546976">
            <a:off x="-647256" y="-1191692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4487367" y="599280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957601" y="4436434"/>
            <a:ext cx="2212033" cy="20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8611223">
            <a:off x="3526133" y="5989167"/>
            <a:ext cx="3780200" cy="2710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8">
            <a:off x="10094727" y="-2320169"/>
            <a:ext cx="2669944" cy="6079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55589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preserve="1">
  <p:cSld name="Title only 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931600" y="501667"/>
            <a:ext cx="2417133" cy="187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0791434" y="93900"/>
            <a:ext cx="1612567" cy="20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202858">
            <a:off x="5191533" y="4502371"/>
            <a:ext cx="1695600" cy="4113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4597155">
            <a:off x="7068653" y="4773804"/>
            <a:ext cx="2669944" cy="607900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36330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 preserve="1">
  <p:cSld name="Main point 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4734819">
            <a:off x="8046549" y="1448181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760750">
            <a:off x="4917179" y="2930211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65483" y="5669747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 flipH="1">
            <a:off x="9457116" y="5664782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8688291">
            <a:off x="3288690" y="5639393"/>
            <a:ext cx="3339133" cy="191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9911836">
            <a:off x="6641629" y="6669515"/>
            <a:ext cx="2263304" cy="2191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760750">
            <a:off x="8377412" y="3983045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4469016" y="2982415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900296">
            <a:off x="8493157" y="911792"/>
            <a:ext cx="3182432" cy="58418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7"/>
          <p:cNvSpPr txBox="1">
            <a:spLocks noGrp="1"/>
          </p:cNvSpPr>
          <p:nvPr>
            <p:ph type="title"/>
          </p:nvPr>
        </p:nvSpPr>
        <p:spPr>
          <a:xfrm flipH="1">
            <a:off x="1490000" y="1117600"/>
            <a:ext cx="9212000" cy="15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pic>
        <p:nvPicPr>
          <p:cNvPr id="250" name="Google Shape;25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4734819">
            <a:off x="-1148251" y="1448181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683" y="5669747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 flipH="1">
            <a:off x="262316" y="5664782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760750">
            <a:off x="-1606405" y="2050211"/>
            <a:ext cx="2669944" cy="60790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24167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 preserve="1">
  <p:cSld name="Title and three columns 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>
            <a:spLocks noGrp="1"/>
          </p:cNvSpPr>
          <p:nvPr>
            <p:ph type="title"/>
          </p:nvPr>
        </p:nvSpPr>
        <p:spPr>
          <a:xfrm>
            <a:off x="1212533" y="42725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1"/>
          </p:nvPr>
        </p:nvSpPr>
        <p:spPr>
          <a:xfrm>
            <a:off x="1212533" y="4763845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8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28"/>
          <p:cNvSpPr txBox="1">
            <a:spLocks noGrp="1"/>
          </p:cNvSpPr>
          <p:nvPr>
            <p:ph type="title" idx="3"/>
          </p:nvPr>
        </p:nvSpPr>
        <p:spPr>
          <a:xfrm>
            <a:off x="4649468" y="42725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59" name="Google Shape;259;p28"/>
          <p:cNvSpPr txBox="1">
            <a:spLocks noGrp="1"/>
          </p:cNvSpPr>
          <p:nvPr>
            <p:ph type="subTitle" idx="4"/>
          </p:nvPr>
        </p:nvSpPr>
        <p:spPr>
          <a:xfrm>
            <a:off x="4649467" y="4763845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8"/>
          <p:cNvSpPr txBox="1">
            <a:spLocks noGrp="1"/>
          </p:cNvSpPr>
          <p:nvPr>
            <p:ph type="title" idx="5"/>
          </p:nvPr>
        </p:nvSpPr>
        <p:spPr>
          <a:xfrm>
            <a:off x="8086403" y="42725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61" name="Google Shape;261;p28"/>
          <p:cNvSpPr txBox="1">
            <a:spLocks noGrp="1"/>
          </p:cNvSpPr>
          <p:nvPr>
            <p:ph type="subTitle" idx="6"/>
          </p:nvPr>
        </p:nvSpPr>
        <p:spPr>
          <a:xfrm>
            <a:off x="8086400" y="4763845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62" name="Google Shape;262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4487367" y="599280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957601" y="4436434"/>
            <a:ext cx="2212033" cy="20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9355986">
            <a:off x="-309423" y="415267"/>
            <a:ext cx="1771712" cy="429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8611223">
            <a:off x="3526133" y="5989167"/>
            <a:ext cx="3780200" cy="2710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8">
            <a:off x="10094727" y="-2320169"/>
            <a:ext cx="2669944" cy="6079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79229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 preserve="1">
  <p:cSld name="Title and three columns 2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>
            <a:spLocks noGrp="1"/>
          </p:cNvSpPr>
          <p:nvPr>
            <p:ph type="title"/>
          </p:nvPr>
        </p:nvSpPr>
        <p:spPr>
          <a:xfrm>
            <a:off x="2648867" y="1760733"/>
            <a:ext cx="366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69" name="Google Shape;269;p29"/>
          <p:cNvSpPr txBox="1">
            <a:spLocks noGrp="1"/>
          </p:cNvSpPr>
          <p:nvPr>
            <p:ph type="subTitle" idx="1"/>
          </p:nvPr>
        </p:nvSpPr>
        <p:spPr>
          <a:xfrm>
            <a:off x="2648867" y="2249453"/>
            <a:ext cx="36652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9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9"/>
          <p:cNvSpPr txBox="1">
            <a:spLocks noGrp="1"/>
          </p:cNvSpPr>
          <p:nvPr>
            <p:ph type="title" idx="3"/>
          </p:nvPr>
        </p:nvSpPr>
        <p:spPr>
          <a:xfrm>
            <a:off x="2648868" y="3213473"/>
            <a:ext cx="366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2" name="Google Shape;272;p29"/>
          <p:cNvSpPr txBox="1">
            <a:spLocks noGrp="1"/>
          </p:cNvSpPr>
          <p:nvPr>
            <p:ph type="subTitle" idx="4"/>
          </p:nvPr>
        </p:nvSpPr>
        <p:spPr>
          <a:xfrm>
            <a:off x="2648867" y="3690648"/>
            <a:ext cx="36652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9"/>
          <p:cNvSpPr txBox="1">
            <a:spLocks noGrp="1"/>
          </p:cNvSpPr>
          <p:nvPr>
            <p:ph type="title" idx="5"/>
          </p:nvPr>
        </p:nvSpPr>
        <p:spPr>
          <a:xfrm>
            <a:off x="2648869" y="4677727"/>
            <a:ext cx="366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4" name="Google Shape;274;p29"/>
          <p:cNvSpPr txBox="1">
            <a:spLocks noGrp="1"/>
          </p:cNvSpPr>
          <p:nvPr>
            <p:ph type="subTitle" idx="6"/>
          </p:nvPr>
        </p:nvSpPr>
        <p:spPr>
          <a:xfrm>
            <a:off x="2648867" y="5160685"/>
            <a:ext cx="36652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3282886">
            <a:off x="11478905" y="3648427"/>
            <a:ext cx="2365660" cy="5386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0396267" y="392157"/>
            <a:ext cx="3339133" cy="191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4500000">
            <a:off x="-2093915" y="2274201"/>
            <a:ext cx="4041712" cy="2897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3953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 preserve="1">
  <p:cSld name="Title and four columns 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>
            <a:spLocks noGrp="1"/>
          </p:cNvSpPr>
          <p:nvPr>
            <p:ph type="title"/>
          </p:nvPr>
        </p:nvSpPr>
        <p:spPr>
          <a:xfrm>
            <a:off x="1009433" y="1742528"/>
            <a:ext cx="28928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80" name="Google Shape;280;p30"/>
          <p:cNvSpPr txBox="1">
            <a:spLocks noGrp="1"/>
          </p:cNvSpPr>
          <p:nvPr>
            <p:ph type="subTitle" idx="1"/>
          </p:nvPr>
        </p:nvSpPr>
        <p:spPr>
          <a:xfrm>
            <a:off x="1009433" y="2274701"/>
            <a:ext cx="2892800" cy="11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30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30"/>
          <p:cNvSpPr txBox="1">
            <a:spLocks noGrp="1"/>
          </p:cNvSpPr>
          <p:nvPr>
            <p:ph type="title" idx="3"/>
          </p:nvPr>
        </p:nvSpPr>
        <p:spPr>
          <a:xfrm>
            <a:off x="1009433" y="4406352"/>
            <a:ext cx="28928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83" name="Google Shape;283;p30"/>
          <p:cNvSpPr txBox="1">
            <a:spLocks noGrp="1"/>
          </p:cNvSpPr>
          <p:nvPr>
            <p:ph type="subTitle" idx="4"/>
          </p:nvPr>
        </p:nvSpPr>
        <p:spPr>
          <a:xfrm>
            <a:off x="1009433" y="4938537"/>
            <a:ext cx="28928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title" idx="5"/>
          </p:nvPr>
        </p:nvSpPr>
        <p:spPr>
          <a:xfrm>
            <a:off x="8289700" y="1742528"/>
            <a:ext cx="28928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85" name="Google Shape;285;p30"/>
          <p:cNvSpPr txBox="1">
            <a:spLocks noGrp="1"/>
          </p:cNvSpPr>
          <p:nvPr>
            <p:ph type="subTitle" idx="6"/>
          </p:nvPr>
        </p:nvSpPr>
        <p:spPr>
          <a:xfrm>
            <a:off x="8289700" y="2274701"/>
            <a:ext cx="2892800" cy="11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0"/>
          <p:cNvSpPr txBox="1">
            <a:spLocks noGrp="1"/>
          </p:cNvSpPr>
          <p:nvPr>
            <p:ph type="title" idx="7"/>
          </p:nvPr>
        </p:nvSpPr>
        <p:spPr>
          <a:xfrm>
            <a:off x="8289700" y="4406352"/>
            <a:ext cx="28928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87" name="Google Shape;287;p30"/>
          <p:cNvSpPr txBox="1">
            <a:spLocks noGrp="1"/>
          </p:cNvSpPr>
          <p:nvPr>
            <p:ph type="subTitle" idx="8"/>
          </p:nvPr>
        </p:nvSpPr>
        <p:spPr>
          <a:xfrm>
            <a:off x="8289700" y="4938537"/>
            <a:ext cx="28928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88" name="Google Shape;288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 flipH="1">
            <a:off x="-436034" y="-132155"/>
            <a:ext cx="1572667" cy="2037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3">
            <a:off x="10864611" y="3411875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873762" flipH="1">
            <a:off x="-1016477" y="5521697"/>
            <a:ext cx="3079964" cy="1767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873762" flipH="1">
            <a:off x="10522257" y="-451903"/>
            <a:ext cx="3079964" cy="17672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10987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 preserve="1">
  <p:cSld name="Title and four columns 2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"/>
          <p:cNvSpPr txBox="1">
            <a:spLocks noGrp="1"/>
          </p:cNvSpPr>
          <p:nvPr>
            <p:ph type="title"/>
          </p:nvPr>
        </p:nvSpPr>
        <p:spPr>
          <a:xfrm>
            <a:off x="2165933" y="2172196"/>
            <a:ext cx="3592000" cy="5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94" name="Google Shape;294;p31"/>
          <p:cNvSpPr txBox="1">
            <a:spLocks noGrp="1"/>
          </p:cNvSpPr>
          <p:nvPr>
            <p:ph type="subTitle" idx="1"/>
          </p:nvPr>
        </p:nvSpPr>
        <p:spPr>
          <a:xfrm>
            <a:off x="2165933" y="2653549"/>
            <a:ext cx="35920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1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1"/>
          <p:cNvSpPr txBox="1">
            <a:spLocks noGrp="1"/>
          </p:cNvSpPr>
          <p:nvPr>
            <p:ph type="title" idx="3"/>
          </p:nvPr>
        </p:nvSpPr>
        <p:spPr>
          <a:xfrm>
            <a:off x="6433861" y="2172196"/>
            <a:ext cx="3592000" cy="5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ubTitle" idx="4"/>
          </p:nvPr>
        </p:nvSpPr>
        <p:spPr>
          <a:xfrm>
            <a:off x="6433852" y="2653549"/>
            <a:ext cx="35920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1"/>
          <p:cNvSpPr txBox="1">
            <a:spLocks noGrp="1"/>
          </p:cNvSpPr>
          <p:nvPr>
            <p:ph type="title" idx="5"/>
          </p:nvPr>
        </p:nvSpPr>
        <p:spPr>
          <a:xfrm>
            <a:off x="2165933" y="3997563"/>
            <a:ext cx="3592000" cy="5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99" name="Google Shape;299;p31"/>
          <p:cNvSpPr txBox="1">
            <a:spLocks noGrp="1"/>
          </p:cNvSpPr>
          <p:nvPr>
            <p:ph type="subTitle" idx="6"/>
          </p:nvPr>
        </p:nvSpPr>
        <p:spPr>
          <a:xfrm>
            <a:off x="2165933" y="4485844"/>
            <a:ext cx="35920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1"/>
          <p:cNvSpPr txBox="1">
            <a:spLocks noGrp="1"/>
          </p:cNvSpPr>
          <p:nvPr>
            <p:ph type="title" idx="7"/>
          </p:nvPr>
        </p:nvSpPr>
        <p:spPr>
          <a:xfrm>
            <a:off x="6433861" y="3997563"/>
            <a:ext cx="3592000" cy="5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8"/>
          </p:nvPr>
        </p:nvSpPr>
        <p:spPr>
          <a:xfrm>
            <a:off x="6433852" y="4485844"/>
            <a:ext cx="35920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302" name="Google Shape;30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7138799">
            <a:off x="10274627" y="-1551988"/>
            <a:ext cx="1932816" cy="4400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822033" y="51370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6896233" y="4978800"/>
            <a:ext cx="1754200" cy="4255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20422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 preserve="1">
  <p:cSld name="Title and five columns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"/>
          <p:cNvSpPr txBox="1">
            <a:spLocks noGrp="1"/>
          </p:cNvSpPr>
          <p:nvPr>
            <p:ph type="title"/>
          </p:nvPr>
        </p:nvSpPr>
        <p:spPr>
          <a:xfrm>
            <a:off x="1212667" y="2033763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7" name="Google Shape;307;p32"/>
          <p:cNvSpPr txBox="1">
            <a:spLocks noGrp="1"/>
          </p:cNvSpPr>
          <p:nvPr>
            <p:ph type="subTitle" idx="1"/>
          </p:nvPr>
        </p:nvSpPr>
        <p:spPr>
          <a:xfrm>
            <a:off x="1212667" y="2532893"/>
            <a:ext cx="2892800" cy="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32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2"/>
          <p:cNvSpPr txBox="1">
            <a:spLocks noGrp="1"/>
          </p:cNvSpPr>
          <p:nvPr>
            <p:ph type="title" idx="3"/>
          </p:nvPr>
        </p:nvSpPr>
        <p:spPr>
          <a:xfrm>
            <a:off x="4649600" y="2033767"/>
            <a:ext cx="2892800" cy="5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10" name="Google Shape;310;p32"/>
          <p:cNvSpPr txBox="1">
            <a:spLocks noGrp="1"/>
          </p:cNvSpPr>
          <p:nvPr>
            <p:ph type="subTitle" idx="4"/>
          </p:nvPr>
        </p:nvSpPr>
        <p:spPr>
          <a:xfrm>
            <a:off x="4649600" y="2527900"/>
            <a:ext cx="2892800" cy="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title" idx="5"/>
          </p:nvPr>
        </p:nvSpPr>
        <p:spPr>
          <a:xfrm>
            <a:off x="8086533" y="2033767"/>
            <a:ext cx="2892800" cy="5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6"/>
          </p:nvPr>
        </p:nvSpPr>
        <p:spPr>
          <a:xfrm>
            <a:off x="8086533" y="2527900"/>
            <a:ext cx="2892800" cy="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32"/>
          <p:cNvSpPr txBox="1">
            <a:spLocks noGrp="1"/>
          </p:cNvSpPr>
          <p:nvPr>
            <p:ph type="title" idx="7"/>
          </p:nvPr>
        </p:nvSpPr>
        <p:spPr>
          <a:xfrm>
            <a:off x="2931267" y="4031129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8"/>
          </p:nvPr>
        </p:nvSpPr>
        <p:spPr>
          <a:xfrm>
            <a:off x="2931267" y="4530260"/>
            <a:ext cx="2892800" cy="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title" idx="9"/>
          </p:nvPr>
        </p:nvSpPr>
        <p:spPr>
          <a:xfrm>
            <a:off x="6368200" y="4031129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subTitle" idx="13"/>
          </p:nvPr>
        </p:nvSpPr>
        <p:spPr>
          <a:xfrm>
            <a:off x="6368201" y="4530260"/>
            <a:ext cx="2892800" cy="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317" name="Google Shape;31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6199968">
            <a:off x="-312033" y="4949597"/>
            <a:ext cx="2478368" cy="2400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7811237">
            <a:off x="-1733472" y="4928502"/>
            <a:ext cx="5043111" cy="3615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6199968" flipH="1">
            <a:off x="10045115" y="4949597"/>
            <a:ext cx="2478368" cy="2400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7811237" flipH="1">
            <a:off x="8901813" y="4928502"/>
            <a:ext cx="5043111" cy="3615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10386000" y="-413333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8859426">
            <a:off x="-662683" y="-461481"/>
            <a:ext cx="3425472" cy="19655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21015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 preserve="1">
  <p:cSld name="Caption 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 txBox="1">
            <a:spLocks noGrp="1"/>
          </p:cNvSpPr>
          <p:nvPr>
            <p:ph type="title"/>
          </p:nvPr>
        </p:nvSpPr>
        <p:spPr>
          <a:xfrm>
            <a:off x="6645633" y="1024133"/>
            <a:ext cx="4595200" cy="15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10505536" flipH="1">
            <a:off x="8885310" y="2154343"/>
            <a:ext cx="3079964" cy="1767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231359" flipH="1">
            <a:off x="6390680" y="2672210"/>
            <a:ext cx="2206923" cy="2137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830222" flipH="1">
            <a:off x="7551465" y="1427997"/>
            <a:ext cx="2311667" cy="52632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1378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 preserve="1">
  <p:cSld name="Title and three columns 3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>
            <a:spLocks noGrp="1"/>
          </p:cNvSpPr>
          <p:nvPr>
            <p:ph type="title"/>
          </p:nvPr>
        </p:nvSpPr>
        <p:spPr>
          <a:xfrm>
            <a:off x="1212667" y="37645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30" name="Google Shape;330;p34"/>
          <p:cNvSpPr txBox="1">
            <a:spLocks noGrp="1"/>
          </p:cNvSpPr>
          <p:nvPr>
            <p:ph type="subTitle" idx="1"/>
          </p:nvPr>
        </p:nvSpPr>
        <p:spPr>
          <a:xfrm>
            <a:off x="1212667" y="4296667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4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4"/>
          <p:cNvSpPr txBox="1">
            <a:spLocks noGrp="1"/>
          </p:cNvSpPr>
          <p:nvPr>
            <p:ph type="title" idx="3"/>
          </p:nvPr>
        </p:nvSpPr>
        <p:spPr>
          <a:xfrm>
            <a:off x="4649600" y="37645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33" name="Google Shape;333;p34"/>
          <p:cNvSpPr txBox="1">
            <a:spLocks noGrp="1"/>
          </p:cNvSpPr>
          <p:nvPr>
            <p:ph type="subTitle" idx="4"/>
          </p:nvPr>
        </p:nvSpPr>
        <p:spPr>
          <a:xfrm>
            <a:off x="4649600" y="4296667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4"/>
          <p:cNvSpPr txBox="1">
            <a:spLocks noGrp="1"/>
          </p:cNvSpPr>
          <p:nvPr>
            <p:ph type="title" idx="5"/>
          </p:nvPr>
        </p:nvSpPr>
        <p:spPr>
          <a:xfrm>
            <a:off x="8086533" y="37645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35" name="Google Shape;335;p34"/>
          <p:cNvSpPr txBox="1">
            <a:spLocks noGrp="1"/>
          </p:cNvSpPr>
          <p:nvPr>
            <p:ph type="subTitle" idx="6"/>
          </p:nvPr>
        </p:nvSpPr>
        <p:spPr>
          <a:xfrm>
            <a:off x="8086533" y="4296667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336" name="Google Shape;336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4487367" y="599280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-1193327" y="4436434"/>
            <a:ext cx="2212033" cy="20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9355986" flipH="1">
            <a:off x="10514016" y="415267"/>
            <a:ext cx="1771712" cy="429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8">
            <a:off x="-2651507" y="-3313069"/>
            <a:ext cx="2669944" cy="6079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39964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 preserve="1">
  <p:cSld name="Big number 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883291">
            <a:off x="9265629" y="3601592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0118" y="1098623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46">
            <a:off x="10958534" y="4081033"/>
            <a:ext cx="2311668" cy="526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449383" y="4137977"/>
            <a:ext cx="2596567" cy="2514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7800871" y="-1087866"/>
            <a:ext cx="3903565" cy="30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597377">
            <a:off x="7156452" y="1906507"/>
            <a:ext cx="3182432" cy="5841843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5"/>
          <p:cNvSpPr txBox="1">
            <a:spLocks noGrp="1"/>
          </p:cNvSpPr>
          <p:nvPr>
            <p:ph type="title" hasCustomPrompt="1"/>
          </p:nvPr>
        </p:nvSpPr>
        <p:spPr>
          <a:xfrm>
            <a:off x="950967" y="2108267"/>
            <a:ext cx="5916000" cy="18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48" name="Google Shape;348;p35"/>
          <p:cNvSpPr txBox="1">
            <a:spLocks noGrp="1"/>
          </p:cNvSpPr>
          <p:nvPr>
            <p:ph type="body" idx="1"/>
          </p:nvPr>
        </p:nvSpPr>
        <p:spPr>
          <a:xfrm>
            <a:off x="950967" y="4096933"/>
            <a:ext cx="5916000" cy="6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pic>
        <p:nvPicPr>
          <p:cNvPr id="349" name="Google Shape;349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894983">
            <a:off x="7467201" y="-956500"/>
            <a:ext cx="2311668" cy="5263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06697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 preserve="1">
  <p:cSld name="Title and text 3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/>
          <p:cNvSpPr txBox="1">
            <a:spLocks noGrp="1"/>
          </p:cNvSpPr>
          <p:nvPr>
            <p:ph type="title"/>
          </p:nvPr>
        </p:nvSpPr>
        <p:spPr>
          <a:xfrm>
            <a:off x="3398400" y="2743084"/>
            <a:ext cx="5395200" cy="8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52" name="Google Shape;352;p36"/>
          <p:cNvSpPr txBox="1">
            <a:spLocks noGrp="1"/>
          </p:cNvSpPr>
          <p:nvPr>
            <p:ph type="body" idx="1"/>
          </p:nvPr>
        </p:nvSpPr>
        <p:spPr>
          <a:xfrm>
            <a:off x="3398400" y="3624125"/>
            <a:ext cx="5395200" cy="1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pic>
        <p:nvPicPr>
          <p:cNvPr id="353" name="Google Shape;353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9566817" y="4137977"/>
            <a:ext cx="2596567" cy="2514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9918304" y="-1087866"/>
            <a:ext cx="3903565" cy="30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597377">
            <a:off x="9273885" y="1906507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894983">
            <a:off x="9584634" y="-956500"/>
            <a:ext cx="2311668" cy="526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3883291">
            <a:off x="278229" y="3507459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1538017" y="4043844"/>
            <a:ext cx="2596567" cy="2514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1186529" y="-1181999"/>
            <a:ext cx="3903565" cy="30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597377">
            <a:off x="-1830948" y="1812373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894983">
            <a:off x="-1520199" y="-1050634"/>
            <a:ext cx="2311668" cy="5263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0452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 preserve="1">
  <p:cSld name="Title and six columns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>
            <a:spLocks noGrp="1"/>
          </p:cNvSpPr>
          <p:nvPr>
            <p:ph type="title"/>
          </p:nvPr>
        </p:nvSpPr>
        <p:spPr>
          <a:xfrm>
            <a:off x="1062433" y="2392633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64" name="Google Shape;364;p37"/>
          <p:cNvSpPr txBox="1">
            <a:spLocks noGrp="1"/>
          </p:cNvSpPr>
          <p:nvPr>
            <p:ph type="subTitle" idx="1"/>
          </p:nvPr>
        </p:nvSpPr>
        <p:spPr>
          <a:xfrm>
            <a:off x="1062433" y="2883979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37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37"/>
          <p:cNvSpPr txBox="1">
            <a:spLocks noGrp="1"/>
          </p:cNvSpPr>
          <p:nvPr>
            <p:ph type="title" idx="3"/>
          </p:nvPr>
        </p:nvSpPr>
        <p:spPr>
          <a:xfrm>
            <a:off x="4499367" y="2392633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67" name="Google Shape;367;p37"/>
          <p:cNvSpPr txBox="1">
            <a:spLocks noGrp="1"/>
          </p:cNvSpPr>
          <p:nvPr>
            <p:ph type="subTitle" idx="4"/>
          </p:nvPr>
        </p:nvSpPr>
        <p:spPr>
          <a:xfrm>
            <a:off x="4499367" y="2883979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37"/>
          <p:cNvSpPr txBox="1">
            <a:spLocks noGrp="1"/>
          </p:cNvSpPr>
          <p:nvPr>
            <p:ph type="title" idx="5"/>
          </p:nvPr>
        </p:nvSpPr>
        <p:spPr>
          <a:xfrm>
            <a:off x="1062433" y="4630121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69" name="Google Shape;369;p37"/>
          <p:cNvSpPr txBox="1">
            <a:spLocks noGrp="1"/>
          </p:cNvSpPr>
          <p:nvPr>
            <p:ph type="subTitle" idx="6"/>
          </p:nvPr>
        </p:nvSpPr>
        <p:spPr>
          <a:xfrm>
            <a:off x="1062433" y="5121467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37"/>
          <p:cNvSpPr txBox="1">
            <a:spLocks noGrp="1"/>
          </p:cNvSpPr>
          <p:nvPr>
            <p:ph type="title" idx="7"/>
          </p:nvPr>
        </p:nvSpPr>
        <p:spPr>
          <a:xfrm>
            <a:off x="4499367" y="4630121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71" name="Google Shape;371;p37"/>
          <p:cNvSpPr txBox="1">
            <a:spLocks noGrp="1"/>
          </p:cNvSpPr>
          <p:nvPr>
            <p:ph type="subTitle" idx="8"/>
          </p:nvPr>
        </p:nvSpPr>
        <p:spPr>
          <a:xfrm>
            <a:off x="4499367" y="5121467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37"/>
          <p:cNvSpPr txBox="1">
            <a:spLocks noGrp="1"/>
          </p:cNvSpPr>
          <p:nvPr>
            <p:ph type="title" idx="9"/>
          </p:nvPr>
        </p:nvSpPr>
        <p:spPr>
          <a:xfrm>
            <a:off x="7936200" y="2392633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73" name="Google Shape;373;p37"/>
          <p:cNvSpPr txBox="1">
            <a:spLocks noGrp="1"/>
          </p:cNvSpPr>
          <p:nvPr>
            <p:ph type="subTitle" idx="13"/>
          </p:nvPr>
        </p:nvSpPr>
        <p:spPr>
          <a:xfrm>
            <a:off x="7936200" y="2883979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37"/>
          <p:cNvSpPr txBox="1">
            <a:spLocks noGrp="1"/>
          </p:cNvSpPr>
          <p:nvPr>
            <p:ph type="title" idx="14"/>
          </p:nvPr>
        </p:nvSpPr>
        <p:spPr>
          <a:xfrm>
            <a:off x="7936200" y="4630121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75" name="Google Shape;375;p37"/>
          <p:cNvSpPr txBox="1">
            <a:spLocks noGrp="1"/>
          </p:cNvSpPr>
          <p:nvPr>
            <p:ph type="subTitle" idx="15"/>
          </p:nvPr>
        </p:nvSpPr>
        <p:spPr>
          <a:xfrm>
            <a:off x="7936200" y="5121467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376" name="Google Shape;37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10059469">
            <a:off x="-333875" y="255211"/>
            <a:ext cx="1761017" cy="4271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 flipH="1">
            <a:off x="-436034" y="-132155"/>
            <a:ext cx="1572667" cy="2037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">
            <a:off x="10637344" y="3411875"/>
            <a:ext cx="2395245" cy="54535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42105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 preserve="1">
  <p:cSld name="Title and text 4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 txBox="1">
            <a:spLocks noGrp="1"/>
          </p:cNvSpPr>
          <p:nvPr>
            <p:ph type="subTitle" idx="1"/>
          </p:nvPr>
        </p:nvSpPr>
        <p:spPr>
          <a:xfrm>
            <a:off x="3520067" y="3044900"/>
            <a:ext cx="5151600" cy="1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38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3883295" flipH="1">
            <a:off x="244190" y="4197230"/>
            <a:ext cx="3079965" cy="1767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111499" y="2401712"/>
            <a:ext cx="2206923" cy="2137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639246" flipH="1">
            <a:off x="-149767" y="-198100"/>
            <a:ext cx="2311668" cy="526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057767" flipH="1">
            <a:off x="9602701" y="2578502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03100" y="1623556"/>
            <a:ext cx="3182432" cy="5841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51564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 preserve="1">
  <p:cSld name="Title and text 5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9"/>
          <p:cNvSpPr txBox="1">
            <a:spLocks noGrp="1"/>
          </p:cNvSpPr>
          <p:nvPr>
            <p:ph type="subTitle" idx="1"/>
          </p:nvPr>
        </p:nvSpPr>
        <p:spPr>
          <a:xfrm>
            <a:off x="2305900" y="2313633"/>
            <a:ext cx="7580000" cy="38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89" name="Google Shape;389;p39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90" name="Google Shape;390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9160750">
            <a:off x="10044080" y="-835676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8859426">
            <a:off x="-1528583" y="2574986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1519" y="195986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2015815" y="4645167"/>
            <a:ext cx="5344467" cy="3831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134819">
            <a:off x="10894485" y="1542593"/>
            <a:ext cx="2565400" cy="622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13324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 preserve="1">
  <p:cSld name="Title and text 6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/>
          <p:cNvSpPr txBox="1">
            <a:spLocks noGrp="1"/>
          </p:cNvSpPr>
          <p:nvPr>
            <p:ph type="subTitle" idx="1"/>
          </p:nvPr>
        </p:nvSpPr>
        <p:spPr>
          <a:xfrm>
            <a:off x="1701000" y="3061867"/>
            <a:ext cx="3874800" cy="1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40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98" name="Google Shape;398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665182" flipH="1">
            <a:off x="10106612" y="1929332"/>
            <a:ext cx="1989713" cy="4826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58732">
            <a:off x="-1061639" y="503130"/>
            <a:ext cx="2669944" cy="607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9068" y="296823"/>
            <a:ext cx="3182432" cy="5841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07858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 preserve="1">
  <p:cSld name="Numbers and text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"/>
          <p:cNvSpPr txBox="1">
            <a:spLocks noGrp="1"/>
          </p:cNvSpPr>
          <p:nvPr>
            <p:ph type="title" hasCustomPrompt="1"/>
          </p:nvPr>
        </p:nvSpPr>
        <p:spPr>
          <a:xfrm>
            <a:off x="3359751" y="973333"/>
            <a:ext cx="59260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403" name="Google Shape;403;p41"/>
          <p:cNvSpPr txBox="1">
            <a:spLocks noGrp="1"/>
          </p:cNvSpPr>
          <p:nvPr>
            <p:ph type="subTitle" idx="1"/>
          </p:nvPr>
        </p:nvSpPr>
        <p:spPr>
          <a:xfrm>
            <a:off x="3359751" y="1722133"/>
            <a:ext cx="5926000" cy="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2424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41"/>
          <p:cNvSpPr txBox="1">
            <a:spLocks noGrp="1"/>
          </p:cNvSpPr>
          <p:nvPr>
            <p:ph type="title" idx="2" hasCustomPrompt="1"/>
          </p:nvPr>
        </p:nvSpPr>
        <p:spPr>
          <a:xfrm>
            <a:off x="3359751" y="2749400"/>
            <a:ext cx="59260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>
            <a:spLocks noGrp="1"/>
          </p:cNvSpPr>
          <p:nvPr>
            <p:ph type="subTitle" idx="3"/>
          </p:nvPr>
        </p:nvSpPr>
        <p:spPr>
          <a:xfrm>
            <a:off x="3359751" y="3498200"/>
            <a:ext cx="5926000" cy="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2424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41"/>
          <p:cNvSpPr txBox="1">
            <a:spLocks noGrp="1"/>
          </p:cNvSpPr>
          <p:nvPr>
            <p:ph type="title" idx="4" hasCustomPrompt="1"/>
          </p:nvPr>
        </p:nvSpPr>
        <p:spPr>
          <a:xfrm>
            <a:off x="3359751" y="4525467"/>
            <a:ext cx="59260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407" name="Google Shape;407;p41"/>
          <p:cNvSpPr txBox="1">
            <a:spLocks noGrp="1"/>
          </p:cNvSpPr>
          <p:nvPr>
            <p:ph type="subTitle" idx="5"/>
          </p:nvPr>
        </p:nvSpPr>
        <p:spPr>
          <a:xfrm>
            <a:off x="3133151" y="5274267"/>
            <a:ext cx="6379200" cy="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2424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408" name="Google Shape;40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2700007" flipH="1">
            <a:off x="33398" y="110098"/>
            <a:ext cx="2096005" cy="5084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4778591">
            <a:off x="-1449667" y="1301267"/>
            <a:ext cx="4112400" cy="2948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9293149" y="4445918"/>
            <a:ext cx="3163905" cy="24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9736334" y="350430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8">
            <a:off x="9787127" y="389498"/>
            <a:ext cx="2669944" cy="6079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76066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 preserve="1">
  <p:cSld name="Numbers and text 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2"/>
          <p:cNvSpPr txBox="1">
            <a:spLocks noGrp="1"/>
          </p:cNvSpPr>
          <p:nvPr>
            <p:ph type="title"/>
          </p:nvPr>
        </p:nvSpPr>
        <p:spPr>
          <a:xfrm>
            <a:off x="2780900" y="1957931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15" name="Google Shape;415;p42"/>
          <p:cNvSpPr txBox="1">
            <a:spLocks noGrp="1"/>
          </p:cNvSpPr>
          <p:nvPr>
            <p:ph type="subTitle" idx="1"/>
          </p:nvPr>
        </p:nvSpPr>
        <p:spPr>
          <a:xfrm>
            <a:off x="2780900" y="2449276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42"/>
          <p:cNvSpPr txBox="1">
            <a:spLocks noGrp="1"/>
          </p:cNvSpPr>
          <p:nvPr>
            <p:ph type="title" idx="2"/>
          </p:nvPr>
        </p:nvSpPr>
        <p:spPr>
          <a:xfrm>
            <a:off x="6217833" y="1957931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17" name="Google Shape;417;p42"/>
          <p:cNvSpPr txBox="1">
            <a:spLocks noGrp="1"/>
          </p:cNvSpPr>
          <p:nvPr>
            <p:ph type="subTitle" idx="3"/>
          </p:nvPr>
        </p:nvSpPr>
        <p:spPr>
          <a:xfrm>
            <a:off x="6217833" y="2449276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42"/>
          <p:cNvSpPr txBox="1">
            <a:spLocks noGrp="1"/>
          </p:cNvSpPr>
          <p:nvPr>
            <p:ph type="title" idx="4"/>
          </p:nvPr>
        </p:nvSpPr>
        <p:spPr>
          <a:xfrm>
            <a:off x="2780900" y="4297019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19" name="Google Shape;419;p42"/>
          <p:cNvSpPr txBox="1">
            <a:spLocks noGrp="1"/>
          </p:cNvSpPr>
          <p:nvPr>
            <p:ph type="subTitle" idx="5"/>
          </p:nvPr>
        </p:nvSpPr>
        <p:spPr>
          <a:xfrm>
            <a:off x="2780900" y="4788364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20" name="Google Shape;420;p42"/>
          <p:cNvSpPr txBox="1">
            <a:spLocks noGrp="1"/>
          </p:cNvSpPr>
          <p:nvPr>
            <p:ph type="title" idx="6"/>
          </p:nvPr>
        </p:nvSpPr>
        <p:spPr>
          <a:xfrm>
            <a:off x="6217884" y="4314847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1" name="Google Shape;421;p42"/>
          <p:cNvSpPr txBox="1">
            <a:spLocks noGrp="1"/>
          </p:cNvSpPr>
          <p:nvPr>
            <p:ph type="subTitle" idx="7"/>
          </p:nvPr>
        </p:nvSpPr>
        <p:spPr>
          <a:xfrm>
            <a:off x="6217883" y="4806192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422" name="Google Shape;422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10059469">
            <a:off x="-333875" y="255211"/>
            <a:ext cx="1761017" cy="4271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 flipH="1">
            <a:off x="-436034" y="-132155"/>
            <a:ext cx="1572667" cy="2037513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2"/>
          <p:cNvSpPr txBox="1">
            <a:spLocks noGrp="1"/>
          </p:cNvSpPr>
          <p:nvPr>
            <p:ph type="title" idx="8" hasCustomPrompt="1"/>
          </p:nvPr>
        </p:nvSpPr>
        <p:spPr>
          <a:xfrm>
            <a:off x="2780900" y="1208615"/>
            <a:ext cx="31932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425" name="Google Shape;425;p42"/>
          <p:cNvSpPr txBox="1">
            <a:spLocks noGrp="1"/>
          </p:cNvSpPr>
          <p:nvPr>
            <p:ph type="title" idx="9" hasCustomPrompt="1"/>
          </p:nvPr>
        </p:nvSpPr>
        <p:spPr>
          <a:xfrm>
            <a:off x="2780900" y="3564448"/>
            <a:ext cx="31932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426" name="Google Shape;426;p42"/>
          <p:cNvSpPr txBox="1">
            <a:spLocks noGrp="1"/>
          </p:cNvSpPr>
          <p:nvPr>
            <p:ph type="title" idx="13" hasCustomPrompt="1"/>
          </p:nvPr>
        </p:nvSpPr>
        <p:spPr>
          <a:xfrm>
            <a:off x="6217900" y="1208608"/>
            <a:ext cx="31932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427" name="Google Shape;427;p42"/>
          <p:cNvSpPr txBox="1">
            <a:spLocks noGrp="1"/>
          </p:cNvSpPr>
          <p:nvPr>
            <p:ph type="title" idx="14" hasCustomPrompt="1"/>
          </p:nvPr>
        </p:nvSpPr>
        <p:spPr>
          <a:xfrm>
            <a:off x="6217784" y="3566075"/>
            <a:ext cx="31932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pic>
        <p:nvPicPr>
          <p:cNvPr id="428" name="Google Shape;428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740531">
            <a:off x="10765925" y="2370129"/>
            <a:ext cx="1761017" cy="4271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 flipH="1">
            <a:off x="11056433" y="4991694"/>
            <a:ext cx="1572667" cy="20375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82391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 preserve="1">
  <p:cSld name="Title and text 7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3"/>
          <p:cNvSpPr txBox="1">
            <a:spLocks noGrp="1"/>
          </p:cNvSpPr>
          <p:nvPr>
            <p:ph type="title"/>
          </p:nvPr>
        </p:nvSpPr>
        <p:spPr>
          <a:xfrm>
            <a:off x="1183800" y="2031879"/>
            <a:ext cx="5395200" cy="8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32" name="Google Shape;432;p43"/>
          <p:cNvSpPr txBox="1">
            <a:spLocks noGrp="1"/>
          </p:cNvSpPr>
          <p:nvPr>
            <p:ph type="body" idx="1"/>
          </p:nvPr>
        </p:nvSpPr>
        <p:spPr>
          <a:xfrm>
            <a:off x="1183800" y="2912921"/>
            <a:ext cx="5395200" cy="1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pic>
        <p:nvPicPr>
          <p:cNvPr id="433" name="Google Shape;433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3883291" flipH="1">
            <a:off x="141399" y="-968775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399034" y="5314251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9659785" y="-224343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9483000" y="-1175144"/>
            <a:ext cx="3182432" cy="5841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29558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5" preserve="1">
  <p:cSld name="Title and two columns 5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4"/>
          <p:cNvSpPr txBox="1">
            <a:spLocks noGrp="1"/>
          </p:cNvSpPr>
          <p:nvPr>
            <p:ph type="title"/>
          </p:nvPr>
        </p:nvSpPr>
        <p:spPr>
          <a:xfrm>
            <a:off x="2524733" y="41709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39" name="Google Shape;439;p44"/>
          <p:cNvSpPr txBox="1">
            <a:spLocks noGrp="1"/>
          </p:cNvSpPr>
          <p:nvPr>
            <p:ph type="subTitle" idx="1"/>
          </p:nvPr>
        </p:nvSpPr>
        <p:spPr>
          <a:xfrm>
            <a:off x="2524733" y="4662245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44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44"/>
          <p:cNvSpPr txBox="1">
            <a:spLocks noGrp="1"/>
          </p:cNvSpPr>
          <p:nvPr>
            <p:ph type="title" idx="3"/>
          </p:nvPr>
        </p:nvSpPr>
        <p:spPr>
          <a:xfrm>
            <a:off x="6774467" y="41709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42" name="Google Shape;442;p44"/>
          <p:cNvSpPr txBox="1">
            <a:spLocks noGrp="1"/>
          </p:cNvSpPr>
          <p:nvPr>
            <p:ph type="subTitle" idx="4"/>
          </p:nvPr>
        </p:nvSpPr>
        <p:spPr>
          <a:xfrm>
            <a:off x="6774467" y="4662245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443" name="Google Shape;443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9355986">
            <a:off x="11246577" y="3066567"/>
            <a:ext cx="1771712" cy="429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7580934">
            <a:off x="10431400" y="2516267"/>
            <a:ext cx="3780200" cy="2710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8859426">
            <a:off x="-2055083" y="3010152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877415" y="1935027"/>
            <a:ext cx="1857733" cy="1799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55596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 preserve="1">
  <p:cSld name="Title and text 8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883291">
            <a:off x="9332663" y="-968775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6001" y="5314251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5251" y="-224343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01" y="-1175144"/>
            <a:ext cx="3182432" cy="5841843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5"/>
          <p:cNvSpPr txBox="1">
            <a:spLocks noGrp="1"/>
          </p:cNvSpPr>
          <p:nvPr>
            <p:ph type="title"/>
          </p:nvPr>
        </p:nvSpPr>
        <p:spPr>
          <a:xfrm>
            <a:off x="6580371" y="1931333"/>
            <a:ext cx="4413600" cy="8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53" name="Google Shape;453;p45"/>
          <p:cNvSpPr txBox="1">
            <a:spLocks noGrp="1"/>
          </p:cNvSpPr>
          <p:nvPr>
            <p:ph type="body" idx="1"/>
          </p:nvPr>
        </p:nvSpPr>
        <p:spPr>
          <a:xfrm>
            <a:off x="6580371" y="2812371"/>
            <a:ext cx="4413600" cy="1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38378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 preserve="1">
  <p:cSld name="Title and text 9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6"/>
          <p:cNvSpPr txBox="1">
            <a:spLocks noGrp="1"/>
          </p:cNvSpPr>
          <p:nvPr>
            <p:ph type="title"/>
          </p:nvPr>
        </p:nvSpPr>
        <p:spPr>
          <a:xfrm>
            <a:off x="1219903" y="1931333"/>
            <a:ext cx="4413600" cy="8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56" name="Google Shape;456;p46"/>
          <p:cNvSpPr txBox="1">
            <a:spLocks noGrp="1"/>
          </p:cNvSpPr>
          <p:nvPr>
            <p:ph type="body" idx="1"/>
          </p:nvPr>
        </p:nvSpPr>
        <p:spPr>
          <a:xfrm>
            <a:off x="1219903" y="2812371"/>
            <a:ext cx="4413600" cy="1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pic>
        <p:nvPicPr>
          <p:cNvPr id="457" name="Google Shape;457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678227">
            <a:off x="-843101" y="5155894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18034" y="-734599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9659785" y="-224343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9483000" y="-1175144"/>
            <a:ext cx="3182432" cy="5841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30974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 preserve="1">
  <p:cSld name="Thanks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7"/>
          <p:cNvSpPr txBox="1">
            <a:spLocks noGrp="1"/>
          </p:cNvSpPr>
          <p:nvPr>
            <p:ph type="ctrTitle"/>
          </p:nvPr>
        </p:nvSpPr>
        <p:spPr>
          <a:xfrm>
            <a:off x="3644433" y="719333"/>
            <a:ext cx="4903200" cy="13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463" name="Google Shape;463;p47"/>
          <p:cNvSpPr txBox="1">
            <a:spLocks noGrp="1"/>
          </p:cNvSpPr>
          <p:nvPr>
            <p:ph type="subTitle" idx="1"/>
          </p:nvPr>
        </p:nvSpPr>
        <p:spPr>
          <a:xfrm>
            <a:off x="3644500" y="2041800"/>
            <a:ext cx="4903200" cy="1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464" name="Google Shape;464;p47"/>
          <p:cNvSpPr txBox="1"/>
          <p:nvPr/>
        </p:nvSpPr>
        <p:spPr>
          <a:xfrm>
            <a:off x="3644233" y="4360933"/>
            <a:ext cx="4903600" cy="10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including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465" name="Google Shape;465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-787687" y="1721489"/>
            <a:ext cx="3715384" cy="288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519591" y="257762"/>
            <a:ext cx="2744388" cy="265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>
            <a:off x="-1318767" y="4122466"/>
            <a:ext cx="5377737" cy="3855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3546973">
            <a:off x="10120238" y="2638516"/>
            <a:ext cx="2232892" cy="5083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665179">
            <a:off x="9065566" y="-1055368"/>
            <a:ext cx="2359313" cy="57230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9396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 preserve="1">
  <p:cSld name="Background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1746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 preserve="1">
  <p:cSld name="Background 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9305281">
            <a:off x="9274967" y="-48033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399999">
            <a:off x="8229833" y="877935"/>
            <a:ext cx="5081267" cy="3643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0">
            <a:off x="207571" y="1368227"/>
            <a:ext cx="2365659" cy="53862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98102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 preserve="1">
  <p:cSld name="Background 2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9571467" y="214357"/>
            <a:ext cx="3339133" cy="191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956358">
            <a:off x="7412319" y="-2235044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76567" y="2807999"/>
            <a:ext cx="3715384" cy="288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159714" y="4496447"/>
            <a:ext cx="2744388" cy="265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8860801" y="4930734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 flipH="1">
            <a:off x="9627667" y="4791667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358732">
            <a:off x="-532239" y="-873070"/>
            <a:ext cx="2669944" cy="60790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12398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7D69-0035-7644-9970-05AE6407B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59ED5-964D-8C20-169A-D578FEFE9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E26F9-91BB-4311-9CC2-F2BD7675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CE92C-D540-60AD-38C7-7D34341B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565B8-1AB3-9010-E1A6-0841828D0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840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3A206-52F1-E9C2-A307-6A3E306D9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64B25-517A-A1B7-7B6C-64C25D91F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B8D45-80BF-80CA-9331-3626EECB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AAFC4-AB7B-6586-0D98-070AC54A9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EA847-8F63-AB17-3F7B-D1A144CD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381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C227-6DC1-3FDE-763D-4C31FF775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920A2-84C5-258C-DE11-C1FD7258E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F1A33-D768-C946-C4C3-37021322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9BC68-F1DA-B9FD-C472-0BEADFD6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E8ECB-3EE6-8573-CC89-64498C68F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796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179C-DDC3-9B36-9FC6-86128C7CE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A0E02-1A36-6382-FACB-189F04739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8AE6B-D423-C56D-AB5F-651FB040C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B6BD7-4099-8287-11AD-5BBCEFB29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0EF7B-27D0-583A-B771-E65F536D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6EB18-A4B4-1512-D284-7E4C26FE4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846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43F8-AB96-777E-CDE5-D92BD9CC4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F4114-93D4-C01D-3202-90FCB0B8E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5B7AA-D457-B60D-E611-4DDBA2205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74AE2-6902-9F3A-6DCF-E8480D1FB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D2D25-07F2-0B9E-26C6-68DD9A9B7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A2869-9E44-8AB9-8CF0-442F69C4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9F6D6-B4E8-9F3C-CF70-C23325E7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1F3DCC-ACD3-F002-0CE1-BF9EC79C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0183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D07B3-8D8D-5E67-D2AC-8AA94960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CD665-5782-5799-B1A6-B50492DC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2EC05-D6CF-451F-7A27-D1C2BA12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FB0F8-F190-FD5C-8C67-4300FACF2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202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5A9EA7-103A-397A-EF04-275CFDC9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8FE71-B234-AD47-B8F7-453ECD8E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2D25F-72CC-0C2F-3449-F6FAC563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721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03E25-FCDA-7C32-29E3-EB2B54AE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5F941-B968-280A-3643-E4C44F40D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C7EA8-A516-91D4-C1F9-4AB141BB0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E462E-AB2C-374C-F15A-9CBEB2D5F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25642-CA2B-C534-9044-67E17368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10AD5-A2D5-15B5-4150-981311FAD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380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0883B-42CD-E563-3D23-196F22C9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068117-450C-6920-91E7-AB1498251A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49F9E-7D0D-C646-A672-393A1FF4B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665DA-003C-24C3-422B-B14244C60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E50F5-8F9D-AA58-CD32-EFDB292FA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60442-5496-F951-425C-64A98C9A0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78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7F9FF-2DDA-4F08-95AC-BCD841079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DBC4B-99DC-A796-2F4B-349B83068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B59AC-BF7F-3530-E9E5-208E4346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8A318-1E82-B89A-554E-2BF2C4BF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24E5A-98A6-7990-30E7-5CDE8A1F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384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E05D7C-F673-A000-13E1-0BAEB8C44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5B82B-690E-E5B4-07CA-232038828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900E0-D0AD-BC5D-EF3F-7A122973C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C6496-A9C4-6578-F393-F172F57F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6A496-1C2D-C24C-0192-F094ED865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9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4DF97-F269-537B-FC10-447A67076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4C98F-FD96-FDF3-713F-6ADC6BE49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E527B-77B3-A59E-F97D-8820D5343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8C1856-6F1E-4A01-9511-938361D535B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DD301-18F7-B28F-CEDD-22611C4DF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2CFA9-7721-09BC-4DF3-613C62857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8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649" r:id="rId50"/>
    <p:sldLayoutId id="2147483650" r:id="rId51"/>
    <p:sldLayoutId id="2147483651" r:id="rId52"/>
    <p:sldLayoutId id="2147483652" r:id="rId53"/>
    <p:sldLayoutId id="2147483653" r:id="rId54"/>
    <p:sldLayoutId id="2147483654" r:id="rId55"/>
    <p:sldLayoutId id="2147483655" r:id="rId56"/>
    <p:sldLayoutId id="2147483656" r:id="rId57"/>
    <p:sldLayoutId id="2147483657" r:id="rId58"/>
    <p:sldLayoutId id="2147483658" r:id="rId59"/>
    <p:sldLayoutId id="2147483659" r:id="rId6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2196/16308" TargetMode="External"/><Relationship Id="rId3" Type="http://schemas.openxmlformats.org/officeDocument/2006/relationships/hyperlink" Target="https://doi.org/10.1007/s10844-018-0540-6" TargetMode="External"/><Relationship Id="rId7" Type="http://schemas.openxmlformats.org/officeDocument/2006/relationships/hyperlink" Target="https://doi.org/10.1186/s12911-025-02945-5" TargetMode="External"/><Relationship Id="rId2" Type="http://schemas.openxmlformats.org/officeDocument/2006/relationships/hyperlink" Target="https://doi.org/10.48550/arXiv.1702.02896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oi.org/10.1177/0272989X18792737" TargetMode="External"/><Relationship Id="rId5" Type="http://schemas.openxmlformats.org/officeDocument/2006/relationships/hyperlink" Target="https://doi.org/10.17615/8p58-pf19" TargetMode="External"/><Relationship Id="rId4" Type="http://schemas.openxmlformats.org/officeDocument/2006/relationships/hyperlink" Target="https://doi.org/10.1007/s40273-016-0467-z" TargetMode="External"/><Relationship Id="rId9" Type="http://schemas.openxmlformats.org/officeDocument/2006/relationships/hyperlink" Target="https://doi.org/10.1177/0272989X211037921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C5E61-889A-8CC0-28CE-4CB0E0F5C3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sz="4000" b="1" i="1">
                <a:solidFill>
                  <a:schemeClr val="accent1">
                    <a:lumMod val="50000"/>
                  </a:schemeClr>
                </a:solidFill>
                <a:latin typeface="Georgia Pro"/>
                <a:ea typeface="+mj-lt"/>
                <a:cs typeface="+mj-lt"/>
              </a:rPr>
              <a:t>From Algorithm to the Clinic: </a:t>
            </a:r>
            <a:br>
              <a:rPr lang="en-US" sz="4000" b="1" i="1">
                <a:latin typeface="Georgia Pro"/>
                <a:ea typeface="+mj-lt"/>
                <a:cs typeface="+mj-lt"/>
              </a:rPr>
            </a:b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Georgia Pro"/>
                <a:ea typeface="+mj-lt"/>
                <a:cs typeface="+mj-lt"/>
              </a:rPr>
              <a:t>A Preference-Aware CDS for Shared Decision Making</a:t>
            </a:r>
            <a:endParaRPr lang="en-US" sz="6900" b="1">
              <a:solidFill>
                <a:schemeClr val="accent1">
                  <a:lumMod val="50000"/>
                </a:schemeClr>
              </a:solidFill>
              <a:latin typeface="Georgia Pro"/>
              <a:ea typeface="+mj-lt"/>
              <a:cs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EF643-356C-925E-2F53-06C8AEC39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3400" y="4165300"/>
            <a:ext cx="8085200" cy="740075"/>
          </a:xfrm>
        </p:spPr>
        <p:txBody>
          <a:bodyPr anchor="ctr">
            <a:normAutofit/>
          </a:bodyPr>
          <a:lstStyle/>
          <a:p>
            <a:r>
              <a:rPr lang="en-US" sz="2400">
                <a:latin typeface="Georgia Pro" panose="02040502050405020303" pitchFamily="18" charset="0"/>
              </a:rPr>
              <a:t>Team HAC</a:t>
            </a:r>
          </a:p>
        </p:txBody>
      </p:sp>
    </p:spTree>
    <p:extLst>
      <p:ext uri="{BB962C8B-B14F-4D97-AF65-F5344CB8AC3E}">
        <p14:creationId xmlns:p14="http://schemas.microsoft.com/office/powerpoint/2010/main" val="1988476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4F615-B608-A154-A430-3E57EA45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75" y="272071"/>
            <a:ext cx="10290000" cy="763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Roadmap </a:t>
            </a:r>
            <a:r>
              <a:rPr lang="en-US" sz="3000" b="1" i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(1/1)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309CA33D-37D7-B0B6-E5E8-C5034689F2B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74758014"/>
              </p:ext>
            </p:extLst>
          </p:nvPr>
        </p:nvGraphicFramePr>
        <p:xfrm>
          <a:off x="2070650" y="1182757"/>
          <a:ext cx="8365436" cy="5403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736BE5C-EE8F-8AD8-C99F-13D4E87E7E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714899"/>
              </p:ext>
            </p:extLst>
          </p:nvPr>
        </p:nvGraphicFramePr>
        <p:xfrm>
          <a:off x="2286550" y="1182757"/>
          <a:ext cx="8365436" cy="5403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60818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D53A9A-5C5B-E387-8808-3896A0DF7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000" y="530489"/>
            <a:ext cx="10290000" cy="763600"/>
          </a:xfrm>
        </p:spPr>
        <p:txBody>
          <a:bodyPr/>
          <a:lstStyle/>
          <a:p>
            <a:pPr algn="ctr"/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We would like to thank the authors of the papers referenced in this study.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F640A8-C492-B81A-65F7-B2C13DD13017}"/>
              </a:ext>
            </a:extLst>
          </p:cNvPr>
          <p:cNvSpPr txBox="1">
            <a:spLocks/>
          </p:cNvSpPr>
          <p:nvPr/>
        </p:nvSpPr>
        <p:spPr>
          <a:xfrm>
            <a:off x="1325217" y="1795806"/>
            <a:ext cx="10290000" cy="52609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lvl="0" indent="-22860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400">
              <a:latin typeface="Georgia Pro" panose="02040502050405020303" pitchFamily="18" charset="0"/>
            </a:endParaRPr>
          </a:p>
          <a:p>
            <a:pPr algn="l"/>
            <a:endParaRPr lang="en-US" sz="1400">
              <a:latin typeface="Georgia Pro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9376F4-1DF9-9D89-E650-B0CA3604F03F}"/>
              </a:ext>
            </a:extLst>
          </p:cNvPr>
          <p:cNvSpPr txBox="1"/>
          <p:nvPr/>
        </p:nvSpPr>
        <p:spPr>
          <a:xfrm>
            <a:off x="978294" y="1795806"/>
            <a:ext cx="106369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Athey, S., &amp; Wager, S. (2021). </a:t>
            </a:r>
            <a:r>
              <a:rPr lang="en-US" sz="1200" i="1" dirty="0">
                <a:latin typeface="Georgia Pro" panose="02040502050405020303" pitchFamily="18" charset="0"/>
              </a:rPr>
              <a:t>Efficient policy learning</a:t>
            </a:r>
            <a:r>
              <a:rPr lang="en-US" sz="1200" dirty="0">
                <a:latin typeface="Georgia Pro" panose="02040502050405020303" pitchFamily="18" charset="0"/>
              </a:rPr>
              <a:t>. </a:t>
            </a:r>
            <a:r>
              <a:rPr lang="en-US" sz="1200" i="1" dirty="0" err="1">
                <a:latin typeface="Georgia Pro" panose="02040502050405020303" pitchFamily="18" charset="0"/>
              </a:rPr>
              <a:t>arXiv</a:t>
            </a:r>
            <a:r>
              <a:rPr lang="en-US" sz="1200" dirty="0">
                <a:latin typeface="Georgia Pro" panose="02040502050405020303" pitchFamily="18" charset="0"/>
              </a:rPr>
              <a:t>. </a:t>
            </a:r>
            <a:r>
              <a:rPr lang="en-US" sz="1200" dirty="0">
                <a:latin typeface="Georgia Pro" panose="02040502050405020303" pitchFamily="18" charset="0"/>
                <a:hlinkClick r:id="rId2"/>
              </a:rPr>
              <a:t>https://doi.org/10.48550/arXiv.1702.02896</a:t>
            </a:r>
            <a:endParaRPr lang="en-US" sz="1200" dirty="0">
              <a:latin typeface="Georgia Pro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Bach, K., </a:t>
            </a:r>
            <a:r>
              <a:rPr lang="en-US" sz="1200" b="1" i="1" dirty="0">
                <a:solidFill>
                  <a:srgbClr val="FF0000"/>
                </a:solidFill>
                <a:latin typeface="Georgia Pro" panose="02040502050405020303" pitchFamily="18" charset="0"/>
              </a:rPr>
              <a:t>et al.</a:t>
            </a: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 (2019). </a:t>
            </a:r>
            <a:r>
              <a:rPr lang="en-US" sz="1200" dirty="0">
                <a:latin typeface="Georgia Pro" panose="02040502050405020303" pitchFamily="18" charset="0"/>
              </a:rPr>
              <a:t>Design of a clinician dashboard to facilitate co-decision making in the management of non-specific low back pain. </a:t>
            </a:r>
            <a:r>
              <a:rPr lang="en-US" sz="1200" i="1" dirty="0">
                <a:latin typeface="Georgia Pro" panose="02040502050405020303" pitchFamily="18" charset="0"/>
              </a:rPr>
              <a:t>Journal of Intelligent Information Systems, 53</a:t>
            </a:r>
            <a:r>
              <a:rPr lang="en-US" sz="1200" dirty="0">
                <a:latin typeface="Georgia Pro" panose="02040502050405020303" pitchFamily="18" charset="0"/>
              </a:rPr>
              <a:t>(1), 167–189.</a:t>
            </a:r>
            <a:br>
              <a:rPr lang="en-US" sz="1200" dirty="0">
                <a:latin typeface="Georgia Pro" panose="02040502050405020303" pitchFamily="18" charset="0"/>
              </a:rPr>
            </a:br>
            <a:r>
              <a:rPr lang="en-US" sz="1200" dirty="0">
                <a:latin typeface="Georgia Pro" panose="02040502050405020303" pitchFamily="18" charset="0"/>
                <a:hlinkClick r:id="rId3"/>
              </a:rPr>
              <a:t>https://doi.org/10.1007/s10844-018-0540-6</a:t>
            </a:r>
            <a:r>
              <a:rPr lang="en-US" sz="1200" dirty="0">
                <a:latin typeface="Georgia Pro" panose="02040502050405020303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Broekhuizen, H., </a:t>
            </a:r>
            <a:r>
              <a:rPr lang="en-US" sz="1200" b="1" dirty="0" err="1">
                <a:solidFill>
                  <a:srgbClr val="FF0000"/>
                </a:solidFill>
                <a:latin typeface="Georgia Pro" panose="02040502050405020303" pitchFamily="18" charset="0"/>
              </a:rPr>
              <a:t>IJzerman</a:t>
            </a: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, M. J., Hauber, A. B., &amp; Groothuis-</a:t>
            </a:r>
            <a:r>
              <a:rPr lang="en-US" sz="1200" b="1" dirty="0" err="1">
                <a:solidFill>
                  <a:srgbClr val="FF0000"/>
                </a:solidFill>
                <a:latin typeface="Georgia Pro" panose="02040502050405020303" pitchFamily="18" charset="0"/>
              </a:rPr>
              <a:t>Oudshoorn</a:t>
            </a: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, C. G. M. (2017). </a:t>
            </a:r>
            <a:r>
              <a:rPr lang="en-US" sz="1200" dirty="0">
                <a:latin typeface="Georgia Pro" panose="02040502050405020303" pitchFamily="18" charset="0"/>
              </a:rPr>
              <a:t>Weighing clinical evidence using patient preferences: An application of probabilistic multi-criteria decision analysis. </a:t>
            </a:r>
            <a:r>
              <a:rPr lang="en-US" sz="1200" i="1" dirty="0" err="1">
                <a:latin typeface="Georgia Pro" panose="02040502050405020303" pitchFamily="18" charset="0"/>
              </a:rPr>
              <a:t>PharmacoEconomics</a:t>
            </a:r>
            <a:r>
              <a:rPr lang="en-US" sz="1200" i="1" dirty="0">
                <a:latin typeface="Georgia Pro" panose="02040502050405020303" pitchFamily="18" charset="0"/>
              </a:rPr>
              <a:t>, 35</a:t>
            </a:r>
            <a:r>
              <a:rPr lang="en-US" sz="1200" dirty="0">
                <a:latin typeface="Georgia Pro" panose="02040502050405020303" pitchFamily="18" charset="0"/>
              </a:rPr>
              <a:t>(2), 259–269. </a:t>
            </a:r>
            <a:r>
              <a:rPr lang="en-US" sz="1200" dirty="0">
                <a:latin typeface="Georgia Pro" panose="02040502050405020303" pitchFamily="18" charset="0"/>
                <a:hlinkClick r:id="rId4"/>
              </a:rPr>
              <a:t>https://doi.org/10.1007/s40273-016-0467-z</a:t>
            </a:r>
            <a:endParaRPr lang="en-US" sz="1200" dirty="0">
              <a:latin typeface="Georgia Pro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Butler, J. L. (2016). </a:t>
            </a:r>
            <a:r>
              <a:rPr lang="en-US" sz="1200" i="1" dirty="0">
                <a:latin typeface="Georgia Pro" panose="02040502050405020303" pitchFamily="18" charset="0"/>
              </a:rPr>
              <a:t>Using patient preferences to estimate optimal treatment strategies for competing outcomes</a:t>
            </a:r>
            <a:r>
              <a:rPr lang="en-US" sz="1200" dirty="0">
                <a:latin typeface="Georgia Pro" panose="02040502050405020303" pitchFamily="18" charset="0"/>
              </a:rPr>
              <a:t> (Doctoral dissertation, University of North Carolina at Chapel Hill). Carolina Digital Repository. </a:t>
            </a:r>
            <a:r>
              <a:rPr lang="en-US" sz="1200" dirty="0">
                <a:latin typeface="Georgia Pro" panose="02040502050405020303" pitchFamily="18" charset="0"/>
                <a:hlinkClick r:id="rId5"/>
              </a:rPr>
              <a:t>https://doi.org/10.17615/8p58-pf19</a:t>
            </a:r>
            <a:endParaRPr lang="en-US" sz="1200" dirty="0">
              <a:latin typeface="Georgia Pro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Dakin, H., </a:t>
            </a:r>
            <a:r>
              <a:rPr lang="en-US" sz="1200" b="1" i="1" dirty="0">
                <a:solidFill>
                  <a:srgbClr val="FF0000"/>
                </a:solidFill>
                <a:latin typeface="Georgia Pro" panose="02040502050405020303" pitchFamily="18" charset="0"/>
              </a:rPr>
              <a:t>et al.</a:t>
            </a: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 (2018). </a:t>
            </a:r>
            <a:r>
              <a:rPr lang="en-US" sz="1200" dirty="0">
                <a:latin typeface="Georgia Pro" panose="02040502050405020303" pitchFamily="18" charset="0"/>
              </a:rPr>
              <a:t>Mapping to estimate health-state utility values: A systematic review of development and reporting practices. </a:t>
            </a:r>
            <a:r>
              <a:rPr lang="en-US" sz="1200" i="1" dirty="0">
                <a:latin typeface="Georgia Pro" panose="02040502050405020303" pitchFamily="18" charset="0"/>
              </a:rPr>
              <a:t>Medical Decision Making, 38</a:t>
            </a:r>
            <a:r>
              <a:rPr lang="en-US" sz="1200" dirty="0">
                <a:latin typeface="Georgia Pro" panose="02040502050405020303" pitchFamily="18" charset="0"/>
              </a:rPr>
              <a:t>(7), 894–905.</a:t>
            </a:r>
            <a:r>
              <a:rPr lang="en-US" sz="1200" dirty="0">
                <a:latin typeface="Georgia Pro" panose="02040502050405020303" pitchFamily="18" charset="0"/>
                <a:hlinkClick r:id="rId6"/>
              </a:rPr>
              <a:t>https://doi.org/10.1177/0272989X18792737</a:t>
            </a:r>
            <a:endParaRPr lang="en-US" sz="1200" dirty="0">
              <a:latin typeface="Georgia Pro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b="1" dirty="0" err="1">
                <a:solidFill>
                  <a:srgbClr val="FF0000"/>
                </a:solidFill>
                <a:latin typeface="Georgia Pro" panose="02040502050405020303" pitchFamily="18" charset="0"/>
              </a:rPr>
              <a:t>Fusiak</a:t>
            </a: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, J., </a:t>
            </a:r>
            <a:r>
              <a:rPr lang="en-US" sz="1200" b="1" dirty="0" err="1">
                <a:solidFill>
                  <a:srgbClr val="FF0000"/>
                </a:solidFill>
                <a:latin typeface="Georgia Pro" panose="02040502050405020303" pitchFamily="18" charset="0"/>
              </a:rPr>
              <a:t>Sarpari</a:t>
            </a: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, K., Ma, I., Mansmann, U., &amp; Hoffmann, V. S. (2025). </a:t>
            </a:r>
            <a:r>
              <a:rPr lang="en-US" sz="1200" dirty="0">
                <a:latin typeface="Georgia Pro" panose="02040502050405020303" pitchFamily="18" charset="0"/>
              </a:rPr>
              <a:t>Practical applications of methods to incorporate patient preferences into medical decision models: A scoping review. </a:t>
            </a:r>
            <a:r>
              <a:rPr lang="en-US" sz="1200" i="1" dirty="0">
                <a:latin typeface="Georgia Pro" panose="02040502050405020303" pitchFamily="18" charset="0"/>
              </a:rPr>
              <a:t>BMC Medical Informatics and Decision Making, 25</a:t>
            </a:r>
            <a:r>
              <a:rPr lang="en-US" sz="1200" dirty="0">
                <a:latin typeface="Georgia Pro" panose="02040502050405020303" pitchFamily="18" charset="0"/>
              </a:rPr>
              <a:t>, 109.</a:t>
            </a:r>
            <a:r>
              <a:rPr lang="en-US" sz="1200" dirty="0">
                <a:latin typeface="Georgia Pro" panose="02040502050405020303" pitchFamily="18" charset="0"/>
                <a:hlinkClick r:id="rId7"/>
              </a:rPr>
              <a:t>https://doi.org/10.1186/s12911-025-02945-5</a:t>
            </a:r>
            <a:endParaRPr lang="en-US" sz="1200" dirty="0">
              <a:latin typeface="Georgia Pro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Lenert, L., </a:t>
            </a:r>
            <a:r>
              <a:rPr lang="en-US" sz="1200" b="1" i="1" dirty="0">
                <a:solidFill>
                  <a:srgbClr val="FF0000"/>
                </a:solidFill>
                <a:latin typeface="Georgia Pro" panose="02040502050405020303" pitchFamily="18" charset="0"/>
              </a:rPr>
              <a:t>et al.</a:t>
            </a: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 (2014). </a:t>
            </a:r>
            <a:r>
              <a:rPr lang="en-US" sz="1200" dirty="0">
                <a:latin typeface="Georgia Pro" panose="02040502050405020303" pitchFamily="18" charset="0"/>
              </a:rPr>
              <a:t>A model to support shared decision making in electronic health records systems. </a:t>
            </a:r>
            <a:r>
              <a:rPr lang="en-US" sz="1200" i="1" dirty="0">
                <a:latin typeface="Georgia Pro" panose="02040502050405020303" pitchFamily="18" charset="0"/>
              </a:rPr>
              <a:t>Medical Decision Making, 34</a:t>
            </a:r>
            <a:r>
              <a:rPr lang="en-US" sz="1200" dirty="0">
                <a:latin typeface="Georgia Pro" panose="02040502050405020303" pitchFamily="18" charset="0"/>
              </a:rPr>
              <a:t>(8), 987–995. https://doi.org/10.1177/0272989X14550102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Pöyhönen, M., &amp; Hämäläinen, R. P. (1997). </a:t>
            </a:r>
            <a:r>
              <a:rPr lang="en-US" sz="1200" i="1" dirty="0">
                <a:latin typeface="Georgia Pro" panose="02040502050405020303" pitchFamily="18" charset="0"/>
              </a:rPr>
              <a:t>On the convergence of </a:t>
            </a:r>
            <a:r>
              <a:rPr lang="en-US" sz="1200" i="1" dirty="0" err="1">
                <a:latin typeface="Georgia Pro" panose="02040502050405020303" pitchFamily="18" charset="0"/>
              </a:rPr>
              <a:t>multiattribute</a:t>
            </a:r>
            <a:r>
              <a:rPr lang="en-US" sz="1200" i="1" dirty="0">
                <a:latin typeface="Georgia Pro" panose="02040502050405020303" pitchFamily="18" charset="0"/>
              </a:rPr>
              <a:t> weighting methods</a:t>
            </a:r>
            <a:r>
              <a:rPr lang="en-US" sz="1200" dirty="0">
                <a:latin typeface="Georgia Pro" panose="02040502050405020303" pitchFamily="18" charset="0"/>
              </a:rPr>
              <a:t> (Systems Analysis Laboratory Research Report). Helsinki University of Technology.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Romero-Brufau, S., </a:t>
            </a:r>
            <a:r>
              <a:rPr lang="en-US" sz="1200" b="1" i="1" dirty="0">
                <a:solidFill>
                  <a:srgbClr val="FF0000"/>
                </a:solidFill>
                <a:latin typeface="Georgia Pro" panose="02040502050405020303" pitchFamily="18" charset="0"/>
              </a:rPr>
              <a:t>et al.</a:t>
            </a: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 (2020)</a:t>
            </a:r>
            <a:r>
              <a:rPr lang="en-US" sz="1200" dirty="0">
                <a:latin typeface="Georgia Pro" panose="02040502050405020303" pitchFamily="18" charset="0"/>
              </a:rPr>
              <a:t>. Implementation of artificial intelligence–based clinical decision support to reduce hospital readmissions at a regional hospital. </a:t>
            </a:r>
            <a:r>
              <a:rPr lang="en-US" sz="1200" i="1" dirty="0">
                <a:latin typeface="Georgia Pro" panose="02040502050405020303" pitchFamily="18" charset="0"/>
              </a:rPr>
              <a:t>JMIR Medical Informatics, 8</a:t>
            </a:r>
            <a:r>
              <a:rPr lang="en-US" sz="1200" dirty="0">
                <a:latin typeface="Georgia Pro" panose="02040502050405020303" pitchFamily="18" charset="0"/>
              </a:rPr>
              <a:t>(7), e16308.</a:t>
            </a:r>
            <a:br>
              <a:rPr lang="en-US" sz="1200" dirty="0">
                <a:latin typeface="Georgia Pro" panose="02040502050405020303" pitchFamily="18" charset="0"/>
              </a:rPr>
            </a:br>
            <a:r>
              <a:rPr lang="en-US" sz="1200" dirty="0">
                <a:latin typeface="Georgia Pro" panose="02040502050405020303" pitchFamily="18" charset="0"/>
                <a:hlinkClick r:id="rId8"/>
              </a:rPr>
              <a:t>https://doi.org/10.2196/16308</a:t>
            </a:r>
            <a:r>
              <a:rPr lang="en-US" sz="1200" dirty="0">
                <a:latin typeface="Georgia Pro" panose="02040502050405020303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Weyant, C., &amp; </a:t>
            </a:r>
            <a:r>
              <a:rPr lang="en-US" sz="1200" b="1" dirty="0" err="1">
                <a:solidFill>
                  <a:srgbClr val="FF0000"/>
                </a:solidFill>
                <a:latin typeface="Georgia Pro" panose="02040502050405020303" pitchFamily="18" charset="0"/>
              </a:rPr>
              <a:t>Brandeau</a:t>
            </a:r>
            <a:r>
              <a:rPr lang="en-US" sz="1200" b="1" dirty="0">
                <a:solidFill>
                  <a:srgbClr val="FF0000"/>
                </a:solidFill>
                <a:latin typeface="Georgia Pro" panose="02040502050405020303" pitchFamily="18" charset="0"/>
              </a:rPr>
              <a:t>, M. L. (2021).</a:t>
            </a:r>
            <a:r>
              <a:rPr lang="en-US" sz="1200" dirty="0">
                <a:latin typeface="Georgia Pro" panose="02040502050405020303" pitchFamily="18" charset="0"/>
              </a:rPr>
              <a:t> Personalization of medical treatment decisions: Simplifying complex models while maintaining patient health outcomes. </a:t>
            </a:r>
            <a:r>
              <a:rPr lang="en-US" sz="1200" i="1" dirty="0">
                <a:latin typeface="Georgia Pro" panose="02040502050405020303" pitchFamily="18" charset="0"/>
              </a:rPr>
              <a:t>Medical Decision Making, 41</a:t>
            </a:r>
            <a:r>
              <a:rPr lang="en-US" sz="1200" dirty="0">
                <a:latin typeface="Georgia Pro" panose="02040502050405020303" pitchFamily="18" charset="0"/>
              </a:rPr>
              <a:t>(7), 783–796.</a:t>
            </a:r>
            <a:br>
              <a:rPr lang="en-US" sz="1200" dirty="0">
                <a:latin typeface="Georgia Pro" panose="02040502050405020303" pitchFamily="18" charset="0"/>
              </a:rPr>
            </a:br>
            <a:r>
              <a:rPr lang="en-US" sz="1200" dirty="0">
                <a:latin typeface="Georgia Pro" panose="02040502050405020303" pitchFamily="18" charset="0"/>
                <a:hlinkClick r:id="rId9"/>
              </a:rPr>
              <a:t>https://doi.org/10.1177/0272989X211037921</a:t>
            </a:r>
            <a:r>
              <a:rPr lang="en-US" sz="1200" dirty="0">
                <a:latin typeface="Georgia Pro" panose="020405020504050203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638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0F23C69-4180-3E9F-0429-CEB8355D1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379" y="2932357"/>
            <a:ext cx="10862363" cy="92844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en-US" sz="2600" dirty="0">
                <a:latin typeface="Georgia Pro" panose="02040502050405020303" pitchFamily="18" charset="0"/>
              </a:rPr>
              <a:t>How can we transparently combine predicted outcomes and patient preferences to support shared decision making in clinical practice?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4569E13-8553-9341-75B2-DF6F32B70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79" y="2168757"/>
            <a:ext cx="10290000" cy="763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Research Question </a:t>
            </a:r>
            <a:r>
              <a:rPr lang="en-US" sz="3000" b="1" i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(1/1)</a:t>
            </a:r>
          </a:p>
        </p:txBody>
      </p:sp>
    </p:spTree>
    <p:extLst>
      <p:ext uri="{BB962C8B-B14F-4D97-AF65-F5344CB8AC3E}">
        <p14:creationId xmlns:p14="http://schemas.microsoft.com/office/powerpoint/2010/main" val="318670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92407-B9EF-4B39-4002-6FED8CDD1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A6E76C-2342-C3F3-30B9-6992CD81F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888" y="570246"/>
            <a:ext cx="10290000" cy="763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Data Exploratory </a:t>
            </a:r>
            <a:r>
              <a:rPr lang="en-US" sz="3000" b="1" i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(1/3)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B0EFB-2BFA-4D8D-0277-46124C650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843950"/>
            <a:ext cx="5608637" cy="3170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227A27-90A1-C7C8-DDDE-9F2456644D44}"/>
              </a:ext>
            </a:extLst>
          </p:cNvPr>
          <p:cNvSpPr txBox="1"/>
          <p:nvPr/>
        </p:nvSpPr>
        <p:spPr>
          <a:xfrm>
            <a:off x="498888" y="2478226"/>
            <a:ext cx="6065838" cy="19015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Georgia Pro" panose="02040502050405020303" pitchFamily="18" charset="0"/>
              </a:rPr>
              <a:t>Implication: </a:t>
            </a:r>
            <a:r>
              <a:rPr lang="en-US" sz="1600" b="1" dirty="0">
                <a:solidFill>
                  <a:srgbClr val="FF0000"/>
                </a:solidFill>
                <a:latin typeface="Georgia Pro" panose="02040502050405020303" pitchFamily="18" charset="0"/>
              </a:rPr>
              <a:t>Patients did not consistently allocate exactly 100 “chips”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Georgia Pro" panose="02040502050405020303" pitchFamily="18" charset="0"/>
              </a:rPr>
              <a:t>Issue: </a:t>
            </a:r>
            <a:r>
              <a:rPr lang="en-US" sz="1600" dirty="0">
                <a:latin typeface="Georgia Pro" panose="02040502050405020303" pitchFamily="18" charset="0"/>
              </a:rPr>
              <a:t>Bias results, as patients with higher totals would disproportionately influence the decision score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Georgia Pro" panose="02040502050405020303" pitchFamily="18" charset="0"/>
              </a:rPr>
              <a:t>Solution: </a:t>
            </a:r>
            <a:r>
              <a:rPr lang="en-US" sz="1600" dirty="0">
                <a:latin typeface="Georgia Pro" panose="02040502050405020303" pitchFamily="18" charset="0"/>
              </a:rPr>
              <a:t>Preference weights were normalized to sum to 100</a:t>
            </a:r>
          </a:p>
        </p:txBody>
      </p:sp>
    </p:spTree>
    <p:extLst>
      <p:ext uri="{BB962C8B-B14F-4D97-AF65-F5344CB8AC3E}">
        <p14:creationId xmlns:p14="http://schemas.microsoft.com/office/powerpoint/2010/main" val="580487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BBDE09-3E5C-0051-7D23-381EE9D4D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888" y="570246"/>
            <a:ext cx="10290000" cy="763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Implication </a:t>
            </a:r>
            <a:r>
              <a:rPr lang="en-US" sz="3000" b="1" i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(2/3)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7D0A3-D0EF-7D7F-4DAC-9E7FFEBE3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88" y="1511646"/>
            <a:ext cx="5167834" cy="3416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494AAE-2719-2E40-5C03-F77C39971ECA}"/>
              </a:ext>
            </a:extLst>
          </p:cNvPr>
          <p:cNvSpPr txBox="1"/>
          <p:nvPr/>
        </p:nvSpPr>
        <p:spPr>
          <a:xfrm>
            <a:off x="4041775" y="3219806"/>
            <a:ext cx="8023225" cy="18158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Georgia Pro" panose="02040502050405020303" pitchFamily="18" charset="0"/>
              </a:rPr>
              <a:t>Implication: </a:t>
            </a:r>
            <a:r>
              <a:rPr lang="en-US" sz="1600" b="1" dirty="0">
                <a:solidFill>
                  <a:srgbClr val="FF0000"/>
                </a:solidFill>
                <a:latin typeface="Georgia Pro" panose="02040502050405020303" pitchFamily="18" charset="0"/>
              </a:rPr>
              <a:t>Outcomes use different definition and scales</a:t>
            </a:r>
            <a:r>
              <a:rPr lang="en-US" sz="1600" dirty="0">
                <a:latin typeface="Georgia Pro" panose="02040502050405020303" pitchFamily="18" charset="0"/>
              </a:rPr>
              <a:t>, so raw treatment effects are not comparable.</a:t>
            </a:r>
            <a:br>
              <a:rPr lang="en-US" sz="1600" dirty="0">
                <a:latin typeface="Georgia Pro" panose="02040502050405020303" pitchFamily="18" charset="0"/>
              </a:rPr>
            </a:br>
            <a:r>
              <a:rPr lang="en-US" sz="1600" b="1" dirty="0">
                <a:latin typeface="Georgia Pro" panose="02040502050405020303" pitchFamily="18" charset="0"/>
              </a:rPr>
              <a:t>Solution: </a:t>
            </a:r>
            <a:r>
              <a:rPr lang="en-US" sz="1600" dirty="0">
                <a:latin typeface="Georgia Pro" panose="02040502050405020303" pitchFamily="18" charset="0"/>
              </a:rPr>
              <a:t>Align directions and normalize before aggregation.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Georgia Pro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Georgia Pro" panose="02040502050405020303" pitchFamily="18" charset="0"/>
              </a:rPr>
              <a:t>Implication: </a:t>
            </a:r>
            <a:r>
              <a:rPr lang="en-US" sz="1600" b="1" dirty="0">
                <a:solidFill>
                  <a:srgbClr val="FF0000"/>
                </a:solidFill>
                <a:latin typeface="Georgia Pro" panose="02040502050405020303" pitchFamily="18" charset="0"/>
              </a:rPr>
              <a:t>Heterogeneity and preference sensitivity create many borderline cases.</a:t>
            </a:r>
            <a:br>
              <a:rPr lang="en-US" sz="1600" dirty="0">
                <a:latin typeface="Georgia Pro" panose="02040502050405020303" pitchFamily="18" charset="0"/>
              </a:rPr>
            </a:br>
            <a:r>
              <a:rPr lang="en-US" sz="1600" b="1" dirty="0">
                <a:latin typeface="Georgia Pro" panose="02040502050405020303" pitchFamily="18" charset="0"/>
              </a:rPr>
              <a:t>Solution: </a:t>
            </a:r>
            <a:r>
              <a:rPr lang="en-US" sz="1600" dirty="0">
                <a:latin typeface="Georgia Pro" panose="02040502050405020303" pitchFamily="18" charset="0"/>
              </a:rPr>
              <a:t>Use individualized effects, a decision margin, and flag cases for SDM.</a:t>
            </a:r>
          </a:p>
        </p:txBody>
      </p:sp>
    </p:spTree>
    <p:extLst>
      <p:ext uri="{BB962C8B-B14F-4D97-AF65-F5344CB8AC3E}">
        <p14:creationId xmlns:p14="http://schemas.microsoft.com/office/powerpoint/2010/main" val="76333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9EDD-F48E-5CCE-D103-B58E53F34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793A93-61C4-3336-4F22-38376F70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888" y="570246"/>
            <a:ext cx="10290000" cy="763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Implication </a:t>
            </a:r>
            <a:r>
              <a:rPr lang="en-US" sz="3000" b="1" i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(3/3)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CD2566-AACC-4742-E4C0-F31310465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88" y="1511646"/>
            <a:ext cx="5167834" cy="3416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0ACD36-6C3A-EDB5-641B-DD8DCE585E2C}"/>
              </a:ext>
            </a:extLst>
          </p:cNvPr>
          <p:cNvSpPr txBox="1"/>
          <p:nvPr/>
        </p:nvSpPr>
        <p:spPr>
          <a:xfrm>
            <a:off x="4041775" y="3219806"/>
            <a:ext cx="8023225" cy="15322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Georgia Pro" panose="02040502050405020303" pitchFamily="18" charset="0"/>
              </a:rPr>
              <a:t>Implication: </a:t>
            </a:r>
            <a:r>
              <a:rPr lang="en-US" sz="1600" b="1" dirty="0">
                <a:solidFill>
                  <a:srgbClr val="FF0000"/>
                </a:solidFill>
                <a:latin typeface="Georgia Pro" panose="02040502050405020303" pitchFamily="18" charset="0"/>
              </a:rPr>
              <a:t>The five outcomes use different units (scores, weeks, dollars), </a:t>
            </a:r>
            <a:r>
              <a:rPr lang="en-US" sz="1600" dirty="0">
                <a:latin typeface="Georgia Pro" panose="02040502050405020303" pitchFamily="18" charset="0"/>
              </a:rPr>
              <a:t>so raw treatment effects can’t be compared or added fairly.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Georgia Pro" panose="02040502050405020303" pitchFamily="18" charset="0"/>
              </a:rPr>
              <a:t>Solution: </a:t>
            </a:r>
            <a:r>
              <a:rPr lang="en-US" sz="1600" dirty="0">
                <a:latin typeface="Georgia Pro" panose="02040502050405020303" pitchFamily="18" charset="0"/>
              </a:rPr>
              <a:t>Convert all effects to a common dollar-value scale (after aligning benefit direction), then combine them using normalized patient preference weights.</a:t>
            </a:r>
          </a:p>
        </p:txBody>
      </p:sp>
    </p:spTree>
    <p:extLst>
      <p:ext uri="{BB962C8B-B14F-4D97-AF65-F5344CB8AC3E}">
        <p14:creationId xmlns:p14="http://schemas.microsoft.com/office/powerpoint/2010/main" val="3151700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1A0ED41-A968-1947-A206-DA1D3337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13" y="719138"/>
            <a:ext cx="10290175" cy="763587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Decision framework </a:t>
            </a:r>
            <a:r>
              <a:rPr lang="en-US" sz="3000" b="1" i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(1/2)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A3F0D-3B00-8030-63DE-355E90A0D0B7}"/>
              </a:ext>
            </a:extLst>
          </p:cNvPr>
          <p:cNvSpPr txBox="1"/>
          <p:nvPr/>
        </p:nvSpPr>
        <p:spPr>
          <a:xfrm>
            <a:off x="520700" y="1635125"/>
            <a:ext cx="5372100" cy="21698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latin typeface="Georgia Pro" panose="02040502050405020303" pitchFamily="18" charset="0"/>
              </a:rPr>
              <a:t>1️⃣ </a:t>
            </a:r>
            <a:r>
              <a:rPr lang="en-US" sz="1500" b="1" dirty="0">
                <a:solidFill>
                  <a:srgbClr val="FF0000"/>
                </a:solidFill>
                <a:latin typeface="Georgia Pro" panose="02040502050405020303" pitchFamily="18" charset="0"/>
              </a:rPr>
              <a:t>Preference-Weighted Utility</a:t>
            </a:r>
          </a:p>
          <a:p>
            <a:r>
              <a:rPr lang="en-US" sz="1500" b="1" dirty="0">
                <a:latin typeface="Georgia Pro" panose="02040502050405020303" pitchFamily="18" charset="0"/>
              </a:rPr>
              <a:t>Key Idea:</a:t>
            </a:r>
            <a:r>
              <a:rPr lang="en-US" sz="1500" dirty="0">
                <a:latin typeface="Georgia Pro" panose="02040502050405020303" pitchFamily="18" charset="0"/>
              </a:rPr>
              <a:t> Decisions should reflect both predicted outcomes and patient values.</a:t>
            </a:r>
          </a:p>
          <a:p>
            <a:r>
              <a:rPr lang="en-US" sz="1500" i="1" dirty="0">
                <a:latin typeface="Georgia Pro" panose="02040502050405020303" pitchFamily="18" charset="0"/>
              </a:rPr>
              <a:t>Weyant &amp; </a:t>
            </a:r>
            <a:r>
              <a:rPr lang="en-US" sz="1500" i="1" dirty="0" err="1">
                <a:latin typeface="Georgia Pro" panose="02040502050405020303" pitchFamily="18" charset="0"/>
              </a:rPr>
              <a:t>Brandeau</a:t>
            </a:r>
            <a:r>
              <a:rPr lang="en-US" sz="1500" i="1" dirty="0">
                <a:latin typeface="Georgia Pro" panose="02040502050405020303" pitchFamily="18" charset="0"/>
              </a:rPr>
              <a:t> (2021), Medical Decision Making</a:t>
            </a:r>
          </a:p>
          <a:p>
            <a:endParaRPr lang="en-US" sz="1500" dirty="0">
              <a:latin typeface="Georgia Pro" panose="02040502050405020303" pitchFamily="18" charset="0"/>
            </a:endParaRPr>
          </a:p>
          <a:p>
            <a:r>
              <a:rPr lang="en-US" sz="1500" b="1" dirty="0">
                <a:latin typeface="Georgia Pro" panose="02040502050405020303" pitchFamily="18" charset="0"/>
              </a:rPr>
              <a:t>Framework Implementation:</a:t>
            </a:r>
          </a:p>
          <a:p>
            <a:r>
              <a:rPr lang="en-US" sz="1500" dirty="0">
                <a:latin typeface="Georgia Pro" panose="02040502050405020303" pitchFamily="18" charset="0"/>
              </a:rPr>
              <a:t>→ Combine predicted treatment effects with </a:t>
            </a:r>
            <a:r>
              <a:rPr lang="en-US" sz="1500" b="1" dirty="0">
                <a:latin typeface="Georgia Pro" panose="02040502050405020303" pitchFamily="18" charset="0"/>
              </a:rPr>
              <a:t>patient-specific preference weights</a:t>
            </a:r>
            <a:r>
              <a:rPr lang="en-US" sz="1500" dirty="0">
                <a:latin typeface="Georgia Pro" panose="02040502050405020303" pitchFamily="18" charset="0"/>
              </a:rPr>
              <a:t> to compute utility differences</a:t>
            </a:r>
            <a:br>
              <a:rPr lang="en-US" sz="1500" dirty="0">
                <a:latin typeface="Georgia Pro" panose="02040502050405020303" pitchFamily="18" charset="0"/>
              </a:rPr>
            </a:br>
            <a:r>
              <a:rPr lang="en-US" sz="1500" dirty="0">
                <a:latin typeface="Georgia Pro" panose="02040502050405020303" pitchFamily="18" charset="0"/>
              </a:rPr>
              <a:t>(</a:t>
            </a:r>
            <a:r>
              <a:rPr lang="en-US" sz="1500" i="1" dirty="0">
                <a:latin typeface="Georgia Pro" panose="02040502050405020303" pitchFamily="18" charset="0"/>
              </a:rPr>
              <a:t>utility = outcomes × preferences</a:t>
            </a:r>
            <a:r>
              <a:rPr lang="en-US" sz="1500" dirty="0">
                <a:latin typeface="Georgia Pro" panose="02040502050405020303" pitchFamily="18" charset="0"/>
              </a:rPr>
              <a:t>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152F2F-28AE-E185-923D-A4468E858947}"/>
              </a:ext>
            </a:extLst>
          </p:cNvPr>
          <p:cNvSpPr txBox="1"/>
          <p:nvPr/>
        </p:nvSpPr>
        <p:spPr>
          <a:xfrm>
            <a:off x="6070600" y="1635125"/>
            <a:ext cx="5715000" cy="21698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b="1" dirty="0">
                <a:latin typeface="Georgia Pro" panose="02040502050405020303" pitchFamily="18" charset="0"/>
              </a:rPr>
              <a:t>2️⃣ </a:t>
            </a:r>
            <a:r>
              <a:rPr lang="en-US" sz="1500" b="1" dirty="0">
                <a:solidFill>
                  <a:srgbClr val="FF0000"/>
                </a:solidFill>
                <a:latin typeface="Georgia Pro" panose="02040502050405020303" pitchFamily="18" charset="0"/>
              </a:rPr>
              <a:t>Outcome Normalization</a:t>
            </a:r>
          </a:p>
          <a:p>
            <a:r>
              <a:rPr lang="en-US" sz="1500" b="1" dirty="0">
                <a:latin typeface="Georgia Pro" panose="02040502050405020303" pitchFamily="18" charset="0"/>
              </a:rPr>
              <a:t>Key Idea:</a:t>
            </a:r>
            <a:r>
              <a:rPr lang="en-US" sz="1500" dirty="0">
                <a:latin typeface="Georgia Pro" panose="02040502050405020303" pitchFamily="18" charset="0"/>
              </a:rPr>
              <a:t> Outcomes on different units cannot be combined directly.</a:t>
            </a:r>
          </a:p>
          <a:p>
            <a:r>
              <a:rPr lang="en-US" sz="1500" i="1" dirty="0">
                <a:latin typeface="Georgia Pro" panose="02040502050405020303" pitchFamily="18" charset="0"/>
              </a:rPr>
              <a:t>Drummond et al. (2015), Methods for the Economic Evaluation of Health Care </a:t>
            </a:r>
            <a:r>
              <a:rPr lang="en-US" sz="1500" i="1" dirty="0" err="1">
                <a:latin typeface="Georgia Pro" panose="02040502050405020303" pitchFamily="18" charset="0"/>
              </a:rPr>
              <a:t>Programmes</a:t>
            </a:r>
            <a:endParaRPr lang="en-US" sz="1500" i="1" dirty="0">
              <a:latin typeface="Georgia Pro" panose="02040502050405020303" pitchFamily="18" charset="0"/>
            </a:endParaRPr>
          </a:p>
          <a:p>
            <a:endParaRPr lang="en-US" sz="1500" i="1" dirty="0">
              <a:latin typeface="Georgia Pro" panose="02040502050405020303" pitchFamily="18" charset="0"/>
            </a:endParaRPr>
          </a:p>
          <a:p>
            <a:r>
              <a:rPr lang="en-US" sz="1500" b="1" dirty="0">
                <a:latin typeface="Georgia Pro" panose="02040502050405020303" pitchFamily="18" charset="0"/>
              </a:rPr>
              <a:t>Framework Implementation:</a:t>
            </a:r>
            <a:br>
              <a:rPr lang="en-US" sz="1500" dirty="0">
                <a:latin typeface="Georgia Pro" panose="02040502050405020303" pitchFamily="18" charset="0"/>
              </a:rPr>
            </a:br>
            <a:r>
              <a:rPr lang="en-US" sz="1500" dirty="0">
                <a:latin typeface="Georgia Pro" panose="02040502050405020303" pitchFamily="18" charset="0"/>
              </a:rPr>
              <a:t>→ </a:t>
            </a:r>
            <a:r>
              <a:rPr lang="en-US" sz="1500" b="1" dirty="0">
                <a:latin typeface="Georgia Pro" panose="02040502050405020303" pitchFamily="18" charset="0"/>
              </a:rPr>
              <a:t>Align outcome directions</a:t>
            </a:r>
            <a:r>
              <a:rPr lang="en-US" sz="1500" dirty="0">
                <a:latin typeface="Georgia Pro" panose="02040502050405020303" pitchFamily="18" charset="0"/>
              </a:rPr>
              <a:t> and apply </a:t>
            </a:r>
            <a:r>
              <a:rPr lang="en-US" sz="1500" b="1" dirty="0">
                <a:latin typeface="Georgia Pro" panose="02040502050405020303" pitchFamily="18" charset="0"/>
              </a:rPr>
              <a:t>scaling/normalization</a:t>
            </a:r>
            <a:r>
              <a:rPr lang="en-US" sz="1500" dirty="0">
                <a:latin typeface="Georgia Pro" panose="02040502050405020303" pitchFamily="18" charset="0"/>
              </a:rPr>
              <a:t> before aggregation.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B2FE92-72C4-5361-B10C-89FE673A15DF}"/>
              </a:ext>
            </a:extLst>
          </p:cNvPr>
          <p:cNvSpPr txBox="1"/>
          <p:nvPr/>
        </p:nvSpPr>
        <p:spPr>
          <a:xfrm>
            <a:off x="520701" y="4123670"/>
            <a:ext cx="5372100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b="1" dirty="0">
                <a:latin typeface="Georgia Pro" panose="02040502050405020303" pitchFamily="18" charset="0"/>
              </a:rPr>
              <a:t>3️⃣ </a:t>
            </a:r>
            <a:r>
              <a:rPr lang="en-US" sz="1500" b="1" dirty="0">
                <a:solidFill>
                  <a:srgbClr val="FF0000"/>
                </a:solidFill>
                <a:latin typeface="Georgia Pro" panose="02040502050405020303" pitchFamily="18" charset="0"/>
              </a:rPr>
              <a:t>Patient-Specific Treatment Effects</a:t>
            </a:r>
          </a:p>
          <a:p>
            <a:r>
              <a:rPr lang="en-US" sz="1500" b="1" dirty="0">
                <a:latin typeface="Georgia Pro" panose="02040502050405020303" pitchFamily="18" charset="0"/>
              </a:rPr>
              <a:t>Key Idea:</a:t>
            </a:r>
            <a:r>
              <a:rPr lang="en-US" sz="1500" dirty="0">
                <a:latin typeface="Georgia Pro" panose="02040502050405020303" pitchFamily="18" charset="0"/>
              </a:rPr>
              <a:t> Population averages may mislead individual treatment decisions.</a:t>
            </a:r>
            <a:br>
              <a:rPr lang="en-US" sz="1500" dirty="0">
                <a:latin typeface="Georgia Pro" panose="02040502050405020303" pitchFamily="18" charset="0"/>
              </a:rPr>
            </a:br>
            <a:r>
              <a:rPr lang="en-US" sz="1500" i="1" dirty="0">
                <a:latin typeface="Georgia Pro" panose="02040502050405020303" pitchFamily="18" charset="0"/>
              </a:rPr>
              <a:t>Kent et al. (2018), Annals of Internal Medicine</a:t>
            </a:r>
          </a:p>
          <a:p>
            <a:endParaRPr lang="en-US" sz="1500" dirty="0">
              <a:latin typeface="Georgia Pro" panose="02040502050405020303" pitchFamily="18" charset="0"/>
            </a:endParaRPr>
          </a:p>
          <a:p>
            <a:r>
              <a:rPr lang="en-US" sz="1500" b="1" dirty="0">
                <a:latin typeface="Georgia Pro" panose="02040502050405020303" pitchFamily="18" charset="0"/>
              </a:rPr>
              <a:t>Framework Implementation:</a:t>
            </a:r>
            <a:br>
              <a:rPr lang="en-US" sz="1500" dirty="0">
                <a:latin typeface="Georgia Pro" panose="02040502050405020303" pitchFamily="18" charset="0"/>
              </a:rPr>
            </a:br>
            <a:r>
              <a:rPr lang="en-US" sz="1500" dirty="0">
                <a:latin typeface="Georgia Pro" panose="02040502050405020303" pitchFamily="18" charset="0"/>
              </a:rPr>
              <a:t>→ Base recommendations on </a:t>
            </a:r>
            <a:r>
              <a:rPr lang="en-US" sz="1500" b="1" dirty="0">
                <a:latin typeface="Georgia Pro" panose="02040502050405020303" pitchFamily="18" charset="0"/>
              </a:rPr>
              <a:t>individualized treatment effects (CATEs)</a:t>
            </a:r>
            <a:r>
              <a:rPr lang="en-US" sz="1500" dirty="0">
                <a:latin typeface="Georgia Pro" panose="02040502050405020303" pitchFamily="18" charset="0"/>
              </a:rPr>
              <a:t> rather than average effects.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209995-43C4-3280-74A1-D8D4AD7260A0}"/>
              </a:ext>
            </a:extLst>
          </p:cNvPr>
          <p:cNvSpPr txBox="1"/>
          <p:nvPr/>
        </p:nvSpPr>
        <p:spPr>
          <a:xfrm>
            <a:off x="6070601" y="4123670"/>
            <a:ext cx="5715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b="1" dirty="0">
                <a:latin typeface="Georgia Pro" panose="02040502050405020303" pitchFamily="18" charset="0"/>
              </a:rPr>
              <a:t>4️⃣ </a:t>
            </a:r>
            <a:r>
              <a:rPr lang="en-US" sz="1500" b="1" dirty="0">
                <a:solidFill>
                  <a:srgbClr val="FF0000"/>
                </a:solidFill>
                <a:latin typeface="Georgia Pro" panose="02040502050405020303" pitchFamily="18" charset="0"/>
              </a:rPr>
              <a:t>Borderline Decisions &amp; SDM</a:t>
            </a:r>
          </a:p>
          <a:p>
            <a:r>
              <a:rPr lang="en-US" sz="1500" b="1" dirty="0">
                <a:latin typeface="Georgia Pro" panose="02040502050405020303" pitchFamily="18" charset="0"/>
              </a:rPr>
              <a:t>Key Idea:</a:t>
            </a:r>
            <a:r>
              <a:rPr lang="en-US" sz="1500" dirty="0">
                <a:latin typeface="Georgia Pro" panose="02040502050405020303" pitchFamily="18" charset="0"/>
              </a:rPr>
              <a:t> Decision support should surface uncertainty, not hide it.</a:t>
            </a:r>
          </a:p>
          <a:p>
            <a:r>
              <a:rPr lang="en-US" sz="1500" i="1" dirty="0">
                <a:latin typeface="Georgia Pro" panose="02040502050405020303" pitchFamily="18" charset="0"/>
              </a:rPr>
              <a:t>Elwyn et al. (2012), BMJ</a:t>
            </a:r>
          </a:p>
          <a:p>
            <a:endParaRPr lang="en-US" sz="1500" dirty="0">
              <a:latin typeface="Georgia Pro" panose="02040502050405020303" pitchFamily="18" charset="0"/>
            </a:endParaRPr>
          </a:p>
          <a:p>
            <a:r>
              <a:rPr lang="en-US" sz="1500" b="1" dirty="0">
                <a:latin typeface="Georgia Pro" panose="02040502050405020303" pitchFamily="18" charset="0"/>
              </a:rPr>
              <a:t>Framework Implementation:</a:t>
            </a:r>
            <a:br>
              <a:rPr lang="en-US" sz="1500" dirty="0">
                <a:latin typeface="Georgia Pro" panose="02040502050405020303" pitchFamily="18" charset="0"/>
              </a:rPr>
            </a:br>
            <a:r>
              <a:rPr lang="en-US" sz="1500" dirty="0">
                <a:latin typeface="Georgia Pro" panose="02040502050405020303" pitchFamily="18" charset="0"/>
              </a:rPr>
              <a:t>→ Apply a </a:t>
            </a:r>
            <a:r>
              <a:rPr lang="en-US" sz="1500" b="1" dirty="0">
                <a:latin typeface="Georgia Pro" panose="02040502050405020303" pitchFamily="18" charset="0"/>
              </a:rPr>
              <a:t>decision margin</a:t>
            </a:r>
            <a:r>
              <a:rPr lang="en-US" sz="1500" dirty="0">
                <a:latin typeface="Georgia Pro" panose="02040502050405020303" pitchFamily="18" charset="0"/>
              </a:rPr>
              <a:t> and explicitly flag </a:t>
            </a:r>
            <a:r>
              <a:rPr lang="en-US" sz="1500" b="1" dirty="0">
                <a:latin typeface="Georgia Pro" panose="02040502050405020303" pitchFamily="18" charset="0"/>
              </a:rPr>
              <a:t>borderline cases</a:t>
            </a:r>
            <a:r>
              <a:rPr lang="en-US" sz="1500" dirty="0">
                <a:latin typeface="Georgia Pro" panose="02040502050405020303" pitchFamily="18" charset="0"/>
              </a:rPr>
              <a:t> to support shared decision making.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D27C24-04FF-9919-0A91-F7845FDFF1E8}"/>
              </a:ext>
            </a:extLst>
          </p:cNvPr>
          <p:cNvCxnSpPr/>
          <p:nvPr/>
        </p:nvCxnSpPr>
        <p:spPr>
          <a:xfrm>
            <a:off x="279400" y="3949700"/>
            <a:ext cx="115062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A3130C-CC05-C5B2-1354-4F1364AA1AB9}"/>
              </a:ext>
            </a:extLst>
          </p:cNvPr>
          <p:cNvCxnSpPr>
            <a:cxnSpLocks/>
          </p:cNvCxnSpPr>
          <p:nvPr/>
        </p:nvCxnSpPr>
        <p:spPr>
          <a:xfrm>
            <a:off x="5969000" y="1609725"/>
            <a:ext cx="0" cy="4503737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233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6C973-786B-07E3-8695-51B1171A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3CAA3CFB-34E8-4468-74D2-45E4B543C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719138"/>
            <a:ext cx="10290175" cy="763587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Decision framework </a:t>
            </a:r>
            <a:r>
              <a:rPr lang="en-US" sz="3000" b="1" i="1" dirty="0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(2/2)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AE80040-34F7-7583-FC70-2FCA493B9F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8891874"/>
              </p:ext>
            </p:extLst>
          </p:nvPr>
        </p:nvGraphicFramePr>
        <p:xfrm>
          <a:off x="646112" y="1482725"/>
          <a:ext cx="10809288" cy="4994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0695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BAD2-8CA9-B0E1-477C-1214A68D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716F-F56F-D703-01B4-C38EA1C44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81" y="712381"/>
            <a:ext cx="6356496" cy="770552"/>
          </a:xfrm>
        </p:spPr>
        <p:txBody>
          <a:bodyPr/>
          <a:lstStyle/>
          <a:p>
            <a:r>
              <a:rPr lang="en-US" sz="4000" b="1" dirty="0">
                <a:latin typeface="Georgia Pro" panose="02040502050405020303" pitchFamily="18" charset="0"/>
              </a:rPr>
              <a:t>Key Methodology </a:t>
            </a:r>
            <a:r>
              <a:rPr lang="en-US" sz="3000" b="1" i="1" dirty="0">
                <a:latin typeface="Georgia Pro" panose="02040502050405020303" pitchFamily="18" charset="0"/>
              </a:rPr>
              <a:t>(1/4)</a:t>
            </a:r>
            <a:br>
              <a:rPr lang="en-US" sz="3000" b="1" dirty="0">
                <a:latin typeface="Georgia Pro" panose="02040502050405020303" pitchFamily="18" charset="0"/>
              </a:rPr>
            </a:br>
            <a:br>
              <a:rPr lang="en-US" sz="3000" b="1" dirty="0">
                <a:latin typeface="Georgia Pro" panose="02040502050405020303" pitchFamily="18" charset="0"/>
              </a:rPr>
            </a:br>
            <a:br>
              <a:rPr lang="en-US" sz="1600" b="1" dirty="0">
                <a:latin typeface="Georgia Pro" panose="02040502050405020303" pitchFamily="18" charset="0"/>
              </a:rPr>
            </a:br>
            <a:br>
              <a:rPr lang="en-US" sz="1600" b="1" dirty="0">
                <a:latin typeface="Georgia Pro" panose="02040502050405020303" pitchFamily="18" charset="0"/>
              </a:rPr>
            </a:br>
            <a:br>
              <a:rPr lang="ar-AE" sz="1600" dirty="0">
                <a:latin typeface="Georgia Pro" panose="02040502050405020303" pitchFamily="18" charset="0"/>
              </a:rPr>
            </a:br>
            <a:endParaRPr lang="en-US" sz="1600" dirty="0">
              <a:latin typeface="Georgia Pro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D24C2C-6CB2-4ED8-415A-E125F416D544}"/>
              </a:ext>
            </a:extLst>
          </p:cNvPr>
          <p:cNvSpPr txBox="1"/>
          <p:nvPr/>
        </p:nvSpPr>
        <p:spPr>
          <a:xfrm>
            <a:off x="820480" y="3473595"/>
            <a:ext cx="4740348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Georgia Pro" panose="02040502050405020303" pitchFamily="18" charset="0"/>
              </a:rPr>
              <a:t>Why:</a:t>
            </a:r>
            <a:br>
              <a:rPr lang="en-US" dirty="0">
                <a:latin typeface="Georgia Pro" panose="02040502050405020303" pitchFamily="18" charset="0"/>
              </a:rPr>
            </a:br>
            <a:r>
              <a:rPr lang="en-US" i="1" dirty="0">
                <a:latin typeface="Georgia Pro" panose="02040502050405020303" pitchFamily="18" charset="0"/>
              </a:rPr>
              <a:t>Converting to $ value makes trade-offs comparable and easy to interpret.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FD6662-782C-7578-C854-6C748709DB57}"/>
              </a:ext>
            </a:extLst>
          </p:cNvPr>
          <p:cNvSpPr txBox="1"/>
          <p:nvPr/>
        </p:nvSpPr>
        <p:spPr>
          <a:xfrm>
            <a:off x="820480" y="2827264"/>
            <a:ext cx="4368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FF0000"/>
                </a:solidFill>
                <a:latin typeface="Georgia Pro" panose="02040502050405020303" pitchFamily="18" charset="0"/>
              </a:rPr>
              <a:t>OutcomeScaler</a:t>
            </a:r>
            <a:r>
              <a:rPr lang="en-US" sz="1800" b="1" dirty="0">
                <a:solidFill>
                  <a:srgbClr val="FF0000"/>
                </a:solidFill>
                <a:latin typeface="Georgia Pro" panose="02040502050405020303" pitchFamily="18" charset="0"/>
              </a:rPr>
              <a:t> (WTP-Based Outcome Scaling)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DD615B-ECA4-B4E9-27E9-D719E27D9621}"/>
              </a:ext>
            </a:extLst>
          </p:cNvPr>
          <p:cNvSpPr txBox="1"/>
          <p:nvPr/>
        </p:nvSpPr>
        <p:spPr>
          <a:xfrm>
            <a:off x="5668928" y="2166864"/>
            <a:ext cx="63564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Georgia Pro" panose="02040502050405020303" pitchFamily="18" charset="0"/>
              </a:rPr>
              <a:t>How:</a:t>
            </a:r>
          </a:p>
          <a:p>
            <a:r>
              <a:rPr lang="en-US" sz="1600" b="1" dirty="0">
                <a:latin typeface="Georgia Pro" panose="02040502050405020303" pitchFamily="18" charset="0"/>
              </a:rPr>
              <a:t>Set WTP anchors (from health system research):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Long-term pain: $25,000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Treatment-related pain: $15,000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Function: $25,000</a:t>
            </a:r>
          </a:p>
          <a:p>
            <a:endParaRPr lang="en-US" sz="1600" b="1" dirty="0">
              <a:latin typeface="Georgia Pro" panose="02040502050405020303" pitchFamily="18" charset="0"/>
            </a:endParaRPr>
          </a:p>
          <a:p>
            <a:r>
              <a:rPr lang="en-US" sz="1600" b="1" dirty="0">
                <a:latin typeface="Georgia Pro" panose="02040502050405020303" pitchFamily="18" charset="0"/>
              </a:rPr>
              <a:t>Convert TE → $ value per outcome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TE1 → </a:t>
            </a:r>
            <a:r>
              <a:rPr lang="en-US" sz="1600" dirty="0" err="1">
                <a:latin typeface="Georgia Pro" panose="02040502050405020303" pitchFamily="18" charset="0"/>
              </a:rPr>
              <a:t>pain_improvement_value</a:t>
            </a:r>
            <a:r>
              <a:rPr lang="en-US" sz="1600" dirty="0">
                <a:latin typeface="Georgia Pro" panose="02040502050405020303" pitchFamily="18" charset="0"/>
              </a:rPr>
              <a:t> = TE1 × $25k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TE2 → </a:t>
            </a:r>
            <a:r>
              <a:rPr lang="en-US" sz="1600" dirty="0" err="1">
                <a:latin typeface="Georgia Pro" panose="02040502050405020303" pitchFamily="18" charset="0"/>
              </a:rPr>
              <a:t>function_improvement_value</a:t>
            </a:r>
            <a:r>
              <a:rPr lang="en-US" sz="1600" dirty="0">
                <a:latin typeface="Georgia Pro" panose="02040502050405020303" pitchFamily="18" charset="0"/>
              </a:rPr>
              <a:t> = TE2 × $25k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TE3 → </a:t>
            </a:r>
            <a:r>
              <a:rPr lang="en-US" sz="1600" dirty="0" err="1">
                <a:latin typeface="Georgia Pro" panose="02040502050405020303" pitchFamily="18" charset="0"/>
              </a:rPr>
              <a:t>additional_quality_value</a:t>
            </a:r>
            <a:r>
              <a:rPr lang="en-US" sz="1600" dirty="0">
                <a:latin typeface="Georgia Pro" panose="02040502050405020303" pitchFamily="18" charset="0"/>
              </a:rPr>
              <a:t> = TE3 × avg($25k, $25k)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TE4 (weeks) → </a:t>
            </a:r>
            <a:r>
              <a:rPr lang="en-US" sz="1600" dirty="0" err="1">
                <a:latin typeface="Georgia Pro" panose="02040502050405020303" pitchFamily="18" charset="0"/>
              </a:rPr>
              <a:t>treatment_pain_cost</a:t>
            </a:r>
            <a:r>
              <a:rPr lang="en-US" sz="1600" dirty="0">
                <a:latin typeface="Georgia Pro" panose="02040502050405020303" pitchFamily="18" charset="0"/>
              </a:rPr>
              <a:t> = −(TE4/52 weeks) × $15k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TE5 ($) → </a:t>
            </a:r>
            <a:r>
              <a:rPr lang="en-US" sz="1600" dirty="0" err="1">
                <a:latin typeface="Georgia Pro" panose="02040502050405020303" pitchFamily="18" charset="0"/>
              </a:rPr>
              <a:t>direct_cost</a:t>
            </a:r>
            <a:r>
              <a:rPr lang="en-US" sz="1600" dirty="0">
                <a:latin typeface="Georgia Pro" panose="02040502050405020303" pitchFamily="18" charset="0"/>
              </a:rPr>
              <a:t> = −TE5$</a:t>
            </a:r>
          </a:p>
        </p:txBody>
      </p:sp>
    </p:spTree>
    <p:extLst>
      <p:ext uri="{BB962C8B-B14F-4D97-AF65-F5344CB8AC3E}">
        <p14:creationId xmlns:p14="http://schemas.microsoft.com/office/powerpoint/2010/main" val="4167229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F520D-3EDC-3A93-BDCB-CFAA88F9D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E2257-DFB0-CFFE-88C7-FFB32EC20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81" y="712381"/>
            <a:ext cx="6356496" cy="770552"/>
          </a:xfrm>
        </p:spPr>
        <p:txBody>
          <a:bodyPr/>
          <a:lstStyle/>
          <a:p>
            <a:r>
              <a:rPr lang="en-US" sz="4000" b="1" dirty="0">
                <a:latin typeface="Georgia Pro" panose="02040502050405020303" pitchFamily="18" charset="0"/>
              </a:rPr>
              <a:t>Key Methodology </a:t>
            </a:r>
            <a:r>
              <a:rPr lang="en-US" sz="3000" b="1" i="1" dirty="0">
                <a:latin typeface="Georgia Pro" panose="02040502050405020303" pitchFamily="18" charset="0"/>
              </a:rPr>
              <a:t>(2/4)</a:t>
            </a:r>
            <a:br>
              <a:rPr lang="en-US" sz="3000" b="1" dirty="0">
                <a:latin typeface="Georgia Pro" panose="02040502050405020303" pitchFamily="18" charset="0"/>
              </a:rPr>
            </a:br>
            <a:br>
              <a:rPr lang="en-US" sz="3000" b="1" dirty="0">
                <a:latin typeface="Georgia Pro" panose="02040502050405020303" pitchFamily="18" charset="0"/>
              </a:rPr>
            </a:br>
            <a:br>
              <a:rPr lang="en-US" sz="1600" b="1" dirty="0">
                <a:latin typeface="Georgia Pro" panose="02040502050405020303" pitchFamily="18" charset="0"/>
              </a:rPr>
            </a:br>
            <a:br>
              <a:rPr lang="en-US" sz="1600" b="1" dirty="0">
                <a:latin typeface="Georgia Pro" panose="02040502050405020303" pitchFamily="18" charset="0"/>
              </a:rPr>
            </a:br>
            <a:br>
              <a:rPr lang="ar-AE" sz="1600" dirty="0">
                <a:latin typeface="Georgia Pro" panose="02040502050405020303" pitchFamily="18" charset="0"/>
              </a:rPr>
            </a:br>
            <a:endParaRPr lang="en-US" sz="1600" dirty="0">
              <a:latin typeface="Georgia Pro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498F6-C169-C832-66AE-2DE9E91C80A0}"/>
              </a:ext>
            </a:extLst>
          </p:cNvPr>
          <p:cNvSpPr txBox="1"/>
          <p:nvPr/>
        </p:nvSpPr>
        <p:spPr>
          <a:xfrm>
            <a:off x="820480" y="2813195"/>
            <a:ext cx="474034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Georgia Pro" panose="02040502050405020303" pitchFamily="18" charset="0"/>
              </a:rPr>
              <a:t>Why:</a:t>
            </a:r>
            <a:br>
              <a:rPr lang="en-US" dirty="0">
                <a:latin typeface="Georgia Pro" panose="02040502050405020303" pitchFamily="18" charset="0"/>
              </a:rPr>
            </a:br>
            <a:r>
              <a:rPr lang="en-US" i="1" dirty="0">
                <a:latin typeface="Georgia Pro" panose="02040502050405020303" pitchFamily="18" charset="0"/>
              </a:rPr>
              <a:t>We need a consistent way to turn patient preferences + outcome values into one transparent decision score.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2E230-BBDD-A7CF-A810-43C826C3AF28}"/>
              </a:ext>
            </a:extLst>
          </p:cNvPr>
          <p:cNvSpPr txBox="1"/>
          <p:nvPr/>
        </p:nvSpPr>
        <p:spPr>
          <a:xfrm>
            <a:off x="807780" y="2443863"/>
            <a:ext cx="5015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Georgia Pro" panose="02040502050405020303" pitchFamily="18" charset="0"/>
              </a:rPr>
              <a:t>Preference-Weighted Utility Integration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D4E406-56CF-5633-5DCC-17421486CA58}"/>
              </a:ext>
            </a:extLst>
          </p:cNvPr>
          <p:cNvSpPr txBox="1"/>
          <p:nvPr/>
        </p:nvSpPr>
        <p:spPr>
          <a:xfrm>
            <a:off x="5835504" y="1693997"/>
            <a:ext cx="635649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Georgia Pro" panose="02040502050405020303" pitchFamily="18" charset="0"/>
              </a:rPr>
              <a:t>How:</a:t>
            </a:r>
          </a:p>
          <a:p>
            <a:r>
              <a:rPr lang="en-US" sz="1600" b="1" dirty="0">
                <a:latin typeface="Georgia Pro" panose="02040502050405020303" pitchFamily="18" charset="0"/>
              </a:rPr>
              <a:t>Input per patient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Treatment effects row TE1–TE5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Preference weights WP1–WP5_normalized</a:t>
            </a:r>
          </a:p>
          <a:p>
            <a:endParaRPr lang="en-US" sz="1600" b="1" dirty="0">
              <a:latin typeface="Georgia Pro" panose="02040502050405020303" pitchFamily="18" charset="0"/>
            </a:endParaRPr>
          </a:p>
          <a:p>
            <a:r>
              <a:rPr lang="en-US" sz="1600" b="1" dirty="0">
                <a:latin typeface="Georgia Pro" panose="02040502050405020303" pitchFamily="18" charset="0"/>
              </a:rPr>
              <a:t>Scale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Returns dollar-value outcomes (positive = surgery better)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Georgia Pro" panose="02040502050405020303" pitchFamily="18" charset="0"/>
            </a:endParaRPr>
          </a:p>
          <a:p>
            <a:r>
              <a:rPr lang="en-US" sz="1600" b="1" dirty="0">
                <a:latin typeface="Georgia Pro" panose="02040502050405020303" pitchFamily="18" charset="0"/>
              </a:rPr>
              <a:t>Apply preference weights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Convert each weight from % to decimal: weight = </a:t>
            </a:r>
            <a:r>
              <a:rPr lang="en-US" sz="1600" dirty="0" err="1">
                <a:latin typeface="Georgia Pro" panose="02040502050405020303" pitchFamily="18" charset="0"/>
              </a:rPr>
              <a:t>WP_normalized</a:t>
            </a:r>
            <a:r>
              <a:rPr lang="en-US" sz="1600" dirty="0">
                <a:latin typeface="Georgia Pro" panose="02040502050405020303" pitchFamily="18" charset="0"/>
              </a:rPr>
              <a:t> /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Multiply: contribution = weight × </a:t>
            </a:r>
            <a:r>
              <a:rPr lang="en-US" sz="1600" dirty="0" err="1">
                <a:latin typeface="Georgia Pro" panose="02040502050405020303" pitchFamily="18" charset="0"/>
              </a:rPr>
              <a:t>outcome_value</a:t>
            </a:r>
            <a:endParaRPr lang="en-US" sz="1600" dirty="0">
              <a:latin typeface="Georgia Pro" panose="02040502050405020303" pitchFamily="18" charset="0"/>
            </a:endParaRPr>
          </a:p>
          <a:p>
            <a:endParaRPr lang="en-US" sz="1600" b="1" dirty="0">
              <a:latin typeface="Georgia Pro" panose="02040502050405020303" pitchFamily="18" charset="0"/>
            </a:endParaRPr>
          </a:p>
          <a:p>
            <a:r>
              <a:rPr lang="en-US" sz="1600" b="1" dirty="0">
                <a:latin typeface="Georgia Pro" panose="02040502050405020303" pitchFamily="18" charset="0"/>
              </a:rPr>
              <a:t>Sum contributions → total utility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Georgia Pro" panose="02040502050405020303" pitchFamily="18" charset="0"/>
              </a:rPr>
              <a:t>total_utility</a:t>
            </a:r>
            <a:r>
              <a:rPr lang="en-US" sz="1600" dirty="0">
                <a:latin typeface="Georgia Pro" panose="02040502050405020303" pitchFamily="18" charset="0"/>
              </a:rPr>
              <a:t> = </a:t>
            </a:r>
            <a:r>
              <a:rPr lang="el-GR" sz="1600" dirty="0">
                <a:latin typeface="Georgia Pro" panose="02040502050405020303" pitchFamily="18" charset="0"/>
              </a:rPr>
              <a:t>Σ </a:t>
            </a:r>
            <a:r>
              <a:rPr lang="en-US" sz="1600" dirty="0" err="1">
                <a:latin typeface="Georgia Pro" panose="02040502050405020303" pitchFamily="18" charset="0"/>
              </a:rPr>
              <a:t>contribution_k</a:t>
            </a:r>
            <a:endParaRPr lang="en-US" sz="1600" dirty="0">
              <a:latin typeface="Georgia Pro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Also store a breakdown of each component (weight, value, contribution) for explainability</a:t>
            </a:r>
          </a:p>
        </p:txBody>
      </p:sp>
    </p:spTree>
    <p:extLst>
      <p:ext uri="{BB962C8B-B14F-4D97-AF65-F5344CB8AC3E}">
        <p14:creationId xmlns:p14="http://schemas.microsoft.com/office/powerpoint/2010/main" val="1051516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3B6D8-52F8-6A38-977C-A09ADA09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CB4E-AD63-8050-EB16-653C1DA42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81" y="712381"/>
            <a:ext cx="6356496" cy="770552"/>
          </a:xfrm>
        </p:spPr>
        <p:txBody>
          <a:bodyPr/>
          <a:lstStyle/>
          <a:p>
            <a:r>
              <a:rPr lang="en-US" sz="4000" b="1" dirty="0">
                <a:latin typeface="Georgia Pro" panose="02040502050405020303" pitchFamily="18" charset="0"/>
              </a:rPr>
              <a:t>Key Methodology </a:t>
            </a:r>
            <a:r>
              <a:rPr lang="en-US" sz="3000" b="1" i="1" dirty="0">
                <a:latin typeface="Georgia Pro" panose="02040502050405020303" pitchFamily="18" charset="0"/>
              </a:rPr>
              <a:t>(3/4)</a:t>
            </a:r>
            <a:br>
              <a:rPr lang="en-US" sz="3000" b="1" dirty="0">
                <a:latin typeface="Georgia Pro" panose="02040502050405020303" pitchFamily="18" charset="0"/>
              </a:rPr>
            </a:br>
            <a:br>
              <a:rPr lang="en-US" sz="3000" b="1" dirty="0">
                <a:latin typeface="Georgia Pro" panose="02040502050405020303" pitchFamily="18" charset="0"/>
              </a:rPr>
            </a:br>
            <a:br>
              <a:rPr lang="en-US" sz="1600" b="1" dirty="0">
                <a:latin typeface="Georgia Pro" panose="02040502050405020303" pitchFamily="18" charset="0"/>
              </a:rPr>
            </a:br>
            <a:br>
              <a:rPr lang="en-US" sz="1600" b="1" dirty="0">
                <a:latin typeface="Georgia Pro" panose="02040502050405020303" pitchFamily="18" charset="0"/>
              </a:rPr>
            </a:br>
            <a:br>
              <a:rPr lang="ar-AE" sz="1600" dirty="0">
                <a:latin typeface="Georgia Pro" panose="02040502050405020303" pitchFamily="18" charset="0"/>
              </a:rPr>
            </a:br>
            <a:endParaRPr lang="en-US" sz="1600" dirty="0">
              <a:latin typeface="Georgia Pro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2ECC3E-1710-BC92-B7C6-F61C10391901}"/>
              </a:ext>
            </a:extLst>
          </p:cNvPr>
          <p:cNvSpPr txBox="1"/>
          <p:nvPr/>
        </p:nvSpPr>
        <p:spPr>
          <a:xfrm>
            <a:off x="604580" y="2416420"/>
            <a:ext cx="485642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Georgia Pro" panose="02040502050405020303" pitchFamily="18" charset="0"/>
              </a:rPr>
              <a:t>Why:</a:t>
            </a:r>
            <a:br>
              <a:rPr lang="en-US" dirty="0">
                <a:latin typeface="Georgia Pro" panose="02040502050405020303" pitchFamily="18" charset="0"/>
              </a:rPr>
            </a:br>
            <a:r>
              <a:rPr lang="en-US" i="1" dirty="0">
                <a:latin typeface="Georgia Pro" panose="02040502050405020303" pitchFamily="18" charset="0"/>
              </a:rPr>
              <a:t>Translate utility scores into clear, actionable recommendations with confidence.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904985-E217-B105-726D-3492575F62B7}"/>
              </a:ext>
            </a:extLst>
          </p:cNvPr>
          <p:cNvSpPr txBox="1"/>
          <p:nvPr/>
        </p:nvSpPr>
        <p:spPr>
          <a:xfrm>
            <a:off x="591880" y="2047088"/>
            <a:ext cx="5415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Georgia Pro" panose="02040502050405020303" pitchFamily="18" charset="0"/>
              </a:rPr>
              <a:t>Utility-Based Treatment Recommendation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705C88-D58B-3D3B-6178-BD139B34D540}"/>
              </a:ext>
            </a:extLst>
          </p:cNvPr>
          <p:cNvSpPr txBox="1"/>
          <p:nvPr/>
        </p:nvSpPr>
        <p:spPr>
          <a:xfrm>
            <a:off x="5835504" y="2047088"/>
            <a:ext cx="6356496" cy="3378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Georgia Pro" panose="02040502050405020303" pitchFamily="18" charset="0"/>
              </a:rPr>
              <a:t>How: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Georgia Pro" panose="02040502050405020303" pitchFamily="18" charset="0"/>
              </a:rPr>
              <a:t>If </a:t>
            </a:r>
            <a:r>
              <a:rPr lang="en-US" sz="1600" b="1" dirty="0" err="1">
                <a:latin typeface="Georgia Pro" panose="02040502050405020303" pitchFamily="18" charset="0"/>
              </a:rPr>
              <a:t>total_utility</a:t>
            </a:r>
            <a:r>
              <a:rPr lang="en-US" sz="1600" b="1" dirty="0">
                <a:latin typeface="Georgia Pro" panose="02040502050405020303" pitchFamily="18" charset="0"/>
              </a:rPr>
              <a:t> &gt; 0 → Surgery; else → Conservative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Georgia Pro" panose="02040502050405020303" pitchFamily="18" charset="0"/>
              </a:rPr>
              <a:t>Use utility magnitude to flag borderline cases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Compute </a:t>
            </a:r>
            <a:r>
              <a:rPr lang="en-US" sz="1600" dirty="0" err="1">
                <a:latin typeface="Georgia Pro" panose="02040502050405020303" pitchFamily="18" charset="0"/>
              </a:rPr>
              <a:t>abs_utility</a:t>
            </a:r>
            <a:r>
              <a:rPr lang="en-US" sz="1600" dirty="0">
                <a:latin typeface="Georgia Pro" panose="02040502050405020303" pitchFamily="18" charset="0"/>
              </a:rPr>
              <a:t> = |</a:t>
            </a:r>
            <a:r>
              <a:rPr lang="en-US" sz="1600" dirty="0" err="1">
                <a:latin typeface="Georgia Pro" panose="02040502050405020303" pitchFamily="18" charset="0"/>
              </a:rPr>
              <a:t>total_utility</a:t>
            </a:r>
            <a:r>
              <a:rPr lang="en-US" sz="1600" dirty="0">
                <a:latin typeface="Georgia Pro" panose="02040502050405020303" pitchFamily="18" charset="0"/>
              </a:rPr>
              <a:t>|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If &lt; $2,000 → </a:t>
            </a:r>
            <a:r>
              <a:rPr lang="en-US" sz="1600" b="1" dirty="0">
                <a:latin typeface="Georgia Pro" panose="02040502050405020303" pitchFamily="18" charset="0"/>
              </a:rPr>
              <a:t>Low (Borderline)</a:t>
            </a:r>
          </a:p>
          <a:p>
            <a:pPr lvl="1">
              <a:lnSpc>
                <a:spcPct val="150000"/>
              </a:lnSpc>
            </a:pPr>
            <a:r>
              <a:rPr lang="en-US" sz="1600" b="1" dirty="0">
                <a:latin typeface="Georgia Pro" panose="02040502050405020303" pitchFamily="18" charset="0"/>
              </a:rPr>
              <a:t>      </a:t>
            </a:r>
            <a:r>
              <a:rPr lang="en-US" sz="1600" dirty="0">
                <a:latin typeface="Georgia Pro" panose="02040502050405020303" pitchFamily="18" charset="0"/>
              </a:rPr>
              <a:t>If &lt; $4,000 → </a:t>
            </a:r>
            <a:r>
              <a:rPr lang="en-US" sz="1600" b="1" dirty="0">
                <a:latin typeface="Georgia Pro" panose="02040502050405020303" pitchFamily="18" charset="0"/>
              </a:rPr>
              <a:t>Moderate</a:t>
            </a:r>
            <a:endParaRPr lang="en-US" sz="1600" dirty="0">
              <a:latin typeface="Georgia Pro" panose="020405020504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Georgia Pro" panose="02040502050405020303" pitchFamily="18" charset="0"/>
              </a:rPr>
              <a:t>                Else → </a:t>
            </a:r>
            <a:r>
              <a:rPr lang="en-US" sz="1600" b="1" dirty="0">
                <a:latin typeface="Georgia Pro" panose="02040502050405020303" pitchFamily="18" charset="0"/>
              </a:rPr>
              <a:t>High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Georgia Pro" panose="02040502050405020303" pitchFamily="18" charset="0"/>
              </a:rPr>
              <a:t>Surface key trade-offs and cost considerations for shared decision making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EC9A5A-095F-DB6B-39DF-B65B7DE1A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81" y="3429000"/>
            <a:ext cx="4869120" cy="229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504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B6CBD-F16F-2B39-C576-24917C11D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9708B-42A5-4BEC-E3F8-2F45C34B4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81" y="712381"/>
            <a:ext cx="6356496" cy="770552"/>
          </a:xfrm>
        </p:spPr>
        <p:txBody>
          <a:bodyPr/>
          <a:lstStyle/>
          <a:p>
            <a:r>
              <a:rPr lang="en-US" sz="4000" b="1" dirty="0">
                <a:latin typeface="Georgia Pro" panose="02040502050405020303" pitchFamily="18" charset="0"/>
              </a:rPr>
              <a:t>Key Methodology </a:t>
            </a:r>
            <a:r>
              <a:rPr lang="en-US" sz="3000" b="1" i="1" dirty="0">
                <a:latin typeface="Georgia Pro" panose="02040502050405020303" pitchFamily="18" charset="0"/>
              </a:rPr>
              <a:t>(4/4)</a:t>
            </a:r>
            <a:br>
              <a:rPr lang="en-US" sz="3000" b="1" dirty="0">
                <a:latin typeface="Georgia Pro" panose="02040502050405020303" pitchFamily="18" charset="0"/>
              </a:rPr>
            </a:br>
            <a:br>
              <a:rPr lang="en-US" sz="3000" b="1" dirty="0">
                <a:latin typeface="Georgia Pro" panose="02040502050405020303" pitchFamily="18" charset="0"/>
              </a:rPr>
            </a:br>
            <a:br>
              <a:rPr lang="en-US" sz="1600" b="1" dirty="0">
                <a:latin typeface="Georgia Pro" panose="02040502050405020303" pitchFamily="18" charset="0"/>
              </a:rPr>
            </a:br>
            <a:br>
              <a:rPr lang="en-US" sz="1600" b="1" dirty="0">
                <a:latin typeface="Georgia Pro" panose="02040502050405020303" pitchFamily="18" charset="0"/>
              </a:rPr>
            </a:br>
            <a:br>
              <a:rPr lang="ar-AE" sz="1600" dirty="0">
                <a:latin typeface="Georgia Pro" panose="02040502050405020303" pitchFamily="18" charset="0"/>
              </a:rPr>
            </a:br>
            <a:endParaRPr lang="en-US" sz="1600" dirty="0">
              <a:latin typeface="Georgia Pro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6DADBA-1B4C-2F11-ECA9-F7B7184BFDB8}"/>
              </a:ext>
            </a:extLst>
          </p:cNvPr>
          <p:cNvSpPr txBox="1"/>
          <p:nvPr/>
        </p:nvSpPr>
        <p:spPr>
          <a:xfrm>
            <a:off x="566480" y="2860920"/>
            <a:ext cx="509772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Georgia Pro" panose="02040502050405020303" pitchFamily="18" charset="0"/>
              </a:rPr>
              <a:t>Why:</a:t>
            </a:r>
            <a:br>
              <a:rPr lang="en-US" dirty="0">
                <a:latin typeface="Georgia Pro" panose="02040502050405020303" pitchFamily="18" charset="0"/>
              </a:rPr>
            </a:br>
            <a:r>
              <a:rPr lang="en-US" i="1" dirty="0">
                <a:latin typeface="Georgia Pro" panose="02040502050405020303" pitchFamily="18" charset="0"/>
              </a:rPr>
              <a:t>Check whether the recommendation is </a:t>
            </a:r>
            <a:r>
              <a:rPr lang="en-US" b="1" i="1" dirty="0">
                <a:latin typeface="Georgia Pro" panose="02040502050405020303" pitchFamily="18" charset="0"/>
              </a:rPr>
              <a:t>stable</a:t>
            </a:r>
            <a:r>
              <a:rPr lang="en-US" i="1" dirty="0">
                <a:latin typeface="Georgia Pro" panose="02040502050405020303" pitchFamily="18" charset="0"/>
              </a:rPr>
              <a:t> or changes when patient preferences shift.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DDF882-0C0E-96E6-FEA1-92C63FE1DD6C}"/>
              </a:ext>
            </a:extLst>
          </p:cNvPr>
          <p:cNvSpPr txBox="1"/>
          <p:nvPr/>
        </p:nvSpPr>
        <p:spPr>
          <a:xfrm>
            <a:off x="553780" y="2491588"/>
            <a:ext cx="6356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Georgia Pro" panose="02040502050405020303" pitchFamily="18" charset="0"/>
              </a:rPr>
              <a:t>Preference Sensitivity Analysis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99E8A-4570-BFC3-19F7-A2D592F4D33E}"/>
              </a:ext>
            </a:extLst>
          </p:cNvPr>
          <p:cNvSpPr txBox="1"/>
          <p:nvPr/>
        </p:nvSpPr>
        <p:spPr>
          <a:xfrm>
            <a:off x="5835504" y="2047088"/>
            <a:ext cx="6000896" cy="2270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Georgia Pro" panose="02040502050405020303" pitchFamily="18" charset="0"/>
              </a:rPr>
              <a:t>How: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Compute the base recommendation and utility score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For each </a:t>
            </a:r>
            <a:r>
              <a:rPr lang="en-US" sz="1600" dirty="0" err="1">
                <a:latin typeface="Georgia Pro" panose="02040502050405020303" pitchFamily="18" charset="0"/>
              </a:rPr>
              <a:t>WPk</a:t>
            </a:r>
            <a:r>
              <a:rPr lang="en-US" sz="1600" dirty="0">
                <a:latin typeface="Georgia Pro" panose="02040502050405020303" pitchFamily="18" charset="0"/>
              </a:rPr>
              <a:t>: increase it by +20%, reduce others proportionally, then renormalize to 100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Recompute recommendation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Georgia Pro" panose="02040502050405020303" pitchFamily="18" charset="0"/>
              </a:rPr>
              <a:t>Mark as stable if no variation changes the treatment decision</a:t>
            </a:r>
          </a:p>
        </p:txBody>
      </p:sp>
    </p:spTree>
    <p:extLst>
      <p:ext uri="{BB962C8B-B14F-4D97-AF65-F5344CB8AC3E}">
        <p14:creationId xmlns:p14="http://schemas.microsoft.com/office/powerpoint/2010/main" val="2631959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30F0F-8C3C-47E2-A513-91EC2F31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E823-60DE-32B7-1AA8-CC8077910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02" y="698118"/>
            <a:ext cx="6356496" cy="770552"/>
          </a:xfrm>
        </p:spPr>
        <p:txBody>
          <a:bodyPr/>
          <a:lstStyle/>
          <a:p>
            <a:r>
              <a:rPr lang="en-US" sz="4000" b="1" dirty="0">
                <a:latin typeface="Georgia Pro" panose="02040502050405020303" pitchFamily="18" charset="0"/>
              </a:rPr>
              <a:t>Predicted Outcome </a:t>
            </a:r>
            <a:r>
              <a:rPr lang="en-US" sz="3000" b="1" i="1" dirty="0">
                <a:latin typeface="Georgia Pro" panose="02040502050405020303" pitchFamily="18" charset="0"/>
              </a:rPr>
              <a:t>(1/1)</a:t>
            </a:r>
            <a:br>
              <a:rPr lang="en-US" sz="3000" b="1" i="1" dirty="0">
                <a:latin typeface="Georgia Pro" panose="02040502050405020303" pitchFamily="18" charset="0"/>
              </a:rPr>
            </a:br>
            <a:br>
              <a:rPr lang="en-US" sz="3000" b="1" dirty="0">
                <a:latin typeface="Georgia Pro" panose="02040502050405020303" pitchFamily="18" charset="0"/>
              </a:rPr>
            </a:br>
            <a:br>
              <a:rPr lang="en-US" sz="1600" b="1" dirty="0">
                <a:latin typeface="Georgia Pro" panose="02040502050405020303" pitchFamily="18" charset="0"/>
              </a:rPr>
            </a:br>
            <a:br>
              <a:rPr lang="en-US" sz="1600" b="1" dirty="0">
                <a:latin typeface="Georgia Pro" panose="02040502050405020303" pitchFamily="18" charset="0"/>
              </a:rPr>
            </a:br>
            <a:br>
              <a:rPr lang="ar-AE" sz="1600" dirty="0">
                <a:latin typeface="Georgia Pro" panose="02040502050405020303" pitchFamily="18" charset="0"/>
              </a:rPr>
            </a:br>
            <a:endParaRPr lang="en-US" sz="1600" dirty="0">
              <a:latin typeface="Georgia Pro" panose="020405020504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EEDBF3-885F-4E8B-9D73-B5275F754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700" y="1646653"/>
            <a:ext cx="5674975" cy="45132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04C48C-EF1F-DD78-8BA0-5726D436CF2B}"/>
              </a:ext>
            </a:extLst>
          </p:cNvPr>
          <p:cNvSpPr txBox="1"/>
          <p:nvPr/>
        </p:nvSpPr>
        <p:spPr>
          <a:xfrm>
            <a:off x="520402" y="2635280"/>
            <a:ext cx="5715298" cy="22708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Georgia Pro" panose="02040502050405020303" pitchFamily="18" charset="0"/>
              </a:rPr>
              <a:t>Conservative care dominates: </a:t>
            </a:r>
            <a:r>
              <a:rPr lang="en-US" sz="1600" dirty="0">
                <a:latin typeface="Georgia Pro" panose="02040502050405020303" pitchFamily="18" charset="0"/>
              </a:rPr>
              <a:t>~72% of patients are recommended non-surgical treatment.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Georgia Pro" panose="02040502050405020303" pitchFamily="18" charset="0"/>
              </a:rPr>
              <a:t>Many borderline cases: </a:t>
            </a:r>
            <a:r>
              <a:rPr lang="en-US" sz="1600" dirty="0">
                <a:latin typeface="Georgia Pro" panose="02040502050405020303" pitchFamily="18" charset="0"/>
              </a:rPr>
              <a:t>Most decisions lie near the threshold, indicating the need for shared decision making.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Georgia Pro" panose="02040502050405020303" pitchFamily="18" charset="0"/>
              </a:rPr>
              <a:t>Clear cases are few: </a:t>
            </a:r>
            <a:r>
              <a:rPr lang="en-US" sz="1600" dirty="0">
                <a:latin typeface="Georgia Pro" panose="02040502050405020303" pitchFamily="18" charset="0"/>
              </a:rPr>
              <a:t>High-confidence recommendations are rare but decisive when present.</a:t>
            </a:r>
          </a:p>
        </p:txBody>
      </p:sp>
    </p:spTree>
    <p:extLst>
      <p:ext uri="{BB962C8B-B14F-4D97-AF65-F5344CB8AC3E}">
        <p14:creationId xmlns:p14="http://schemas.microsoft.com/office/powerpoint/2010/main" val="4278901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BE458-DEE8-FB1B-3138-CC0949C3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DCA63-7961-F154-0C21-83CC03DF5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83" y="3047200"/>
            <a:ext cx="10290000" cy="763600"/>
          </a:xfrm>
        </p:spPr>
        <p:txBody>
          <a:bodyPr/>
          <a:lstStyle/>
          <a:p>
            <a:r>
              <a:rPr lang="en-US" sz="4000" b="1" dirty="0">
                <a:latin typeface="Georgia Pro" panose="02040502050405020303" pitchFamily="18" charset="0"/>
              </a:rPr>
              <a:t>Prototype </a:t>
            </a:r>
            <a:r>
              <a:rPr lang="en-US" sz="3000" b="1" i="1" dirty="0">
                <a:latin typeface="Georgia Pro" panose="02040502050405020303" pitchFamily="18" charset="0"/>
              </a:rPr>
              <a:t>(1/2)</a:t>
            </a:r>
            <a:br>
              <a:rPr lang="en-US" sz="3000" i="1" dirty="0">
                <a:latin typeface="Georgia Pro" panose="02040502050405020303" pitchFamily="18" charset="0"/>
              </a:rPr>
            </a:br>
            <a:endParaRPr lang="en-US" sz="3000" i="1" dirty="0">
              <a:latin typeface="Georgia Pro" panose="020405020504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58AB84-870A-9DF8-2830-2CDCE57F4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569" y="129208"/>
            <a:ext cx="7808420" cy="653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044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3B564-5B7A-D9A8-2F76-4421D15FE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5B5E3-2AC0-B307-A9B1-D846444F4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73" y="309826"/>
            <a:ext cx="10290000" cy="763600"/>
          </a:xfrm>
        </p:spPr>
        <p:txBody>
          <a:bodyPr/>
          <a:lstStyle/>
          <a:p>
            <a:r>
              <a:rPr lang="en-US" sz="4000" b="1" dirty="0">
                <a:latin typeface="Georgia Pro" panose="02040502050405020303" pitchFamily="18" charset="0"/>
              </a:rPr>
              <a:t>Prototype </a:t>
            </a:r>
            <a:r>
              <a:rPr lang="en-US" sz="3000" b="1" i="1" dirty="0">
                <a:latin typeface="Georgia Pro" panose="02040502050405020303" pitchFamily="18" charset="0"/>
              </a:rPr>
              <a:t>(2/2)</a:t>
            </a:r>
            <a:br>
              <a:rPr lang="en-US" sz="3000" i="1" dirty="0">
                <a:latin typeface="Georgia Pro" panose="02040502050405020303" pitchFamily="18" charset="0"/>
              </a:rPr>
            </a:br>
            <a:endParaRPr lang="en-US" sz="3000" i="1" dirty="0">
              <a:latin typeface="Georgia Pro" panose="02040502050405020303" pitchFamily="18" charset="0"/>
            </a:endParaRPr>
          </a:p>
        </p:txBody>
      </p:sp>
      <p:pic>
        <p:nvPicPr>
          <p:cNvPr id="3" name="GMT20260208-092855_Clip_Ha Nguyen's Clip 02_08_2026">
            <a:hlinkClick r:id="" action="ppaction://media"/>
            <a:extLst>
              <a:ext uri="{FF2B5EF4-FFF2-40B4-BE49-F238E27FC236}">
                <a16:creationId xmlns:a16="http://schemas.microsoft.com/office/drawing/2014/main" id="{7B1A0452-6C69-4E89-2A02-D72650B606F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94027" y="1073426"/>
            <a:ext cx="9674086" cy="544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99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3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3B4E-B121-75C0-1FBA-29BFFE0AF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35F2-93EA-1AD4-1506-CC30AEED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1" y="545339"/>
            <a:ext cx="10290000" cy="763600"/>
          </a:xfrm>
        </p:spPr>
        <p:txBody>
          <a:bodyPr/>
          <a:lstStyle/>
          <a:p>
            <a:pPr lvl="0"/>
            <a:r>
              <a:rPr lang="en-US" sz="4000" b="1" dirty="0">
                <a:latin typeface="Georgia Pro" panose="02040502050405020303" pitchFamily="18" charset="0"/>
              </a:rPr>
              <a:t>Clinical Usage </a:t>
            </a:r>
            <a:r>
              <a:rPr lang="en-US" sz="3000" b="1" i="1" dirty="0">
                <a:latin typeface="Georgia Pro" panose="02040502050405020303" pitchFamily="18" charset="0"/>
              </a:rPr>
              <a:t>(1/2)</a:t>
            </a:r>
            <a:endParaRPr lang="en-US" sz="3000" b="1" dirty="0">
              <a:latin typeface="Georgia Pro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E6642E-5A04-3F09-D79F-BFD54F79A1C8}"/>
              </a:ext>
            </a:extLst>
          </p:cNvPr>
          <p:cNvSpPr txBox="1"/>
          <p:nvPr/>
        </p:nvSpPr>
        <p:spPr>
          <a:xfrm>
            <a:off x="886850" y="1308939"/>
            <a:ext cx="11305150" cy="51632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300" b="1" dirty="0">
                <a:solidFill>
                  <a:srgbClr val="FF0000"/>
                </a:solidFill>
                <a:latin typeface="Georgia Pro" panose="02040502050405020303" pitchFamily="18" charset="0"/>
              </a:rPr>
              <a:t>Start with predicted patient outcomes</a:t>
            </a:r>
            <a:br>
              <a:rPr lang="en-US" sz="1300" dirty="0">
                <a:latin typeface="Georgia Pro" panose="02040502050405020303" pitchFamily="18" charset="0"/>
              </a:rPr>
            </a:br>
            <a:r>
              <a:rPr lang="en-US" sz="1300" dirty="0">
                <a:latin typeface="Georgia Pro" panose="02040502050405020303" pitchFamily="18" charset="0"/>
              </a:rPr>
              <a:t>For each patient, we estimate how </a:t>
            </a:r>
            <a:r>
              <a:rPr lang="en-US" sz="1300" b="1" dirty="0">
                <a:latin typeface="Georgia Pro" panose="02040502050405020303" pitchFamily="18" charset="0"/>
              </a:rPr>
              <a:t>surgery vs conservative care</a:t>
            </a:r>
            <a:r>
              <a:rPr lang="en-US" sz="1300" dirty="0">
                <a:latin typeface="Georgia Pro" panose="02040502050405020303" pitchFamily="18" charset="0"/>
              </a:rPr>
              <a:t> would change: long-term pain, short-term pain, function, rehab time, and out-of-pocket cost.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300" b="1" dirty="0">
                <a:solidFill>
                  <a:srgbClr val="FF0000"/>
                </a:solidFill>
                <a:latin typeface="Georgia Pro" panose="02040502050405020303" pitchFamily="18" charset="0"/>
              </a:rPr>
              <a:t>Put everything on the same scale</a:t>
            </a:r>
            <a:br>
              <a:rPr lang="en-US" sz="1300" dirty="0">
                <a:latin typeface="Georgia Pro" panose="02040502050405020303" pitchFamily="18" charset="0"/>
              </a:rPr>
            </a:br>
            <a:r>
              <a:rPr lang="en-US" sz="1300" dirty="0">
                <a:latin typeface="Georgia Pro" panose="02040502050405020303" pitchFamily="18" charset="0"/>
              </a:rPr>
              <a:t>Because these outcomes use different units, we convert them into a </a:t>
            </a:r>
            <a:r>
              <a:rPr lang="en-US" sz="1300" b="1" dirty="0">
                <a:latin typeface="Georgia Pro" panose="02040502050405020303" pitchFamily="18" charset="0"/>
              </a:rPr>
              <a:t>common dollar-value scale</a:t>
            </a:r>
            <a:r>
              <a:rPr lang="en-US" sz="1300" dirty="0">
                <a:latin typeface="Georgia Pro" panose="02040502050405020303" pitchFamily="18" charset="0"/>
              </a:rPr>
              <a:t> (so we can compare “pain relief” vs “time” vs “cost” fairly).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300" b="1" dirty="0">
                <a:solidFill>
                  <a:srgbClr val="FF0000"/>
                </a:solidFill>
                <a:latin typeface="Georgia Pro" panose="02040502050405020303" pitchFamily="18" charset="0"/>
              </a:rPr>
              <a:t>Apply what the patient values most</a:t>
            </a:r>
            <a:br>
              <a:rPr lang="en-US" sz="1300" dirty="0">
                <a:latin typeface="Georgia Pro" panose="02040502050405020303" pitchFamily="18" charset="0"/>
              </a:rPr>
            </a:br>
            <a:r>
              <a:rPr lang="en-US" sz="1300" dirty="0">
                <a:latin typeface="Georgia Pro" panose="02040502050405020303" pitchFamily="18" charset="0"/>
              </a:rPr>
              <a:t>Patients assign priority points to the five outcomes. The tool uses those priorities to weight the outcomes.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300" b="1" dirty="0">
                <a:solidFill>
                  <a:srgbClr val="FF0000"/>
                </a:solidFill>
                <a:latin typeface="Georgia Pro" panose="02040502050405020303" pitchFamily="18" charset="0"/>
              </a:rPr>
              <a:t>Compare the two options</a:t>
            </a:r>
            <a:br>
              <a:rPr lang="en-US" sz="1300" dirty="0">
                <a:latin typeface="Georgia Pro" panose="02040502050405020303" pitchFamily="18" charset="0"/>
              </a:rPr>
            </a:br>
            <a:r>
              <a:rPr lang="en-US" sz="1300" dirty="0">
                <a:latin typeface="Georgia Pro" panose="02040502050405020303" pitchFamily="18" charset="0"/>
              </a:rPr>
              <a:t>The CDS sums the weighted values into a single score: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Georgia Pro" panose="02040502050405020303" pitchFamily="18" charset="0"/>
              </a:rPr>
              <a:t>If the score favors surgery → recommend </a:t>
            </a:r>
            <a:r>
              <a:rPr lang="en-US" sz="1300" b="1" dirty="0">
                <a:latin typeface="Georgia Pro" panose="02040502050405020303" pitchFamily="18" charset="0"/>
              </a:rPr>
              <a:t>Surgery</a:t>
            </a:r>
            <a:endParaRPr lang="en-US" sz="1300" dirty="0">
              <a:latin typeface="Georgia Pro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Georgia Pro" panose="02040502050405020303" pitchFamily="18" charset="0"/>
              </a:rPr>
              <a:t>Otherwise → recommend </a:t>
            </a:r>
            <a:r>
              <a:rPr lang="en-US" sz="1300" b="1" dirty="0">
                <a:latin typeface="Georgia Pro" panose="02040502050405020303" pitchFamily="18" charset="0"/>
              </a:rPr>
              <a:t>Conservative care</a:t>
            </a:r>
            <a:endParaRPr lang="en-US" sz="1300" dirty="0">
              <a:latin typeface="Georgia Pro" panose="02040502050405020303" pitchFamily="18" charset="0"/>
            </a:endParaRPr>
          </a:p>
          <a:p>
            <a:pPr>
              <a:lnSpc>
                <a:spcPct val="150000"/>
              </a:lnSpc>
              <a:buFont typeface="+mj-lt"/>
              <a:buAutoNum type="arabicPeriod" startAt="5"/>
            </a:pPr>
            <a:r>
              <a:rPr lang="en-US" sz="1300" b="1" dirty="0">
                <a:solidFill>
                  <a:srgbClr val="FF0000"/>
                </a:solidFill>
                <a:latin typeface="Georgia Pro" panose="02040502050405020303" pitchFamily="18" charset="0"/>
              </a:rPr>
              <a:t>Show confidence and trade-offs</a:t>
            </a:r>
            <a:br>
              <a:rPr lang="en-US" sz="1300" dirty="0">
                <a:latin typeface="Georgia Pro" panose="02040502050405020303" pitchFamily="18" charset="0"/>
              </a:rPr>
            </a:br>
            <a:r>
              <a:rPr lang="en-US" sz="1300" dirty="0">
                <a:latin typeface="Georgia Pro" panose="02040502050405020303" pitchFamily="18" charset="0"/>
              </a:rPr>
              <a:t>The CDS flags </a:t>
            </a:r>
            <a:r>
              <a:rPr lang="en-US" sz="1300" b="1" dirty="0">
                <a:latin typeface="Georgia Pro" panose="02040502050405020303" pitchFamily="18" charset="0"/>
              </a:rPr>
              <a:t>borderline cases</a:t>
            </a:r>
            <a:r>
              <a:rPr lang="en-US" sz="1300" dirty="0">
                <a:latin typeface="Georgia Pro" panose="02040502050405020303" pitchFamily="18" charset="0"/>
              </a:rPr>
              <a:t> (small difference) and lists which outcomes drive the result, so you can discuss trade-offs with the patient.</a:t>
            </a:r>
          </a:p>
          <a:p>
            <a:pPr>
              <a:lnSpc>
                <a:spcPct val="150000"/>
              </a:lnSpc>
              <a:buFont typeface="+mj-lt"/>
              <a:buAutoNum type="arabicPeriod" startAt="5"/>
            </a:pPr>
            <a:r>
              <a:rPr lang="en-US" sz="1300" b="1" dirty="0">
                <a:solidFill>
                  <a:srgbClr val="FF0000"/>
                </a:solidFill>
                <a:latin typeface="Georgia Pro" panose="02040502050405020303" pitchFamily="18" charset="0"/>
              </a:rPr>
              <a:t>Check stability</a:t>
            </a:r>
            <a:br>
              <a:rPr lang="en-US" sz="1300" dirty="0">
                <a:latin typeface="Georgia Pro" panose="02040502050405020303" pitchFamily="18" charset="0"/>
              </a:rPr>
            </a:br>
            <a:r>
              <a:rPr lang="en-US" sz="1300" dirty="0">
                <a:latin typeface="Georgia Pro" panose="02040502050405020303" pitchFamily="18" charset="0"/>
              </a:rPr>
              <a:t>We test whether the recommendation changes if patient preferences shift slightly—if it flips easily, we label it </a:t>
            </a:r>
            <a:r>
              <a:rPr lang="en-US" sz="1300" b="1" dirty="0">
                <a:latin typeface="Georgia Pro" panose="02040502050405020303" pitchFamily="18" charset="0"/>
              </a:rPr>
              <a:t>sensitive</a:t>
            </a:r>
            <a:r>
              <a:rPr lang="en-US" sz="1300" dirty="0">
                <a:latin typeface="Georgia Pro" panose="02040502050405020303" pitchFamily="18" charset="0"/>
              </a:rPr>
              <a:t>, meaning the decision depends strongly on preferences.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2F9398-16EC-D35B-F85D-FA1CD1A5779C}"/>
              </a:ext>
            </a:extLst>
          </p:cNvPr>
          <p:cNvSpPr txBox="1"/>
          <p:nvPr/>
        </p:nvSpPr>
        <p:spPr>
          <a:xfrm rot="16200000">
            <a:off x="-1290440" y="2953803"/>
            <a:ext cx="3751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Georgia Pro" panose="02040502050405020303" pitchFamily="18" charset="0"/>
              </a:rPr>
              <a:t>Explanation to Doctor</a:t>
            </a:r>
          </a:p>
        </p:txBody>
      </p:sp>
    </p:spTree>
    <p:extLst>
      <p:ext uri="{BB962C8B-B14F-4D97-AF65-F5344CB8AC3E}">
        <p14:creationId xmlns:p14="http://schemas.microsoft.com/office/powerpoint/2010/main" val="782291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4E5AB-4A1B-68AA-F89A-F3B2A970C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127A2-0F37-6FC1-5EB9-95C289E47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61" y="392939"/>
            <a:ext cx="10290000" cy="763600"/>
          </a:xfrm>
        </p:spPr>
        <p:txBody>
          <a:bodyPr/>
          <a:lstStyle/>
          <a:p>
            <a:pPr lvl="0"/>
            <a:r>
              <a:rPr lang="en-US" sz="4000" b="1" dirty="0">
                <a:latin typeface="Georgia Pro" panose="02040502050405020303" pitchFamily="18" charset="0"/>
              </a:rPr>
              <a:t>Clinical Usage </a:t>
            </a:r>
            <a:r>
              <a:rPr lang="en-US" sz="3000" b="1" i="1" dirty="0">
                <a:latin typeface="Georgia Pro" panose="02040502050405020303" pitchFamily="18" charset="0"/>
              </a:rPr>
              <a:t>(2/2)</a:t>
            </a:r>
            <a:endParaRPr lang="en-US" sz="3000" b="1" dirty="0">
              <a:latin typeface="Georgia Pro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C0CE9-2153-23DB-7136-9A9ED4D56598}"/>
              </a:ext>
            </a:extLst>
          </p:cNvPr>
          <p:cNvSpPr txBox="1"/>
          <p:nvPr/>
        </p:nvSpPr>
        <p:spPr>
          <a:xfrm>
            <a:off x="1689102" y="1156539"/>
            <a:ext cx="10290001" cy="55854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buFont typeface="+mj-lt"/>
              <a:buAutoNum type="arabicPeriod"/>
              <a:defRPr sz="1200" b="1">
                <a:solidFill>
                  <a:srgbClr val="FF0000"/>
                </a:solidFill>
                <a:latin typeface="Georgia Pro" panose="02040502050405020303" pitchFamily="18" charset="0"/>
              </a:defRPr>
            </a:lvl1pPr>
          </a:lstStyle>
          <a:p>
            <a:pPr marL="457200" indent="-457200"/>
            <a:r>
              <a:rPr lang="en-US" sz="2000" dirty="0">
                <a:solidFill>
                  <a:srgbClr val="000000"/>
                </a:solidFill>
              </a:rPr>
              <a:t>When to use: </a:t>
            </a:r>
            <a:r>
              <a:rPr lang="en-US" sz="2000" b="0" dirty="0">
                <a:solidFill>
                  <a:srgbClr val="000000"/>
                </a:solidFill>
              </a:rPr>
              <a:t>At the treatment discussion visit (after diagnosis and baseline assessment) to compare surgery vs conservative care for that patient.</a:t>
            </a:r>
          </a:p>
          <a:p>
            <a:pPr marL="457200" indent="-457200"/>
            <a:r>
              <a:rPr lang="en-US" sz="2000" dirty="0">
                <a:solidFill>
                  <a:srgbClr val="000000"/>
                </a:solidFill>
              </a:rPr>
              <a:t>What it provides: </a:t>
            </a:r>
            <a:r>
              <a:rPr lang="en-US" sz="2000" b="0" dirty="0">
                <a:solidFill>
                  <a:srgbClr val="000000"/>
                </a:solidFill>
              </a:rPr>
              <a:t>A patient-specific summary of expected differences across pain, function, rehab time, and cost—plus a recommendation and confidence level.</a:t>
            </a:r>
          </a:p>
          <a:p>
            <a:pPr marL="457200" indent="-457200"/>
            <a:r>
              <a:rPr lang="en-US" sz="2000" dirty="0">
                <a:solidFill>
                  <a:srgbClr val="000000"/>
                </a:solidFill>
              </a:rPr>
              <a:t>How to use in the visit: </a:t>
            </a:r>
            <a:r>
              <a:rPr lang="en-US" sz="2000" b="0" dirty="0">
                <a:solidFill>
                  <a:srgbClr val="000000"/>
                </a:solidFill>
              </a:rPr>
              <a:t>Review the trade-offs (what improves vs what worsens). If borderline/low confidence, treat it as a shared decision case—ask the patient what matters most and confirm preferences.</a:t>
            </a:r>
          </a:p>
          <a:p>
            <a:pPr marL="457200" indent="-457200"/>
            <a:r>
              <a:rPr lang="en-US" sz="2000" dirty="0">
                <a:solidFill>
                  <a:srgbClr val="000000"/>
                </a:solidFill>
              </a:rPr>
              <a:t>Use the output to document: </a:t>
            </a:r>
            <a:r>
              <a:rPr lang="en-US" sz="2000" b="0" dirty="0">
                <a:solidFill>
                  <a:srgbClr val="000000"/>
                </a:solidFill>
              </a:rPr>
              <a:t>“Recommendation aligns with patient priorities” or “Patient chose differently after discussion.”</a:t>
            </a:r>
          </a:p>
          <a:p>
            <a:pPr marL="457200" indent="-457200"/>
            <a:r>
              <a:rPr lang="en-US" sz="2000" dirty="0">
                <a:solidFill>
                  <a:srgbClr val="000000"/>
                </a:solidFill>
              </a:rPr>
              <a:t>Safety check: </a:t>
            </a:r>
            <a:r>
              <a:rPr lang="en-US" sz="2000" b="0" dirty="0">
                <a:solidFill>
                  <a:srgbClr val="000000"/>
                </a:solidFill>
              </a:rPr>
              <a:t>If the recommendation is sensitive (flips with small preference changes), emphasize that the decision depends heavily on values and revisit preference weights.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58FEF-A74A-193C-90B3-3138731B210C}"/>
              </a:ext>
            </a:extLst>
          </p:cNvPr>
          <p:cNvSpPr txBox="1"/>
          <p:nvPr/>
        </p:nvSpPr>
        <p:spPr>
          <a:xfrm rot="16200000">
            <a:off x="-806133" y="3586872"/>
            <a:ext cx="45288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Georgia Pro" panose="02040502050405020303" pitchFamily="18" charset="0"/>
              </a:rPr>
              <a:t>Note for Doctor</a:t>
            </a:r>
          </a:p>
        </p:txBody>
      </p:sp>
    </p:spTree>
    <p:extLst>
      <p:ext uri="{BB962C8B-B14F-4D97-AF65-F5344CB8AC3E}">
        <p14:creationId xmlns:p14="http://schemas.microsoft.com/office/powerpoint/2010/main" val="1547173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8BB1E-A17B-6EA5-8BE6-4FDE24F68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72E47-198E-6987-8D52-5DDFC0F9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60" y="708700"/>
            <a:ext cx="10290000" cy="763600"/>
          </a:xfrm>
        </p:spPr>
        <p:txBody>
          <a:bodyPr/>
          <a:lstStyle/>
          <a:p>
            <a:r>
              <a:rPr lang="en-US" sz="4000" b="1">
                <a:latin typeface="Georgia Pro" panose="02040502050405020303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A31AD-2837-6AE4-C6B5-4F22A5618D20}"/>
              </a:ext>
            </a:extLst>
          </p:cNvPr>
          <p:cNvSpPr txBox="1"/>
          <p:nvPr/>
        </p:nvSpPr>
        <p:spPr>
          <a:xfrm>
            <a:off x="951000" y="3151257"/>
            <a:ext cx="10289999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latin typeface="Georgia Pro" panose="02040502050405020303" pitchFamily="18" charset="0"/>
              </a:rPr>
              <a:t>By combining predicted effects with patient preferences on a common value scale, </a:t>
            </a:r>
          </a:p>
          <a:p>
            <a:pPr algn="ctr"/>
            <a:r>
              <a:rPr lang="en-US" sz="2000" b="1" i="1" dirty="0">
                <a:latin typeface="Georgia Pro" panose="02040502050405020303" pitchFamily="18" charset="0"/>
              </a:rPr>
              <a:t>our CDS provides transparent, patient-centered recommendations to support—not replace—clinical judgment.</a:t>
            </a:r>
          </a:p>
        </p:txBody>
      </p:sp>
    </p:spTree>
    <p:extLst>
      <p:ext uri="{BB962C8B-B14F-4D97-AF65-F5344CB8AC3E}">
        <p14:creationId xmlns:p14="http://schemas.microsoft.com/office/powerpoint/2010/main" val="2464412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4BFB-1DA4-926D-ED35-C78E82FF0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000" y="1117600"/>
            <a:ext cx="9212000" cy="1544800"/>
          </a:xfrm>
        </p:spPr>
        <p:txBody>
          <a:bodyPr wrap="square" anchor="t">
            <a:normAutofit/>
          </a:bodyPr>
          <a:lstStyle/>
          <a:p>
            <a:r>
              <a:rPr lang="en-US">
                <a:latin typeface="Georgia Pro" panose="020405020504050203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76191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1812</Words>
  <Application>Microsoft Office PowerPoint</Application>
  <PresentationFormat>Widescreen</PresentationFormat>
  <Paragraphs>145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Georgia Pro</vt:lpstr>
      <vt:lpstr>Karla</vt:lpstr>
      <vt:lpstr>Office Theme</vt:lpstr>
      <vt:lpstr>From Algorithm to the Clinic:  A Preference-Aware CDS for Shared Decision Making</vt:lpstr>
      <vt:lpstr>Roadmap (1/1)</vt:lpstr>
      <vt:lpstr>We would like to thank the authors of the papers referenced in this study.</vt:lpstr>
      <vt:lpstr>Research Question (1/1)</vt:lpstr>
      <vt:lpstr>Data Exploratory (1/3)</vt:lpstr>
      <vt:lpstr>Implication (2/3)</vt:lpstr>
      <vt:lpstr>Implication (3/3)</vt:lpstr>
      <vt:lpstr>Decision framework (1/2)</vt:lpstr>
      <vt:lpstr>Decision framework (2/2)</vt:lpstr>
      <vt:lpstr>Key Methodology (1/4)     </vt:lpstr>
      <vt:lpstr>Key Methodology (2/4)     </vt:lpstr>
      <vt:lpstr>Key Methodology (3/4)     </vt:lpstr>
      <vt:lpstr>Key Methodology (4/4)     </vt:lpstr>
      <vt:lpstr>Predicted Outcome (1/1)     </vt:lpstr>
      <vt:lpstr>Prototype (1/2) </vt:lpstr>
      <vt:lpstr>Prototype (2/2) </vt:lpstr>
      <vt:lpstr>Clinical Usage (1/2)</vt:lpstr>
      <vt:lpstr>Clinical Usage (2/2)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Kneeshaw, Connor J</dc:creator>
  <cp:lastModifiedBy>Nguyen, Luong Thanh Ha</cp:lastModifiedBy>
  <cp:revision>2</cp:revision>
  <dcterms:created xsi:type="dcterms:W3CDTF">2026-02-06T21:08:08Z</dcterms:created>
  <dcterms:modified xsi:type="dcterms:W3CDTF">2026-02-08T09:32:50Z</dcterms:modified>
</cp:coreProperties>
</file>